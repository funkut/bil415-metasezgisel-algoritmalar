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327" r:id="rId3"/>
    <p:sldId id="397" r:id="rId4"/>
    <p:sldId id="398" r:id="rId5"/>
    <p:sldId id="399" r:id="rId6"/>
    <p:sldId id="400" r:id="rId7"/>
    <p:sldId id="401" r:id="rId8"/>
    <p:sldId id="402" r:id="rId9"/>
    <p:sldId id="403" r:id="rId10"/>
    <p:sldId id="404" r:id="rId11"/>
    <p:sldId id="405" r:id="rId12"/>
    <p:sldId id="407" r:id="rId13"/>
    <p:sldId id="406" r:id="rId14"/>
    <p:sldId id="408" r:id="rId15"/>
    <p:sldId id="409" r:id="rId16"/>
    <p:sldId id="410" r:id="rId17"/>
    <p:sldId id="411" r:id="rId18"/>
    <p:sldId id="412" r:id="rId19"/>
    <p:sldId id="413" r:id="rId20"/>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470A"/>
    <a:srgbClr val="0B203C"/>
    <a:srgbClr val="1B83A7"/>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2" d="100"/>
          <a:sy n="112" d="100"/>
        </p:scale>
        <p:origin x="55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DF75514-BF04-23F8-BD6B-177D3B102B1F}"/>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BE5B3339-13E9-0F07-A1CA-2E7FDBD8DA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23C39623-D02E-79AC-7E93-841D46AD7386}"/>
              </a:ext>
            </a:extLst>
          </p:cNvPr>
          <p:cNvSpPr>
            <a:spLocks noGrp="1"/>
          </p:cNvSpPr>
          <p:nvPr>
            <p:ph type="dt" sz="half" idx="10"/>
          </p:nvPr>
        </p:nvSpPr>
        <p:spPr/>
        <p:txBody>
          <a:bodyPr/>
          <a:lstStyle/>
          <a:p>
            <a:fld id="{CAEC998A-9DE2-4BB2-91E8-615337B18859}" type="datetimeFigureOut">
              <a:rPr lang="tr-TR" smtClean="0"/>
              <a:t>27.11.2025</a:t>
            </a:fld>
            <a:endParaRPr lang="tr-TR"/>
          </a:p>
        </p:txBody>
      </p:sp>
      <p:sp>
        <p:nvSpPr>
          <p:cNvPr id="5" name="Alt Bilgi Yer Tutucusu 4">
            <a:extLst>
              <a:ext uri="{FF2B5EF4-FFF2-40B4-BE49-F238E27FC236}">
                <a16:creationId xmlns:a16="http://schemas.microsoft.com/office/drawing/2014/main" id="{DBD4B22E-3D27-FC9B-05CD-6A4516BA1CEE}"/>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042F0A5-FDBA-88BD-D489-001376BB15C8}"/>
              </a:ext>
            </a:extLst>
          </p:cNvPr>
          <p:cNvSpPr>
            <a:spLocks noGrp="1"/>
          </p:cNvSpPr>
          <p:nvPr>
            <p:ph type="sldNum" sz="quarter" idx="12"/>
          </p:nvPr>
        </p:nvSpPr>
        <p:spPr/>
        <p:txBody>
          <a:bodyPr/>
          <a:lstStyle/>
          <a:p>
            <a:fld id="{44441FD9-62D5-41CE-A9B8-6B2E1BB5ABC1}" type="slidenum">
              <a:rPr lang="tr-TR" smtClean="0"/>
              <a:t>‹#›</a:t>
            </a:fld>
            <a:endParaRPr lang="tr-TR"/>
          </a:p>
        </p:txBody>
      </p:sp>
    </p:spTree>
    <p:extLst>
      <p:ext uri="{BB962C8B-B14F-4D97-AF65-F5344CB8AC3E}">
        <p14:creationId xmlns:p14="http://schemas.microsoft.com/office/powerpoint/2010/main" val="2200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0E3AC28-81EF-AECE-1206-8A1C7FF5F549}"/>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4009E259-A76C-3E13-A3BD-64D87D43EA43}"/>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32D16593-5D0D-E26E-D79A-E7401323C36D}"/>
              </a:ext>
            </a:extLst>
          </p:cNvPr>
          <p:cNvSpPr>
            <a:spLocks noGrp="1"/>
          </p:cNvSpPr>
          <p:nvPr>
            <p:ph type="dt" sz="half" idx="10"/>
          </p:nvPr>
        </p:nvSpPr>
        <p:spPr/>
        <p:txBody>
          <a:bodyPr/>
          <a:lstStyle/>
          <a:p>
            <a:fld id="{CAEC998A-9DE2-4BB2-91E8-615337B18859}" type="datetimeFigureOut">
              <a:rPr lang="tr-TR" smtClean="0"/>
              <a:t>27.11.2025</a:t>
            </a:fld>
            <a:endParaRPr lang="tr-TR"/>
          </a:p>
        </p:txBody>
      </p:sp>
      <p:sp>
        <p:nvSpPr>
          <p:cNvPr id="5" name="Alt Bilgi Yer Tutucusu 4">
            <a:extLst>
              <a:ext uri="{FF2B5EF4-FFF2-40B4-BE49-F238E27FC236}">
                <a16:creationId xmlns:a16="http://schemas.microsoft.com/office/drawing/2014/main" id="{F17C2A8D-DD14-42C2-5C97-1FD3D6E78F0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EFC272A-10D0-3097-5A62-54200DC26587}"/>
              </a:ext>
            </a:extLst>
          </p:cNvPr>
          <p:cNvSpPr>
            <a:spLocks noGrp="1"/>
          </p:cNvSpPr>
          <p:nvPr>
            <p:ph type="sldNum" sz="quarter" idx="12"/>
          </p:nvPr>
        </p:nvSpPr>
        <p:spPr/>
        <p:txBody>
          <a:bodyPr/>
          <a:lstStyle/>
          <a:p>
            <a:fld id="{44441FD9-62D5-41CE-A9B8-6B2E1BB5ABC1}" type="slidenum">
              <a:rPr lang="tr-TR" smtClean="0"/>
              <a:t>‹#›</a:t>
            </a:fld>
            <a:endParaRPr lang="tr-TR"/>
          </a:p>
        </p:txBody>
      </p:sp>
    </p:spTree>
    <p:extLst>
      <p:ext uri="{BB962C8B-B14F-4D97-AF65-F5344CB8AC3E}">
        <p14:creationId xmlns:p14="http://schemas.microsoft.com/office/powerpoint/2010/main" val="2929871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7B3DB28-BB48-788C-300A-12F830EEB9B7}"/>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D018F9AC-B91C-304A-5CE0-E14E46E3CCB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005ED9F0-0A41-4078-28F0-0CEA007F7917}"/>
              </a:ext>
            </a:extLst>
          </p:cNvPr>
          <p:cNvSpPr>
            <a:spLocks noGrp="1"/>
          </p:cNvSpPr>
          <p:nvPr>
            <p:ph type="dt" sz="half" idx="10"/>
          </p:nvPr>
        </p:nvSpPr>
        <p:spPr/>
        <p:txBody>
          <a:bodyPr/>
          <a:lstStyle/>
          <a:p>
            <a:fld id="{CAEC998A-9DE2-4BB2-91E8-615337B18859}" type="datetimeFigureOut">
              <a:rPr lang="tr-TR" smtClean="0"/>
              <a:t>27.11.2025</a:t>
            </a:fld>
            <a:endParaRPr lang="tr-TR"/>
          </a:p>
        </p:txBody>
      </p:sp>
      <p:sp>
        <p:nvSpPr>
          <p:cNvPr id="5" name="Alt Bilgi Yer Tutucusu 4">
            <a:extLst>
              <a:ext uri="{FF2B5EF4-FFF2-40B4-BE49-F238E27FC236}">
                <a16:creationId xmlns:a16="http://schemas.microsoft.com/office/drawing/2014/main" id="{87427F2A-A966-ACD1-A250-B1FC3E91256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5ADDAEB-E083-7B30-8C03-8EDDC9D8501F}"/>
              </a:ext>
            </a:extLst>
          </p:cNvPr>
          <p:cNvSpPr>
            <a:spLocks noGrp="1"/>
          </p:cNvSpPr>
          <p:nvPr>
            <p:ph type="sldNum" sz="quarter" idx="12"/>
          </p:nvPr>
        </p:nvSpPr>
        <p:spPr/>
        <p:txBody>
          <a:bodyPr/>
          <a:lstStyle/>
          <a:p>
            <a:fld id="{44441FD9-62D5-41CE-A9B8-6B2E1BB5ABC1}" type="slidenum">
              <a:rPr lang="tr-TR" smtClean="0"/>
              <a:t>‹#›</a:t>
            </a:fld>
            <a:endParaRPr lang="tr-TR"/>
          </a:p>
        </p:txBody>
      </p:sp>
    </p:spTree>
    <p:extLst>
      <p:ext uri="{BB962C8B-B14F-4D97-AF65-F5344CB8AC3E}">
        <p14:creationId xmlns:p14="http://schemas.microsoft.com/office/powerpoint/2010/main" val="3460271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E69F723-3B55-6443-2E23-D09F852D24CE}"/>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95796FF7-3FB3-9B7B-1BD7-2323D5995ACC}"/>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A8A51B62-F1AC-9F11-844E-6BF8F3E93622}"/>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AAAE7C2D-C344-70A8-0C3B-79939BCBF712}"/>
              </a:ext>
            </a:extLst>
          </p:cNvPr>
          <p:cNvSpPr>
            <a:spLocks noGrp="1"/>
          </p:cNvSpPr>
          <p:nvPr>
            <p:ph type="dt" sz="half" idx="10"/>
          </p:nvPr>
        </p:nvSpPr>
        <p:spPr/>
        <p:txBody>
          <a:bodyPr/>
          <a:lstStyle/>
          <a:p>
            <a:fld id="{CAEC998A-9DE2-4BB2-91E8-615337B18859}" type="datetimeFigureOut">
              <a:rPr lang="tr-TR" smtClean="0"/>
              <a:t>27.11.2025</a:t>
            </a:fld>
            <a:endParaRPr lang="tr-TR"/>
          </a:p>
        </p:txBody>
      </p:sp>
      <p:sp>
        <p:nvSpPr>
          <p:cNvPr id="6" name="Alt Bilgi Yer Tutucusu 5">
            <a:extLst>
              <a:ext uri="{FF2B5EF4-FFF2-40B4-BE49-F238E27FC236}">
                <a16:creationId xmlns:a16="http://schemas.microsoft.com/office/drawing/2014/main" id="{9F02B8B2-4342-4570-19C6-46E7F53EE2AF}"/>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EEABC8B-0D2E-BDD3-0993-4EBC33D9503A}"/>
              </a:ext>
            </a:extLst>
          </p:cNvPr>
          <p:cNvSpPr>
            <a:spLocks noGrp="1"/>
          </p:cNvSpPr>
          <p:nvPr>
            <p:ph type="sldNum" sz="quarter" idx="12"/>
          </p:nvPr>
        </p:nvSpPr>
        <p:spPr/>
        <p:txBody>
          <a:bodyPr/>
          <a:lstStyle/>
          <a:p>
            <a:fld id="{44441FD9-62D5-41CE-A9B8-6B2E1BB5ABC1}" type="slidenum">
              <a:rPr lang="tr-TR" smtClean="0"/>
              <a:t>‹#›</a:t>
            </a:fld>
            <a:endParaRPr lang="tr-TR"/>
          </a:p>
        </p:txBody>
      </p:sp>
    </p:spTree>
    <p:extLst>
      <p:ext uri="{BB962C8B-B14F-4D97-AF65-F5344CB8AC3E}">
        <p14:creationId xmlns:p14="http://schemas.microsoft.com/office/powerpoint/2010/main" val="1995842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148CC8C-8FDC-35A5-5D5B-4C8602E29330}"/>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57541950-AF96-9E74-13F5-E1A3DC8B53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A940EB8A-A51D-AA31-1C24-1293C1C00014}"/>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DC3A1F32-5BFD-DB19-8097-3FA578F8E5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AC778786-FB56-A118-47A0-806A15D5C82F}"/>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0E246C61-AA53-C968-116A-586E83CB85D5}"/>
              </a:ext>
            </a:extLst>
          </p:cNvPr>
          <p:cNvSpPr>
            <a:spLocks noGrp="1"/>
          </p:cNvSpPr>
          <p:nvPr>
            <p:ph type="dt" sz="half" idx="10"/>
          </p:nvPr>
        </p:nvSpPr>
        <p:spPr/>
        <p:txBody>
          <a:bodyPr/>
          <a:lstStyle/>
          <a:p>
            <a:fld id="{CAEC998A-9DE2-4BB2-91E8-615337B18859}" type="datetimeFigureOut">
              <a:rPr lang="tr-TR" smtClean="0"/>
              <a:t>27.11.2025</a:t>
            </a:fld>
            <a:endParaRPr lang="tr-TR"/>
          </a:p>
        </p:txBody>
      </p:sp>
      <p:sp>
        <p:nvSpPr>
          <p:cNvPr id="8" name="Alt Bilgi Yer Tutucusu 7">
            <a:extLst>
              <a:ext uri="{FF2B5EF4-FFF2-40B4-BE49-F238E27FC236}">
                <a16:creationId xmlns:a16="http://schemas.microsoft.com/office/drawing/2014/main" id="{A2BA97D3-6154-3F93-BFA4-AC4DA325A3DC}"/>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9AE808B4-6EC1-3129-B13D-3BE5D086CB7B}"/>
              </a:ext>
            </a:extLst>
          </p:cNvPr>
          <p:cNvSpPr>
            <a:spLocks noGrp="1"/>
          </p:cNvSpPr>
          <p:nvPr>
            <p:ph type="sldNum" sz="quarter" idx="12"/>
          </p:nvPr>
        </p:nvSpPr>
        <p:spPr/>
        <p:txBody>
          <a:bodyPr/>
          <a:lstStyle/>
          <a:p>
            <a:fld id="{44441FD9-62D5-41CE-A9B8-6B2E1BB5ABC1}" type="slidenum">
              <a:rPr lang="tr-TR" smtClean="0"/>
              <a:t>‹#›</a:t>
            </a:fld>
            <a:endParaRPr lang="tr-TR"/>
          </a:p>
        </p:txBody>
      </p:sp>
    </p:spTree>
    <p:extLst>
      <p:ext uri="{BB962C8B-B14F-4D97-AF65-F5344CB8AC3E}">
        <p14:creationId xmlns:p14="http://schemas.microsoft.com/office/powerpoint/2010/main" val="1881978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667091-A95B-96FE-EEB9-DF2D87EFB621}"/>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DD2BAEE1-E6E5-6B4A-3DA0-BCAFC70E0EE0}"/>
              </a:ext>
            </a:extLst>
          </p:cNvPr>
          <p:cNvSpPr>
            <a:spLocks noGrp="1"/>
          </p:cNvSpPr>
          <p:nvPr>
            <p:ph type="dt" sz="half" idx="10"/>
          </p:nvPr>
        </p:nvSpPr>
        <p:spPr/>
        <p:txBody>
          <a:bodyPr/>
          <a:lstStyle/>
          <a:p>
            <a:fld id="{CAEC998A-9DE2-4BB2-91E8-615337B18859}" type="datetimeFigureOut">
              <a:rPr lang="tr-TR" smtClean="0"/>
              <a:t>27.11.2025</a:t>
            </a:fld>
            <a:endParaRPr lang="tr-TR"/>
          </a:p>
        </p:txBody>
      </p:sp>
      <p:sp>
        <p:nvSpPr>
          <p:cNvPr id="4" name="Alt Bilgi Yer Tutucusu 3">
            <a:extLst>
              <a:ext uri="{FF2B5EF4-FFF2-40B4-BE49-F238E27FC236}">
                <a16:creationId xmlns:a16="http://schemas.microsoft.com/office/drawing/2014/main" id="{803F750E-CA15-54EA-967E-1DF823D697D8}"/>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2A3B4294-DD45-51C9-0FB3-7C0137F5DDA7}"/>
              </a:ext>
            </a:extLst>
          </p:cNvPr>
          <p:cNvSpPr>
            <a:spLocks noGrp="1"/>
          </p:cNvSpPr>
          <p:nvPr>
            <p:ph type="sldNum" sz="quarter" idx="12"/>
          </p:nvPr>
        </p:nvSpPr>
        <p:spPr/>
        <p:txBody>
          <a:bodyPr/>
          <a:lstStyle/>
          <a:p>
            <a:fld id="{44441FD9-62D5-41CE-A9B8-6B2E1BB5ABC1}" type="slidenum">
              <a:rPr lang="tr-TR" smtClean="0"/>
              <a:t>‹#›</a:t>
            </a:fld>
            <a:endParaRPr lang="tr-TR"/>
          </a:p>
        </p:txBody>
      </p:sp>
    </p:spTree>
    <p:extLst>
      <p:ext uri="{BB962C8B-B14F-4D97-AF65-F5344CB8AC3E}">
        <p14:creationId xmlns:p14="http://schemas.microsoft.com/office/powerpoint/2010/main" val="34287558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2BABA66E-C403-26B3-F479-580135613575}"/>
              </a:ext>
            </a:extLst>
          </p:cNvPr>
          <p:cNvSpPr>
            <a:spLocks noGrp="1"/>
          </p:cNvSpPr>
          <p:nvPr>
            <p:ph type="dt" sz="half" idx="10"/>
          </p:nvPr>
        </p:nvSpPr>
        <p:spPr/>
        <p:txBody>
          <a:bodyPr/>
          <a:lstStyle/>
          <a:p>
            <a:fld id="{CAEC998A-9DE2-4BB2-91E8-615337B18859}" type="datetimeFigureOut">
              <a:rPr lang="tr-TR" smtClean="0"/>
              <a:t>27.11.2025</a:t>
            </a:fld>
            <a:endParaRPr lang="tr-TR"/>
          </a:p>
        </p:txBody>
      </p:sp>
      <p:sp>
        <p:nvSpPr>
          <p:cNvPr id="3" name="Alt Bilgi Yer Tutucusu 2">
            <a:extLst>
              <a:ext uri="{FF2B5EF4-FFF2-40B4-BE49-F238E27FC236}">
                <a16:creationId xmlns:a16="http://schemas.microsoft.com/office/drawing/2014/main" id="{199709CD-0E2F-8DCE-A739-A44E61BF6C34}"/>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5EC8C7D5-C236-2EF1-8B7B-6BF328AE5699}"/>
              </a:ext>
            </a:extLst>
          </p:cNvPr>
          <p:cNvSpPr>
            <a:spLocks noGrp="1"/>
          </p:cNvSpPr>
          <p:nvPr>
            <p:ph type="sldNum" sz="quarter" idx="12"/>
          </p:nvPr>
        </p:nvSpPr>
        <p:spPr/>
        <p:txBody>
          <a:bodyPr/>
          <a:lstStyle/>
          <a:p>
            <a:fld id="{44441FD9-62D5-41CE-A9B8-6B2E1BB5ABC1}" type="slidenum">
              <a:rPr lang="tr-TR" smtClean="0"/>
              <a:t>‹#›</a:t>
            </a:fld>
            <a:endParaRPr lang="tr-TR"/>
          </a:p>
        </p:txBody>
      </p:sp>
    </p:spTree>
    <p:extLst>
      <p:ext uri="{BB962C8B-B14F-4D97-AF65-F5344CB8AC3E}">
        <p14:creationId xmlns:p14="http://schemas.microsoft.com/office/powerpoint/2010/main" val="4275925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40C0E8F-0447-05A4-715C-394E6EB307B9}"/>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5687833F-9581-085F-5209-80E776FE88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F7A454FB-188B-E752-1C8F-17742CBDA62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6CA82EC4-BCA4-F560-27A4-6B092C686E86}"/>
              </a:ext>
            </a:extLst>
          </p:cNvPr>
          <p:cNvSpPr>
            <a:spLocks noGrp="1"/>
          </p:cNvSpPr>
          <p:nvPr>
            <p:ph type="dt" sz="half" idx="10"/>
          </p:nvPr>
        </p:nvSpPr>
        <p:spPr/>
        <p:txBody>
          <a:bodyPr/>
          <a:lstStyle/>
          <a:p>
            <a:fld id="{CAEC998A-9DE2-4BB2-91E8-615337B18859}" type="datetimeFigureOut">
              <a:rPr lang="tr-TR" smtClean="0"/>
              <a:t>27.11.2025</a:t>
            </a:fld>
            <a:endParaRPr lang="tr-TR"/>
          </a:p>
        </p:txBody>
      </p:sp>
      <p:sp>
        <p:nvSpPr>
          <p:cNvPr id="6" name="Alt Bilgi Yer Tutucusu 5">
            <a:extLst>
              <a:ext uri="{FF2B5EF4-FFF2-40B4-BE49-F238E27FC236}">
                <a16:creationId xmlns:a16="http://schemas.microsoft.com/office/drawing/2014/main" id="{938802D1-7474-6FD1-AC11-60218DDF0D49}"/>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925E8EA1-3806-B6A3-E40A-D779E1E4C3B3}"/>
              </a:ext>
            </a:extLst>
          </p:cNvPr>
          <p:cNvSpPr>
            <a:spLocks noGrp="1"/>
          </p:cNvSpPr>
          <p:nvPr>
            <p:ph type="sldNum" sz="quarter" idx="12"/>
          </p:nvPr>
        </p:nvSpPr>
        <p:spPr/>
        <p:txBody>
          <a:bodyPr/>
          <a:lstStyle/>
          <a:p>
            <a:fld id="{44441FD9-62D5-41CE-A9B8-6B2E1BB5ABC1}" type="slidenum">
              <a:rPr lang="tr-TR" smtClean="0"/>
              <a:t>‹#›</a:t>
            </a:fld>
            <a:endParaRPr lang="tr-TR"/>
          </a:p>
        </p:txBody>
      </p:sp>
    </p:spTree>
    <p:extLst>
      <p:ext uri="{BB962C8B-B14F-4D97-AF65-F5344CB8AC3E}">
        <p14:creationId xmlns:p14="http://schemas.microsoft.com/office/powerpoint/2010/main" val="998333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3E0E167-D76A-9EE7-F1AF-4A25D9E752A2}"/>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01B0AA71-3F5A-AEAC-2B49-1DC2718028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DF46FFC1-ADEA-F482-81AB-ADCF188964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02A5B4A1-B775-B1EC-4B32-EF48E2A2334B}"/>
              </a:ext>
            </a:extLst>
          </p:cNvPr>
          <p:cNvSpPr>
            <a:spLocks noGrp="1"/>
          </p:cNvSpPr>
          <p:nvPr>
            <p:ph type="dt" sz="half" idx="10"/>
          </p:nvPr>
        </p:nvSpPr>
        <p:spPr/>
        <p:txBody>
          <a:bodyPr/>
          <a:lstStyle/>
          <a:p>
            <a:fld id="{CAEC998A-9DE2-4BB2-91E8-615337B18859}" type="datetimeFigureOut">
              <a:rPr lang="tr-TR" smtClean="0"/>
              <a:t>27.11.2025</a:t>
            </a:fld>
            <a:endParaRPr lang="tr-TR"/>
          </a:p>
        </p:txBody>
      </p:sp>
      <p:sp>
        <p:nvSpPr>
          <p:cNvPr id="6" name="Alt Bilgi Yer Tutucusu 5">
            <a:extLst>
              <a:ext uri="{FF2B5EF4-FFF2-40B4-BE49-F238E27FC236}">
                <a16:creationId xmlns:a16="http://schemas.microsoft.com/office/drawing/2014/main" id="{016A0CD8-7AF2-4D32-CDB5-DD421B048E6A}"/>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9032B8E6-25A6-F61F-A324-6937E3E3C3E3}"/>
              </a:ext>
            </a:extLst>
          </p:cNvPr>
          <p:cNvSpPr>
            <a:spLocks noGrp="1"/>
          </p:cNvSpPr>
          <p:nvPr>
            <p:ph type="sldNum" sz="quarter" idx="12"/>
          </p:nvPr>
        </p:nvSpPr>
        <p:spPr/>
        <p:txBody>
          <a:bodyPr/>
          <a:lstStyle/>
          <a:p>
            <a:fld id="{44441FD9-62D5-41CE-A9B8-6B2E1BB5ABC1}" type="slidenum">
              <a:rPr lang="tr-TR" smtClean="0"/>
              <a:t>‹#›</a:t>
            </a:fld>
            <a:endParaRPr lang="tr-TR"/>
          </a:p>
        </p:txBody>
      </p:sp>
    </p:spTree>
    <p:extLst>
      <p:ext uri="{BB962C8B-B14F-4D97-AF65-F5344CB8AC3E}">
        <p14:creationId xmlns:p14="http://schemas.microsoft.com/office/powerpoint/2010/main" val="1864131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9994D35-050C-1660-8824-ADB224E59755}"/>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420275EC-6020-8D26-41F9-8320A4905463}"/>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9114BD4-6BFA-0D2C-4F95-6637D6054522}"/>
              </a:ext>
            </a:extLst>
          </p:cNvPr>
          <p:cNvSpPr>
            <a:spLocks noGrp="1"/>
          </p:cNvSpPr>
          <p:nvPr>
            <p:ph type="dt" sz="half" idx="10"/>
          </p:nvPr>
        </p:nvSpPr>
        <p:spPr/>
        <p:txBody>
          <a:bodyPr/>
          <a:lstStyle/>
          <a:p>
            <a:fld id="{CAEC998A-9DE2-4BB2-91E8-615337B18859}" type="datetimeFigureOut">
              <a:rPr lang="tr-TR" smtClean="0"/>
              <a:t>27.11.2025</a:t>
            </a:fld>
            <a:endParaRPr lang="tr-TR"/>
          </a:p>
        </p:txBody>
      </p:sp>
      <p:sp>
        <p:nvSpPr>
          <p:cNvPr id="5" name="Alt Bilgi Yer Tutucusu 4">
            <a:extLst>
              <a:ext uri="{FF2B5EF4-FFF2-40B4-BE49-F238E27FC236}">
                <a16:creationId xmlns:a16="http://schemas.microsoft.com/office/drawing/2014/main" id="{ABE66453-A7C6-CBA5-BF61-201630F1C18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04BCA1A7-0E11-FF0B-6BF9-BAFF7C3A7938}"/>
              </a:ext>
            </a:extLst>
          </p:cNvPr>
          <p:cNvSpPr>
            <a:spLocks noGrp="1"/>
          </p:cNvSpPr>
          <p:nvPr>
            <p:ph type="sldNum" sz="quarter" idx="12"/>
          </p:nvPr>
        </p:nvSpPr>
        <p:spPr/>
        <p:txBody>
          <a:bodyPr/>
          <a:lstStyle/>
          <a:p>
            <a:fld id="{44441FD9-62D5-41CE-A9B8-6B2E1BB5ABC1}" type="slidenum">
              <a:rPr lang="tr-TR" smtClean="0"/>
              <a:t>‹#›</a:t>
            </a:fld>
            <a:endParaRPr lang="tr-TR"/>
          </a:p>
        </p:txBody>
      </p:sp>
    </p:spTree>
    <p:extLst>
      <p:ext uri="{BB962C8B-B14F-4D97-AF65-F5344CB8AC3E}">
        <p14:creationId xmlns:p14="http://schemas.microsoft.com/office/powerpoint/2010/main" val="2855246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5B9F7103-B098-7BE0-20A1-453D07A13C85}"/>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376E4489-B8B0-1522-88F3-9F367A122B1F}"/>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45850B6-F222-AF67-C56F-AB22FA28B9CE}"/>
              </a:ext>
            </a:extLst>
          </p:cNvPr>
          <p:cNvSpPr>
            <a:spLocks noGrp="1"/>
          </p:cNvSpPr>
          <p:nvPr>
            <p:ph type="dt" sz="half" idx="10"/>
          </p:nvPr>
        </p:nvSpPr>
        <p:spPr/>
        <p:txBody>
          <a:bodyPr/>
          <a:lstStyle/>
          <a:p>
            <a:fld id="{CAEC998A-9DE2-4BB2-91E8-615337B18859}" type="datetimeFigureOut">
              <a:rPr lang="tr-TR" smtClean="0"/>
              <a:t>27.11.2025</a:t>
            </a:fld>
            <a:endParaRPr lang="tr-TR"/>
          </a:p>
        </p:txBody>
      </p:sp>
      <p:sp>
        <p:nvSpPr>
          <p:cNvPr id="5" name="Alt Bilgi Yer Tutucusu 4">
            <a:extLst>
              <a:ext uri="{FF2B5EF4-FFF2-40B4-BE49-F238E27FC236}">
                <a16:creationId xmlns:a16="http://schemas.microsoft.com/office/drawing/2014/main" id="{DF79FECD-98F2-5214-5873-E973386AE31A}"/>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9C60F16-BDF4-BD72-6710-CA78CE146DC0}"/>
              </a:ext>
            </a:extLst>
          </p:cNvPr>
          <p:cNvSpPr>
            <a:spLocks noGrp="1"/>
          </p:cNvSpPr>
          <p:nvPr>
            <p:ph type="sldNum" sz="quarter" idx="12"/>
          </p:nvPr>
        </p:nvSpPr>
        <p:spPr/>
        <p:txBody>
          <a:bodyPr/>
          <a:lstStyle/>
          <a:p>
            <a:fld id="{44441FD9-62D5-41CE-A9B8-6B2E1BB5ABC1}" type="slidenum">
              <a:rPr lang="tr-TR" smtClean="0"/>
              <a:t>‹#›</a:t>
            </a:fld>
            <a:endParaRPr lang="tr-TR"/>
          </a:p>
        </p:txBody>
      </p:sp>
    </p:spTree>
    <p:extLst>
      <p:ext uri="{BB962C8B-B14F-4D97-AF65-F5344CB8AC3E}">
        <p14:creationId xmlns:p14="http://schemas.microsoft.com/office/powerpoint/2010/main" val="32297226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584051B6-468A-AE5B-427C-8882DA6752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D6C65F59-6CEB-EF02-45DE-A317BB733F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9B666C11-1AD7-EA57-A964-F5C57517C8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EC998A-9DE2-4BB2-91E8-615337B18859}" type="datetimeFigureOut">
              <a:rPr lang="tr-TR" smtClean="0"/>
              <a:t>27.11.2025</a:t>
            </a:fld>
            <a:endParaRPr lang="tr-TR"/>
          </a:p>
        </p:txBody>
      </p:sp>
      <p:sp>
        <p:nvSpPr>
          <p:cNvPr id="5" name="Alt Bilgi Yer Tutucusu 4">
            <a:extLst>
              <a:ext uri="{FF2B5EF4-FFF2-40B4-BE49-F238E27FC236}">
                <a16:creationId xmlns:a16="http://schemas.microsoft.com/office/drawing/2014/main" id="{790F500D-03D0-B230-EA42-3594FE86435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BA0C0BCB-2832-682A-9C8B-EF048978ED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4441FD9-62D5-41CE-A9B8-6B2E1BB5ABC1}" type="slidenum">
              <a:rPr lang="tr-TR" smtClean="0"/>
              <a:t>‹#›</a:t>
            </a:fld>
            <a:endParaRPr lang="tr-TR"/>
          </a:p>
        </p:txBody>
      </p:sp>
    </p:spTree>
    <p:extLst>
      <p:ext uri="{BB962C8B-B14F-4D97-AF65-F5344CB8AC3E}">
        <p14:creationId xmlns:p14="http://schemas.microsoft.com/office/powerpoint/2010/main" val="260989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17EB9-C6A3-B367-9905-5453DA8B231F}"/>
            </a:ext>
          </a:extLst>
        </p:cNvPr>
        <p:cNvGrpSpPr/>
        <p:nvPr/>
      </p:nvGrpSpPr>
      <p:grpSpPr>
        <a:xfrm>
          <a:off x="0" y="0"/>
          <a:ext cx="0" cy="0"/>
          <a:chOff x="0" y="0"/>
          <a:chExt cx="0" cy="0"/>
        </a:xfrm>
      </p:grpSpPr>
      <p:sp>
        <p:nvSpPr>
          <p:cNvPr id="5" name="Metin kutusu 4">
            <a:extLst>
              <a:ext uri="{FF2B5EF4-FFF2-40B4-BE49-F238E27FC236}">
                <a16:creationId xmlns:a16="http://schemas.microsoft.com/office/drawing/2014/main" id="{7CDE559C-EAF5-2A2F-A186-3BA531E39EA8}"/>
              </a:ext>
            </a:extLst>
          </p:cNvPr>
          <p:cNvSpPr txBox="1"/>
          <p:nvPr/>
        </p:nvSpPr>
        <p:spPr>
          <a:xfrm>
            <a:off x="2167246" y="2996684"/>
            <a:ext cx="7378943" cy="553998"/>
          </a:xfrm>
          <a:prstGeom prst="rect">
            <a:avLst/>
          </a:prstGeom>
          <a:noFill/>
        </p:spPr>
        <p:txBody>
          <a:bodyPr wrap="none" rtlCol="0">
            <a:spAutoFit/>
          </a:bodyPr>
          <a:lstStyle/>
          <a:p>
            <a:r>
              <a:rPr lang="tr-TR" sz="3000" b="1" dirty="0">
                <a:solidFill>
                  <a:srgbClr val="BA470A"/>
                </a:solidFill>
                <a:latin typeface="Consolas" panose="020B0609020204030204" pitchFamily="49" charset="0"/>
              </a:rPr>
              <a:t>BIL416 – </a:t>
            </a:r>
            <a:r>
              <a:rPr lang="tr-TR" sz="3000" b="1" dirty="0" err="1">
                <a:solidFill>
                  <a:srgbClr val="BA470A"/>
                </a:solidFill>
                <a:latin typeface="Consolas" panose="020B0609020204030204" pitchFamily="49" charset="0"/>
              </a:rPr>
              <a:t>Metasezgisel</a:t>
            </a:r>
            <a:r>
              <a:rPr lang="tr-TR" sz="3000" b="1" dirty="0">
                <a:solidFill>
                  <a:srgbClr val="BA470A"/>
                </a:solidFill>
                <a:latin typeface="Consolas" panose="020B0609020204030204" pitchFamily="49" charset="0"/>
              </a:rPr>
              <a:t> Algoritmalar</a:t>
            </a:r>
          </a:p>
        </p:txBody>
      </p:sp>
      <p:sp>
        <p:nvSpPr>
          <p:cNvPr id="6" name="Metin kutusu 5">
            <a:extLst>
              <a:ext uri="{FF2B5EF4-FFF2-40B4-BE49-F238E27FC236}">
                <a16:creationId xmlns:a16="http://schemas.microsoft.com/office/drawing/2014/main" id="{2D2B9F7A-7E6B-789E-13C9-CB3BF6490A23}"/>
              </a:ext>
            </a:extLst>
          </p:cNvPr>
          <p:cNvSpPr txBox="1"/>
          <p:nvPr/>
        </p:nvSpPr>
        <p:spPr>
          <a:xfrm>
            <a:off x="3111849" y="1497296"/>
            <a:ext cx="5968301" cy="707886"/>
          </a:xfrm>
          <a:prstGeom prst="rect">
            <a:avLst/>
          </a:prstGeom>
          <a:noFill/>
          <a:ln>
            <a:solidFill>
              <a:srgbClr val="BA470A"/>
            </a:solidFill>
          </a:ln>
        </p:spPr>
        <p:txBody>
          <a:bodyPr wrap="none" rtlCol="0">
            <a:spAutoFit/>
          </a:bodyPr>
          <a:lstStyle/>
          <a:p>
            <a:pPr algn="ctr"/>
            <a:r>
              <a:rPr lang="tr-TR" sz="2000" dirty="0">
                <a:latin typeface="Consolas" panose="020B0609020204030204" pitchFamily="49" charset="0"/>
              </a:rPr>
              <a:t>Amasya Üniversitesi Mühendislik Fakültesi</a:t>
            </a:r>
          </a:p>
          <a:p>
            <a:pPr algn="ctr"/>
            <a:r>
              <a:rPr lang="tr-TR" sz="2000" dirty="0">
                <a:latin typeface="Consolas" panose="020B0609020204030204" pitchFamily="49" charset="0"/>
              </a:rPr>
              <a:t>Bilgisayar Mühendisliği Bölümü</a:t>
            </a:r>
          </a:p>
        </p:txBody>
      </p:sp>
      <p:sp>
        <p:nvSpPr>
          <p:cNvPr id="7" name="Metin kutusu 6">
            <a:extLst>
              <a:ext uri="{FF2B5EF4-FFF2-40B4-BE49-F238E27FC236}">
                <a16:creationId xmlns:a16="http://schemas.microsoft.com/office/drawing/2014/main" id="{7AA52E2E-C829-5BCB-61D4-03C02C603B70}"/>
              </a:ext>
            </a:extLst>
          </p:cNvPr>
          <p:cNvSpPr txBox="1"/>
          <p:nvPr/>
        </p:nvSpPr>
        <p:spPr>
          <a:xfrm>
            <a:off x="4414678" y="3816742"/>
            <a:ext cx="2935419" cy="553998"/>
          </a:xfrm>
          <a:prstGeom prst="rect">
            <a:avLst/>
          </a:prstGeom>
          <a:noFill/>
        </p:spPr>
        <p:txBody>
          <a:bodyPr wrap="none" rtlCol="0">
            <a:spAutoFit/>
          </a:bodyPr>
          <a:lstStyle/>
          <a:p>
            <a:pPr algn="ctr"/>
            <a:r>
              <a:rPr lang="tr-TR" sz="1500">
                <a:solidFill>
                  <a:srgbClr val="BA470A"/>
                </a:solidFill>
                <a:latin typeface="Consolas" panose="020B0609020204030204" pitchFamily="49" charset="0"/>
              </a:rPr>
              <a:t>Hafta </a:t>
            </a:r>
            <a:r>
              <a:rPr lang="tr-TR" sz="1500" dirty="0">
                <a:solidFill>
                  <a:srgbClr val="BA470A"/>
                </a:solidFill>
                <a:latin typeface="Consolas" panose="020B0609020204030204" pitchFamily="49" charset="0"/>
              </a:rPr>
              <a:t>6</a:t>
            </a:r>
          </a:p>
          <a:p>
            <a:pPr algn="ctr"/>
            <a:r>
              <a:rPr lang="tr-TR" sz="1500" b="1" dirty="0">
                <a:solidFill>
                  <a:srgbClr val="BA470A"/>
                </a:solidFill>
                <a:latin typeface="Consolas" panose="020B0609020204030204" pitchFamily="49" charset="0"/>
              </a:rPr>
              <a:t>Keşif ve Sömürü Kavramları</a:t>
            </a:r>
          </a:p>
        </p:txBody>
      </p:sp>
      <p:sp>
        <p:nvSpPr>
          <p:cNvPr id="8" name="Metin kutusu 7">
            <a:extLst>
              <a:ext uri="{FF2B5EF4-FFF2-40B4-BE49-F238E27FC236}">
                <a16:creationId xmlns:a16="http://schemas.microsoft.com/office/drawing/2014/main" id="{783C7FC2-223A-8CB8-2B89-C8604641B8C8}"/>
              </a:ext>
            </a:extLst>
          </p:cNvPr>
          <p:cNvSpPr txBox="1"/>
          <p:nvPr/>
        </p:nvSpPr>
        <p:spPr>
          <a:xfrm>
            <a:off x="4353747" y="4900631"/>
            <a:ext cx="3005951" cy="400110"/>
          </a:xfrm>
          <a:prstGeom prst="rect">
            <a:avLst/>
          </a:prstGeom>
          <a:noFill/>
        </p:spPr>
        <p:txBody>
          <a:bodyPr wrap="none" rtlCol="0">
            <a:spAutoFit/>
          </a:bodyPr>
          <a:lstStyle/>
          <a:p>
            <a:pPr algn="ctr"/>
            <a:r>
              <a:rPr lang="tr-TR" sz="2000" dirty="0">
                <a:latin typeface="Consolas" panose="020B0609020204030204" pitchFamily="49" charset="0"/>
              </a:rPr>
              <a:t>Dr. Funda KUTLU ONAY</a:t>
            </a:r>
          </a:p>
        </p:txBody>
      </p:sp>
      <p:pic>
        <p:nvPicPr>
          <p:cNvPr id="4100" name="Picture 4" descr="Labirent arka plan">
            <a:extLst>
              <a:ext uri="{FF2B5EF4-FFF2-40B4-BE49-F238E27FC236}">
                <a16:creationId xmlns:a16="http://schemas.microsoft.com/office/drawing/2014/main" id="{6CEDB3C2-B72E-4482-8254-39532BDE13C7}"/>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a:off x="0" y="5537675"/>
            <a:ext cx="4762500" cy="132032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descr="Labirent arka plan">
            <a:extLst>
              <a:ext uri="{FF2B5EF4-FFF2-40B4-BE49-F238E27FC236}">
                <a16:creationId xmlns:a16="http://schemas.microsoft.com/office/drawing/2014/main" id="{2B4A7B58-4FF0-5672-A0CD-1A84776B9E2A}"/>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a:off x="4758051" y="5537675"/>
            <a:ext cx="4762500" cy="132032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80320894-89ED-4B91-25CF-CBE1510BC96F}"/>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43813"/>
          <a:stretch/>
        </p:blipFill>
        <p:spPr bwMode="auto">
          <a:xfrm>
            <a:off x="9516102" y="5537675"/>
            <a:ext cx="2675898" cy="132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6066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5BAB2-1F40-C15B-DBAA-C25CEB9B45D4}"/>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B0C66E0E-4CCC-67BF-1A13-395362B956E0}"/>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Keşif (Exploration) Fazı</a:t>
            </a:r>
          </a:p>
        </p:txBody>
      </p:sp>
      <p:pic>
        <p:nvPicPr>
          <p:cNvPr id="2" name="Picture 4" descr="Labirent arka plan">
            <a:extLst>
              <a:ext uri="{FF2B5EF4-FFF2-40B4-BE49-F238E27FC236}">
                <a16:creationId xmlns:a16="http://schemas.microsoft.com/office/drawing/2014/main" id="{3F21AC6B-DE3B-D57B-AA24-2975C68C8361}"/>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75210DFE-82F8-65B8-CD62-80509CDB7BB3}"/>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5F0CE4CD-6678-F402-6944-47CA78BE5764}"/>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4AFE1793-3B9D-0D1F-BC8B-BEF1B1BE7B34}"/>
              </a:ext>
            </a:extLst>
          </p:cNvPr>
          <p:cNvSpPr txBox="1"/>
          <p:nvPr/>
        </p:nvSpPr>
        <p:spPr>
          <a:xfrm>
            <a:off x="1164349" y="884915"/>
            <a:ext cx="10913920" cy="5078313"/>
          </a:xfrm>
          <a:prstGeom prst="rect">
            <a:avLst/>
          </a:prstGeom>
          <a:noFill/>
        </p:spPr>
        <p:txBody>
          <a:bodyPr wrap="square">
            <a:spAutoFit/>
          </a:bodyPr>
          <a:lstStyle/>
          <a:p>
            <a:pPr algn="just"/>
            <a:r>
              <a:rPr lang="tr-TR" b="0" i="0" dirty="0">
                <a:solidFill>
                  <a:srgbClr val="242424"/>
                </a:solidFill>
                <a:effectLst/>
                <a:latin typeface="Consolas" panose="020B0609020204030204" pitchFamily="49" charset="0"/>
              </a:rPr>
              <a:t>Keşif fazı, </a:t>
            </a:r>
            <a:r>
              <a:rPr lang="tr-TR" b="0" i="0" dirty="0" err="1">
                <a:solidFill>
                  <a:srgbClr val="242424"/>
                </a:solidFill>
                <a:effectLst/>
                <a:latin typeface="Consolas" panose="020B0609020204030204" pitchFamily="49" charset="0"/>
              </a:rPr>
              <a:t>metasezgisel</a:t>
            </a:r>
            <a:r>
              <a:rPr lang="tr-TR" b="0" i="0" dirty="0">
                <a:solidFill>
                  <a:srgbClr val="242424"/>
                </a:solidFill>
                <a:effectLst/>
                <a:latin typeface="Consolas" panose="020B0609020204030204" pitchFamily="49" charset="0"/>
              </a:rPr>
              <a:t> algoritmaların önemli bir aşamasıdır ve bu faz, çözüm uzayında henüz keşfedilmemiş bölgelerin araştırılmasına odaklanır. </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Bu süreç, genellikle algoritmanın başlangıcında başlar ve çözüm uzayında geniş bir keşif yapmayı amaçlar. </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Keşif fazının amacı, lokal minimumlara takılmadan ve geniş bir alanı tarayarak potansiyel olarak iyi çözümler bulmaktır. </a:t>
            </a:r>
          </a:p>
          <a:p>
            <a:pPr algn="just"/>
            <a:endParaRPr lang="tr-TR" dirty="0">
              <a:solidFill>
                <a:srgbClr val="242424"/>
              </a:solidFill>
              <a:latin typeface="Consolas" panose="020B0609020204030204" pitchFamily="49" charset="0"/>
            </a:endParaRPr>
          </a:p>
          <a:p>
            <a:pPr algn="just"/>
            <a:r>
              <a:rPr lang="tr-TR" dirty="0">
                <a:latin typeface="Consolas" panose="020B0609020204030204" pitchFamily="49" charset="0"/>
              </a:rPr>
              <a:t>Keşif fazı, bir </a:t>
            </a:r>
            <a:r>
              <a:rPr lang="tr-TR" dirty="0" err="1">
                <a:latin typeface="Consolas" panose="020B0609020204030204" pitchFamily="49" charset="0"/>
              </a:rPr>
              <a:t>metasezgisel</a:t>
            </a:r>
            <a:r>
              <a:rPr lang="tr-TR" dirty="0">
                <a:latin typeface="Consolas" panose="020B0609020204030204" pitchFamily="49" charset="0"/>
              </a:rPr>
              <a:t> algoritmanın çözüm uzayında geniş bir arama yaparak, bilinmeyen ya da yeterince araştırılmamış bölgeleri keşfetmesi sürecidir. </a:t>
            </a:r>
          </a:p>
          <a:p>
            <a:pPr algn="just"/>
            <a:endParaRPr lang="tr-TR" dirty="0">
              <a:latin typeface="Consolas" panose="020B0609020204030204" pitchFamily="49" charset="0"/>
            </a:endParaRPr>
          </a:p>
          <a:p>
            <a:pPr algn="just"/>
            <a:r>
              <a:rPr lang="tr-TR" dirty="0">
                <a:latin typeface="Consolas" panose="020B0609020204030204" pitchFamily="49" charset="0"/>
              </a:rPr>
              <a:t>Bu fazda algoritma, mümkün olduğunca farklı çözümleri denemeye çalışır ve çözüm uzayındaki potansiyel yeni yolları araştırır. </a:t>
            </a:r>
          </a:p>
          <a:p>
            <a:pPr algn="just"/>
            <a:endParaRPr lang="tr-TR" dirty="0">
              <a:latin typeface="Consolas" panose="020B0609020204030204" pitchFamily="49" charset="0"/>
            </a:endParaRPr>
          </a:p>
          <a:p>
            <a:pPr algn="just"/>
            <a:r>
              <a:rPr lang="tr-TR" dirty="0">
                <a:latin typeface="Consolas" panose="020B0609020204030204" pitchFamily="49" charset="0"/>
              </a:rPr>
              <a:t>Keşif fazı, algoritmanın çözüm alanında "daha fazla" ve "çeşitli" çözümler arayarak, yerel optimumlardan kaçınmasını ve genel çözüm alanının geniş bir kısmını incelemesini sağlar.</a:t>
            </a:r>
          </a:p>
        </p:txBody>
      </p:sp>
    </p:spTree>
    <p:extLst>
      <p:ext uri="{BB962C8B-B14F-4D97-AF65-F5344CB8AC3E}">
        <p14:creationId xmlns:p14="http://schemas.microsoft.com/office/powerpoint/2010/main" val="15077262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EA52-BA7A-014B-BFA6-E3339C443771}"/>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664AF99F-56CC-3C06-790D-446908BE1B25}"/>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Keşif (Exploration) Fazı</a:t>
            </a:r>
          </a:p>
        </p:txBody>
      </p:sp>
      <p:pic>
        <p:nvPicPr>
          <p:cNvPr id="2" name="Picture 4" descr="Labirent arka plan">
            <a:extLst>
              <a:ext uri="{FF2B5EF4-FFF2-40B4-BE49-F238E27FC236}">
                <a16:creationId xmlns:a16="http://schemas.microsoft.com/office/drawing/2014/main" id="{F5BE1914-9482-9936-184A-C106120BC121}"/>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90AB20B6-EA2F-836A-02A7-8BBE4BF245E2}"/>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C2256F53-D248-9CB1-8B34-5899FC78247D}"/>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7973A9FD-C07E-8BBC-3161-0A3D1F0A212A}"/>
              </a:ext>
            </a:extLst>
          </p:cNvPr>
          <p:cNvSpPr txBox="1"/>
          <p:nvPr/>
        </p:nvSpPr>
        <p:spPr>
          <a:xfrm>
            <a:off x="1164349" y="884915"/>
            <a:ext cx="10913920" cy="3970318"/>
          </a:xfrm>
          <a:prstGeom prst="rect">
            <a:avLst/>
          </a:prstGeom>
          <a:noFill/>
        </p:spPr>
        <p:txBody>
          <a:bodyPr wrap="square">
            <a:spAutoFit/>
          </a:bodyPr>
          <a:lstStyle/>
          <a:p>
            <a:pPr algn="just"/>
            <a:r>
              <a:rPr lang="tr-TR" b="0" i="0" dirty="0">
                <a:solidFill>
                  <a:srgbClr val="242424"/>
                </a:solidFill>
                <a:effectLst/>
                <a:latin typeface="Consolas" panose="020B0609020204030204" pitchFamily="49" charset="0"/>
              </a:rPr>
              <a:t>Keşif Fazının Temel Özellikleri:</a:t>
            </a:r>
          </a:p>
          <a:p>
            <a:pPr algn="just"/>
            <a:endParaRPr lang="tr-TR" dirty="0">
              <a:solidFill>
                <a:srgbClr val="242424"/>
              </a:solidFill>
              <a:latin typeface="Consolas" panose="020B0609020204030204" pitchFamily="49" charset="0"/>
            </a:endParaRPr>
          </a:p>
          <a:p>
            <a:pPr algn="just"/>
            <a:r>
              <a:rPr lang="tr-TR" dirty="0">
                <a:latin typeface="Consolas" panose="020B0609020204030204" pitchFamily="49" charset="0"/>
              </a:rPr>
              <a:t>Çeşitlilik Sağlama: Keşif fazı, çözüm uzayında farklı bölgeleri tarayarak çeşitlilik sağlamaya çalışır. Bu, yerel optimumlardan kaçınarak daha iyi küresel çözümlere ulaşmak için </a:t>
            </a:r>
            <a:r>
              <a:rPr lang="tr-TR" dirty="0" err="1">
                <a:latin typeface="Consolas" panose="020B0609020204030204" pitchFamily="49" charset="0"/>
              </a:rPr>
              <a:t>önemlidir.Çeşitlilik</a:t>
            </a:r>
            <a:r>
              <a:rPr lang="tr-TR" dirty="0">
                <a:latin typeface="Consolas" panose="020B0609020204030204" pitchFamily="49" charset="0"/>
              </a:rPr>
              <a:t>, genellikle çözüm uzayında geniş hareketler ve rastgele adımlar ile sağlanır.</a:t>
            </a:r>
          </a:p>
          <a:p>
            <a:pPr algn="just"/>
            <a:endParaRPr lang="tr-TR" dirty="0">
              <a:latin typeface="Consolas" panose="020B0609020204030204" pitchFamily="49" charset="0"/>
            </a:endParaRPr>
          </a:p>
          <a:p>
            <a:pPr algn="just"/>
            <a:r>
              <a:rPr lang="tr-TR" dirty="0" err="1">
                <a:latin typeface="Consolas" panose="020B0609020204030204" pitchFamily="49" charset="0"/>
              </a:rPr>
              <a:t>Rastgelelik:Keşif</a:t>
            </a:r>
            <a:r>
              <a:rPr lang="tr-TR" dirty="0">
                <a:latin typeface="Consolas" panose="020B0609020204030204" pitchFamily="49" charset="0"/>
              </a:rPr>
              <a:t> fazı, algoritmanın rastgele ve geniş bir şekilde çözüm uzayında hareket etmesini sağlar. Bu hareketler, başlangıçta rastgele seçilen çözümler ve operatörler (mutasyon, çaprazlama vb.) ile </a:t>
            </a:r>
            <a:r>
              <a:rPr lang="tr-TR" dirty="0" err="1">
                <a:latin typeface="Consolas" panose="020B0609020204030204" pitchFamily="49" charset="0"/>
              </a:rPr>
              <a:t>başlar.Bu</a:t>
            </a:r>
            <a:r>
              <a:rPr lang="tr-TR" dirty="0">
                <a:latin typeface="Consolas" panose="020B0609020204030204" pitchFamily="49" charset="0"/>
              </a:rPr>
              <a:t> sayede, henüz keşfedilmemiş alanlara ulaşılabilir.</a:t>
            </a:r>
          </a:p>
          <a:p>
            <a:pPr algn="just"/>
            <a:endParaRPr lang="tr-TR" dirty="0">
              <a:latin typeface="Consolas" panose="020B0609020204030204" pitchFamily="49" charset="0"/>
            </a:endParaRPr>
          </a:p>
          <a:p>
            <a:pPr algn="just"/>
            <a:r>
              <a:rPr lang="tr-TR" dirty="0">
                <a:latin typeface="Consolas" panose="020B0609020204030204" pitchFamily="49" charset="0"/>
              </a:rPr>
              <a:t>Yeni Çözümler </a:t>
            </a:r>
            <a:r>
              <a:rPr lang="tr-TR" dirty="0" err="1">
                <a:latin typeface="Consolas" panose="020B0609020204030204" pitchFamily="49" charset="0"/>
              </a:rPr>
              <a:t>Arama:Keşif</a:t>
            </a:r>
            <a:r>
              <a:rPr lang="tr-TR" dirty="0">
                <a:latin typeface="Consolas" panose="020B0609020204030204" pitchFamily="49" charset="0"/>
              </a:rPr>
              <a:t>, yeni çözümler aramaya odaklanır. Algoritma, çözüm uzayının farklı köşelerini keşfederek, potansiyel olarak daha iyi çözümler bulmaya çalışır.</a:t>
            </a:r>
          </a:p>
        </p:txBody>
      </p:sp>
    </p:spTree>
    <p:extLst>
      <p:ext uri="{BB962C8B-B14F-4D97-AF65-F5344CB8AC3E}">
        <p14:creationId xmlns:p14="http://schemas.microsoft.com/office/powerpoint/2010/main" val="2410343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0A2F6-D8F4-A938-86AB-5C5AB5E3DDDE}"/>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5542F477-6F5D-9E7B-AA48-94ED07724A3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Keşif (Exploration) Fazı</a:t>
            </a:r>
          </a:p>
        </p:txBody>
      </p:sp>
      <p:pic>
        <p:nvPicPr>
          <p:cNvPr id="2" name="Picture 4" descr="Labirent arka plan">
            <a:extLst>
              <a:ext uri="{FF2B5EF4-FFF2-40B4-BE49-F238E27FC236}">
                <a16:creationId xmlns:a16="http://schemas.microsoft.com/office/drawing/2014/main" id="{2580D42E-A4B1-5910-C07D-83C975EB4513}"/>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3EE9E842-4A5E-37E0-FB10-AC1980BCB7BF}"/>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BF1DC80A-0E7F-8C05-89F1-3B6B0CB4208B}"/>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EEBBB226-2AA4-1F84-1E16-41AA5ED0CBFC}"/>
              </a:ext>
            </a:extLst>
          </p:cNvPr>
          <p:cNvSpPr txBox="1"/>
          <p:nvPr/>
        </p:nvSpPr>
        <p:spPr>
          <a:xfrm>
            <a:off x="1164349" y="884915"/>
            <a:ext cx="10913920" cy="2585323"/>
          </a:xfrm>
          <a:prstGeom prst="rect">
            <a:avLst/>
          </a:prstGeom>
          <a:noFill/>
        </p:spPr>
        <p:txBody>
          <a:bodyPr wrap="square">
            <a:spAutoFit/>
          </a:bodyPr>
          <a:lstStyle/>
          <a:p>
            <a:pPr algn="just"/>
            <a:r>
              <a:rPr lang="tr-TR" b="0" i="0" dirty="0">
                <a:solidFill>
                  <a:srgbClr val="242424"/>
                </a:solidFill>
                <a:effectLst/>
                <a:latin typeface="Consolas" panose="020B0609020204030204" pitchFamily="49" charset="0"/>
              </a:rPr>
              <a:t>Keşif Fazının Temel Özellikleri:</a:t>
            </a:r>
          </a:p>
          <a:p>
            <a:pPr algn="just"/>
            <a:endParaRPr lang="tr-TR" dirty="0">
              <a:solidFill>
                <a:srgbClr val="242424"/>
              </a:solidFill>
              <a:latin typeface="Consolas" panose="020B0609020204030204" pitchFamily="49" charset="0"/>
            </a:endParaRPr>
          </a:p>
          <a:p>
            <a:pPr algn="just"/>
            <a:r>
              <a:rPr lang="tr-TR" dirty="0">
                <a:latin typeface="Consolas" panose="020B0609020204030204" pitchFamily="49" charset="0"/>
              </a:rPr>
              <a:t>Çözüm Uzayında Geniş </a:t>
            </a:r>
            <a:r>
              <a:rPr lang="tr-TR" dirty="0" err="1">
                <a:latin typeface="Consolas" panose="020B0609020204030204" pitchFamily="49" charset="0"/>
              </a:rPr>
              <a:t>Arama:Keşif</a:t>
            </a:r>
            <a:r>
              <a:rPr lang="tr-TR" dirty="0">
                <a:latin typeface="Consolas" panose="020B0609020204030204" pitchFamily="49" charset="0"/>
              </a:rPr>
              <a:t> fazında, çözüm uzayının geniş bir kısmı taranır. Bu, genellikle başlangıçtaki "ilk keşif" olarak </a:t>
            </a:r>
            <a:r>
              <a:rPr lang="tr-TR" dirty="0" err="1">
                <a:latin typeface="Consolas" panose="020B0609020204030204" pitchFamily="49" charset="0"/>
              </a:rPr>
              <a:t>tanımlanabilir.Keşif</a:t>
            </a:r>
            <a:r>
              <a:rPr lang="tr-TR" dirty="0">
                <a:latin typeface="Consolas" panose="020B0609020204030204" pitchFamily="49" charset="0"/>
              </a:rPr>
              <a:t> fazı, herhangi bir yerel optimuma takılmamak için çözümün büyük bir kısmını tarar.</a:t>
            </a:r>
          </a:p>
          <a:p>
            <a:pPr algn="just"/>
            <a:endParaRPr lang="tr-TR" dirty="0">
              <a:latin typeface="Consolas" panose="020B0609020204030204" pitchFamily="49" charset="0"/>
            </a:endParaRPr>
          </a:p>
          <a:p>
            <a:pPr algn="just"/>
            <a:r>
              <a:rPr lang="tr-TR" dirty="0">
                <a:latin typeface="Consolas" panose="020B0609020204030204" pitchFamily="49" charset="0"/>
              </a:rPr>
              <a:t>Düşük Çözüm </a:t>
            </a:r>
            <a:r>
              <a:rPr lang="tr-TR" dirty="0" err="1">
                <a:latin typeface="Consolas" panose="020B0609020204030204" pitchFamily="49" charset="0"/>
              </a:rPr>
              <a:t>Kalitesi:Keşif</a:t>
            </a:r>
            <a:r>
              <a:rPr lang="tr-TR" dirty="0">
                <a:latin typeface="Consolas" panose="020B0609020204030204" pitchFamily="49" charset="0"/>
              </a:rPr>
              <a:t> fazı genellikle düşük kaliteli çözümlerle başlar çünkü çözüm uzayındaki yeni bölgelerden gelen çözümler yeterince optimize edilmemiş olabilir. Ancak bu durum, algoritmanın daha iyi çözümler keşfetmesine olanak tanır.</a:t>
            </a:r>
          </a:p>
        </p:txBody>
      </p:sp>
      <p:pic>
        <p:nvPicPr>
          <p:cNvPr id="2050" name="Picture 2" descr="The Battle of Exploration and Exploitation Mindset...">
            <a:extLst>
              <a:ext uri="{FF2B5EF4-FFF2-40B4-BE49-F238E27FC236}">
                <a16:creationId xmlns:a16="http://schemas.microsoft.com/office/drawing/2014/main" id="{47AF1BCE-DDA2-09D0-8995-57110F47001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657" t="14386"/>
          <a:stretch/>
        </p:blipFill>
        <p:spPr bwMode="auto">
          <a:xfrm>
            <a:off x="1418602" y="3616378"/>
            <a:ext cx="2998593" cy="27970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3296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B34E0-5761-3DAD-2241-4522A344108F}"/>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53218559-5989-9054-377C-892CA78B00EF}"/>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Keşif (Exploration) Fazı</a:t>
            </a:r>
          </a:p>
        </p:txBody>
      </p:sp>
      <p:pic>
        <p:nvPicPr>
          <p:cNvPr id="2" name="Picture 4" descr="Labirent arka plan">
            <a:extLst>
              <a:ext uri="{FF2B5EF4-FFF2-40B4-BE49-F238E27FC236}">
                <a16:creationId xmlns:a16="http://schemas.microsoft.com/office/drawing/2014/main" id="{AEB3677C-7DA7-CDFB-C01C-DA6C33AE6E54}"/>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1D23D419-54F7-A88F-A1CE-BC3F1BF25B41}"/>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850D4C1D-0529-7F41-059E-2E53DB59ED1F}"/>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246FA39E-E008-3DC4-4B97-D83F36C2F616}"/>
              </a:ext>
            </a:extLst>
          </p:cNvPr>
          <p:cNvSpPr txBox="1"/>
          <p:nvPr/>
        </p:nvSpPr>
        <p:spPr>
          <a:xfrm>
            <a:off x="1164349" y="884915"/>
            <a:ext cx="10913920" cy="4524315"/>
          </a:xfrm>
          <a:prstGeom prst="rect">
            <a:avLst/>
          </a:prstGeom>
          <a:noFill/>
        </p:spPr>
        <p:txBody>
          <a:bodyPr wrap="square">
            <a:spAutoFit/>
          </a:bodyPr>
          <a:lstStyle/>
          <a:p>
            <a:pPr algn="just"/>
            <a:r>
              <a:rPr lang="tr-TR" b="0" i="0" dirty="0">
                <a:solidFill>
                  <a:srgbClr val="242424"/>
                </a:solidFill>
                <a:effectLst/>
                <a:latin typeface="Consolas" panose="020B0609020204030204" pitchFamily="49" charset="0"/>
              </a:rPr>
              <a:t>Keşif Fazındaki Yöntemler:</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Keşif fazında kullanılan yöntemler, algoritmanın genel yapısına ve kullanılan operatörlere bağlıdır. </a:t>
            </a:r>
          </a:p>
          <a:p>
            <a:pPr algn="just"/>
            <a:endParaRPr lang="tr-TR" dirty="0">
              <a:solidFill>
                <a:srgbClr val="242424"/>
              </a:solidFill>
              <a:latin typeface="Consolas" panose="020B0609020204030204" pitchFamily="49" charset="0"/>
            </a:endParaRPr>
          </a:p>
          <a:p>
            <a:pPr algn="just"/>
            <a:r>
              <a:rPr lang="tr-TR" dirty="0">
                <a:latin typeface="Consolas" panose="020B0609020204030204" pitchFamily="49" charset="0"/>
              </a:rPr>
              <a:t>Mutasyon ve Çaprazlama (Genetik Algoritmalar):Genetik algoritmalarda, mutasyon ve çaprazlama operatörleri, bireylerin genetik çeşitliliğini artırmak için kullanılır. Bu, çözüm uzayında yeni çözümler keşfetmek için önemli bir </a:t>
            </a:r>
            <a:r>
              <a:rPr lang="tr-TR" dirty="0" err="1">
                <a:latin typeface="Consolas" panose="020B0609020204030204" pitchFamily="49" charset="0"/>
              </a:rPr>
              <a:t>yöntemdir.Mutasyon</a:t>
            </a:r>
            <a:r>
              <a:rPr lang="tr-TR" dirty="0">
                <a:latin typeface="Consolas" panose="020B0609020204030204" pitchFamily="49" charset="0"/>
              </a:rPr>
              <a:t>, çözümün rastgele bir şekilde değiştirilmesiyle, çaprazlama ise iki çözümün genetik materyalini birleştirerek yeni bir çözüm oluşturur.</a:t>
            </a:r>
          </a:p>
          <a:p>
            <a:pPr algn="just"/>
            <a:endParaRPr lang="tr-TR" dirty="0">
              <a:latin typeface="Consolas" panose="020B0609020204030204" pitchFamily="49" charset="0"/>
            </a:endParaRPr>
          </a:p>
          <a:p>
            <a:pPr algn="just"/>
            <a:r>
              <a:rPr lang="tr-TR" dirty="0">
                <a:latin typeface="Consolas" panose="020B0609020204030204" pitchFamily="49" charset="0"/>
              </a:rPr>
              <a:t>Rastgele Hareket (Simüle Tavlama):Simüle Tavlama algoritmasında, yüksek sıcaklıkta rastgele adımlar atılır, bu sayede çözüm uzayında geniş bir keşif yapılır. Algoritma, başlangıçta çok büyük bir hareket alanı </a:t>
            </a:r>
            <a:r>
              <a:rPr lang="tr-TR" dirty="0" err="1">
                <a:latin typeface="Consolas" panose="020B0609020204030204" pitchFamily="49" charset="0"/>
              </a:rPr>
              <a:t>sağlar.Sıcaklık</a:t>
            </a:r>
            <a:r>
              <a:rPr lang="tr-TR" dirty="0">
                <a:latin typeface="Consolas" panose="020B0609020204030204" pitchFamily="49" charset="0"/>
              </a:rPr>
              <a:t> düştükçe, hareketler daha küçük ve kontrollü hale gelir, yani sömürü fazına geçilir.</a:t>
            </a:r>
          </a:p>
          <a:p>
            <a:pPr algn="just"/>
            <a:endParaRPr lang="tr-TR" dirty="0">
              <a:latin typeface="Consolas" panose="020B0609020204030204" pitchFamily="49" charset="0"/>
            </a:endParaRPr>
          </a:p>
        </p:txBody>
      </p:sp>
    </p:spTree>
    <p:extLst>
      <p:ext uri="{BB962C8B-B14F-4D97-AF65-F5344CB8AC3E}">
        <p14:creationId xmlns:p14="http://schemas.microsoft.com/office/powerpoint/2010/main" val="3216332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B196C-9C81-B247-E781-4F21369BB233}"/>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690105C0-3C7F-7F03-2AFD-CF065E3AA138}"/>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Keşif (Exploration) Fazı</a:t>
            </a:r>
          </a:p>
        </p:txBody>
      </p:sp>
      <p:pic>
        <p:nvPicPr>
          <p:cNvPr id="2" name="Picture 4" descr="Labirent arka plan">
            <a:extLst>
              <a:ext uri="{FF2B5EF4-FFF2-40B4-BE49-F238E27FC236}">
                <a16:creationId xmlns:a16="http://schemas.microsoft.com/office/drawing/2014/main" id="{D44B797A-AC70-EDF8-8308-46F311521946}"/>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15C8063E-5A0A-ED9F-0FCE-5CB891ED6C17}"/>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AA9CEF2C-7B55-F264-4B3F-BFACB57559E0}"/>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AB26BB9E-B642-E49F-CAE2-AE503BB6E9F8}"/>
              </a:ext>
            </a:extLst>
          </p:cNvPr>
          <p:cNvSpPr txBox="1"/>
          <p:nvPr/>
        </p:nvSpPr>
        <p:spPr>
          <a:xfrm>
            <a:off x="1164349" y="884915"/>
            <a:ext cx="10913920" cy="4524315"/>
          </a:xfrm>
          <a:prstGeom prst="rect">
            <a:avLst/>
          </a:prstGeom>
          <a:noFill/>
        </p:spPr>
        <p:txBody>
          <a:bodyPr wrap="square">
            <a:spAutoFit/>
          </a:bodyPr>
          <a:lstStyle/>
          <a:p>
            <a:pPr algn="just"/>
            <a:r>
              <a:rPr lang="tr-TR" b="0" i="0" dirty="0">
                <a:solidFill>
                  <a:srgbClr val="242424"/>
                </a:solidFill>
                <a:effectLst/>
                <a:latin typeface="Consolas" panose="020B0609020204030204" pitchFamily="49" charset="0"/>
              </a:rPr>
              <a:t>Keşif Fazındaki Yöntemler:</a:t>
            </a:r>
          </a:p>
          <a:p>
            <a:pPr algn="just"/>
            <a:endParaRPr lang="tr-TR" dirty="0">
              <a:solidFill>
                <a:srgbClr val="242424"/>
              </a:solidFill>
              <a:latin typeface="Consolas" panose="020B0609020204030204" pitchFamily="49" charset="0"/>
            </a:endParaRPr>
          </a:p>
          <a:p>
            <a:pPr algn="just"/>
            <a:r>
              <a:rPr lang="tr-TR" dirty="0">
                <a:latin typeface="Consolas" panose="020B0609020204030204" pitchFamily="49" charset="0"/>
              </a:rPr>
              <a:t>Çözüm Uzayında Geniş Hareket (PSO):Parçacık Sürü Optimizasyonu (PSO) algoritmasında, parçacıklar rastgele başlangıç hızlarıyla çözüm uzayında hareket ederler. Bu sayede geniş bir keşif yapılır. Parçacıklar arasındaki iletişim, çözüm uzayındaki farklı bölgeleri keşfetmelerine yardımcı olur.</a:t>
            </a:r>
          </a:p>
          <a:p>
            <a:pPr algn="just"/>
            <a:endParaRPr lang="tr-TR" dirty="0">
              <a:solidFill>
                <a:srgbClr val="242424"/>
              </a:solidFill>
              <a:latin typeface="Consolas" panose="020B0609020204030204" pitchFamily="49" charset="0"/>
            </a:endParaRPr>
          </a:p>
          <a:p>
            <a:pPr algn="just"/>
            <a:endParaRPr lang="tr-TR" dirty="0">
              <a:latin typeface="Consolas" panose="020B0609020204030204" pitchFamily="49" charset="0"/>
            </a:endParaRPr>
          </a:p>
          <a:p>
            <a:pPr algn="just"/>
            <a:r>
              <a:rPr lang="tr-TR" dirty="0">
                <a:latin typeface="Consolas" panose="020B0609020204030204" pitchFamily="49" charset="0"/>
              </a:rPr>
              <a:t>Yumurtlama ve Rastgele Yollar (</a:t>
            </a:r>
            <a:r>
              <a:rPr lang="tr-TR" dirty="0" err="1">
                <a:latin typeface="Consolas" panose="020B0609020204030204" pitchFamily="49" charset="0"/>
              </a:rPr>
              <a:t>Cuckoo</a:t>
            </a:r>
            <a:r>
              <a:rPr lang="tr-TR" dirty="0">
                <a:latin typeface="Consolas" panose="020B0609020204030204" pitchFamily="49" charset="0"/>
              </a:rPr>
              <a:t> </a:t>
            </a:r>
            <a:r>
              <a:rPr lang="tr-TR" dirty="0" err="1">
                <a:latin typeface="Consolas" panose="020B0609020204030204" pitchFamily="49" charset="0"/>
              </a:rPr>
              <a:t>Search</a:t>
            </a:r>
            <a:r>
              <a:rPr lang="tr-TR" dirty="0">
                <a:latin typeface="Consolas" panose="020B0609020204030204" pitchFamily="49" charset="0"/>
              </a:rPr>
              <a:t>):</a:t>
            </a:r>
            <a:r>
              <a:rPr lang="tr-TR" dirty="0" err="1">
                <a:latin typeface="Consolas" panose="020B0609020204030204" pitchFamily="49" charset="0"/>
              </a:rPr>
              <a:t>Cuckoo</a:t>
            </a:r>
            <a:r>
              <a:rPr lang="tr-TR" dirty="0">
                <a:latin typeface="Consolas" panose="020B0609020204030204" pitchFamily="49" charset="0"/>
              </a:rPr>
              <a:t> </a:t>
            </a:r>
            <a:r>
              <a:rPr lang="tr-TR" dirty="0" err="1">
                <a:latin typeface="Consolas" panose="020B0609020204030204" pitchFamily="49" charset="0"/>
              </a:rPr>
              <a:t>Search</a:t>
            </a:r>
            <a:r>
              <a:rPr lang="tr-TR" dirty="0">
                <a:latin typeface="Consolas" panose="020B0609020204030204" pitchFamily="49" charset="0"/>
              </a:rPr>
              <a:t> algoritmasında, kuklalar yumurtalarını rastgele bırakır. Bu rastgelelik, çözüm uzayının geniş bir şekilde keşfedilmesini sağlar.</a:t>
            </a:r>
          </a:p>
          <a:p>
            <a:pPr algn="just"/>
            <a:endParaRPr lang="tr-TR" dirty="0">
              <a:latin typeface="Consolas" panose="020B0609020204030204" pitchFamily="49" charset="0"/>
            </a:endParaRPr>
          </a:p>
          <a:p>
            <a:pPr algn="just"/>
            <a:r>
              <a:rPr lang="tr-TR" dirty="0">
                <a:latin typeface="Consolas" panose="020B0609020204030204" pitchFamily="49" charset="0"/>
              </a:rPr>
              <a:t>Yerel Araştırma ve Çiftleşme (Karınca Kolonisi Optimizasyonu):Karınca Kolonisi algoritmasında, karıncalar çözüm uzayını rastgele arar ve zamanla daha iyi çözümler keşfeder. Ancak başlangıçta keşif daha geniştir ve yerel optimumlar arayışına girilir.</a:t>
            </a:r>
          </a:p>
        </p:txBody>
      </p:sp>
    </p:spTree>
    <p:extLst>
      <p:ext uri="{BB962C8B-B14F-4D97-AF65-F5344CB8AC3E}">
        <p14:creationId xmlns:p14="http://schemas.microsoft.com/office/powerpoint/2010/main" val="35891390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3A0A8-75BF-8383-3620-D1B41E7D49C5}"/>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812E5246-0FA9-6C4C-BB3A-1F8FE800D935}"/>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Keşif (Exploration) Fazı</a:t>
            </a:r>
          </a:p>
        </p:txBody>
      </p:sp>
      <p:pic>
        <p:nvPicPr>
          <p:cNvPr id="2" name="Picture 4" descr="Labirent arka plan">
            <a:extLst>
              <a:ext uri="{FF2B5EF4-FFF2-40B4-BE49-F238E27FC236}">
                <a16:creationId xmlns:a16="http://schemas.microsoft.com/office/drawing/2014/main" id="{4DC03680-01ED-10B8-9E82-D188B6606DBA}"/>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5BE52708-608F-35D3-C4B5-A286DE9F4E58}"/>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86963611-221E-2A8C-EF65-2D3F4AD2BE91}"/>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6F54D91D-89F9-D749-1FE3-F23073C9568F}"/>
              </a:ext>
            </a:extLst>
          </p:cNvPr>
          <p:cNvSpPr txBox="1"/>
          <p:nvPr/>
        </p:nvSpPr>
        <p:spPr>
          <a:xfrm>
            <a:off x="1164349" y="884915"/>
            <a:ext cx="10913920" cy="5078313"/>
          </a:xfrm>
          <a:prstGeom prst="rect">
            <a:avLst/>
          </a:prstGeom>
          <a:noFill/>
        </p:spPr>
        <p:txBody>
          <a:bodyPr wrap="square">
            <a:spAutoFit/>
          </a:bodyPr>
          <a:lstStyle/>
          <a:p>
            <a:pPr algn="just"/>
            <a:r>
              <a:rPr lang="tr-TR" b="0" i="0" dirty="0">
                <a:solidFill>
                  <a:srgbClr val="242424"/>
                </a:solidFill>
                <a:effectLst/>
                <a:latin typeface="Consolas" panose="020B0609020204030204" pitchFamily="49" charset="0"/>
              </a:rPr>
              <a:t>Keşif Fazının Algoritma Bazında Uygulaması:</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Genetik Algoritmalarda </a:t>
            </a:r>
            <a:r>
              <a:rPr lang="tr-TR" b="0" i="0" dirty="0" err="1">
                <a:solidFill>
                  <a:srgbClr val="242424"/>
                </a:solidFill>
                <a:effectLst/>
                <a:latin typeface="Consolas" panose="020B0609020204030204" pitchFamily="49" charset="0"/>
              </a:rPr>
              <a:t>Keşif:Keşif</a:t>
            </a:r>
            <a:r>
              <a:rPr lang="tr-TR" b="0" i="0" dirty="0">
                <a:solidFill>
                  <a:srgbClr val="242424"/>
                </a:solidFill>
                <a:effectLst/>
                <a:latin typeface="Consolas" panose="020B0609020204030204" pitchFamily="49" charset="0"/>
              </a:rPr>
              <a:t> fazında, genetik algoritma, farklı bireyler yaratmak için mutasyon ve çaprazlama işlemlerini kullanarak çözüm uzayını genişletir. Bu sayede yeni, potansiyel olarak daha iyi çözümler keşfedilir.</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Simüle Tavlama (SA) Algoritmasında </a:t>
            </a:r>
            <a:r>
              <a:rPr lang="tr-TR" b="0" i="0" dirty="0" err="1">
                <a:solidFill>
                  <a:srgbClr val="242424"/>
                </a:solidFill>
                <a:effectLst/>
                <a:latin typeface="Consolas" panose="020B0609020204030204" pitchFamily="49" charset="0"/>
              </a:rPr>
              <a:t>Keşif:SA</a:t>
            </a:r>
            <a:r>
              <a:rPr lang="tr-TR" b="0" i="0" dirty="0">
                <a:solidFill>
                  <a:srgbClr val="242424"/>
                </a:solidFill>
                <a:effectLst/>
                <a:latin typeface="Consolas" panose="020B0609020204030204" pitchFamily="49" charset="0"/>
              </a:rPr>
              <a:t> algoritmasında, yüksek sıcaklıkta sistem rastgele ve geniş bir şekilde çözüm uzayını araştırır. Yüksek sıcaklık, algoritmanın büyük bir alanı keşfetmesine olanak tanır. Bu sırada çözüm kalitesi düşük olabilir, ancak bu yöntem, global optimum çözümü bulma olasılığını artırır.</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PSO (Parçacık Sürü Optimizasyonu) Keşif </a:t>
            </a:r>
            <a:r>
              <a:rPr lang="tr-TR" b="0" i="0" dirty="0" err="1">
                <a:solidFill>
                  <a:srgbClr val="242424"/>
                </a:solidFill>
                <a:effectLst/>
                <a:latin typeface="Consolas" panose="020B0609020204030204" pitchFamily="49" charset="0"/>
              </a:rPr>
              <a:t>Fazı:PSO</a:t>
            </a:r>
            <a:r>
              <a:rPr lang="tr-TR" b="0" i="0" dirty="0">
                <a:solidFill>
                  <a:srgbClr val="242424"/>
                </a:solidFill>
                <a:effectLst/>
                <a:latin typeface="Consolas" panose="020B0609020204030204" pitchFamily="49" charset="0"/>
              </a:rPr>
              <a:t> algoritmasında, her parçacık çözüm uzayında rastgele bir noktada başlar. Başlangıçta, parçacıklar daha geniş bir alanda hareket eder ve çözüm uzayındaki farklı bölgeleri keşfederler.</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Karınca Kolonisi Optimizasyonu (ACO) Keşif </a:t>
            </a:r>
            <a:r>
              <a:rPr lang="tr-TR" b="0" i="0" dirty="0" err="1">
                <a:solidFill>
                  <a:srgbClr val="242424"/>
                </a:solidFill>
                <a:effectLst/>
                <a:latin typeface="Consolas" panose="020B0609020204030204" pitchFamily="49" charset="0"/>
              </a:rPr>
              <a:t>Fazı:ACO</a:t>
            </a:r>
            <a:r>
              <a:rPr lang="tr-TR" b="0" i="0" dirty="0">
                <a:solidFill>
                  <a:srgbClr val="242424"/>
                </a:solidFill>
                <a:effectLst/>
                <a:latin typeface="Consolas" panose="020B0609020204030204" pitchFamily="49" charset="0"/>
              </a:rPr>
              <a:t> algoritmasında, karıncalar rastgele yollardan hareket ederler ve zamanla daha iyi yolları keşfederler. Bu süreçte, çözüm uzayının daha önce keşfedilmemiş bölgeleri taranır.</a:t>
            </a:r>
            <a:endParaRPr lang="tr-TR" dirty="0">
              <a:latin typeface="Consolas" panose="020B0609020204030204" pitchFamily="49" charset="0"/>
            </a:endParaRPr>
          </a:p>
        </p:txBody>
      </p:sp>
    </p:spTree>
    <p:extLst>
      <p:ext uri="{BB962C8B-B14F-4D97-AF65-F5344CB8AC3E}">
        <p14:creationId xmlns:p14="http://schemas.microsoft.com/office/powerpoint/2010/main" val="2047112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5A0F8-9B1B-D7E4-5EEF-4119DB10A3AE}"/>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299E3A84-2FEA-D299-45FA-97E66A04C074}"/>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Keşif (Exploration) Fazı</a:t>
            </a:r>
          </a:p>
        </p:txBody>
      </p:sp>
      <p:pic>
        <p:nvPicPr>
          <p:cNvPr id="2" name="Picture 4" descr="Labirent arka plan">
            <a:extLst>
              <a:ext uri="{FF2B5EF4-FFF2-40B4-BE49-F238E27FC236}">
                <a16:creationId xmlns:a16="http://schemas.microsoft.com/office/drawing/2014/main" id="{BEE22124-EAB4-E7DB-C3E2-D885C9E715B3}"/>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3B768AED-283D-78AE-94BF-F621FE750E93}"/>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DC5F75D1-B87B-6B89-BD30-321293959DBE}"/>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D1621059-EE01-B0FE-C8F2-328DDC44C2FA}"/>
              </a:ext>
            </a:extLst>
          </p:cNvPr>
          <p:cNvSpPr txBox="1"/>
          <p:nvPr/>
        </p:nvSpPr>
        <p:spPr>
          <a:xfrm>
            <a:off x="1164349" y="884915"/>
            <a:ext cx="10913920" cy="3416320"/>
          </a:xfrm>
          <a:prstGeom prst="rect">
            <a:avLst/>
          </a:prstGeom>
          <a:noFill/>
        </p:spPr>
        <p:txBody>
          <a:bodyPr wrap="square">
            <a:spAutoFit/>
          </a:bodyPr>
          <a:lstStyle/>
          <a:p>
            <a:pPr algn="just"/>
            <a:r>
              <a:rPr lang="tr-TR" b="0" i="0" dirty="0">
                <a:solidFill>
                  <a:srgbClr val="242424"/>
                </a:solidFill>
                <a:effectLst/>
                <a:latin typeface="Consolas" panose="020B0609020204030204" pitchFamily="49" charset="0"/>
              </a:rPr>
              <a:t>Keşif Fazının Önemi:</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Global Optimuma Erişim: Keşif fazı, algoritmaların yerel optimumlardan kaçınmasına yardımcı olarak, global optimuma daha yakın çözümler bulmalarına olanak tanır.</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Çeşitlilik: Çeşitli çözümleri keşfetmek, daha farklı ve etkili çözüm alternatiflerinin bulunmasını sağlar.</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Başlangıçtaki Çözüm Kalitesi: Keşif fazı, başlangıçta düşük kaliteli çözümleri içerse de, zamanla daha iyi çözümler elde edebilme potansiyeli sunar.</a:t>
            </a:r>
          </a:p>
          <a:p>
            <a:pPr algn="just"/>
            <a:endParaRPr lang="tr-TR" dirty="0">
              <a:solidFill>
                <a:srgbClr val="242424"/>
              </a:solidFill>
              <a:latin typeface="Consolas" panose="020B0609020204030204" pitchFamily="49" charset="0"/>
            </a:endParaRPr>
          </a:p>
          <a:p>
            <a:pPr algn="just"/>
            <a:endParaRPr lang="tr-TR" dirty="0">
              <a:latin typeface="Consolas" panose="020B0609020204030204" pitchFamily="49" charset="0"/>
            </a:endParaRPr>
          </a:p>
        </p:txBody>
      </p:sp>
      <p:sp>
        <p:nvSpPr>
          <p:cNvPr id="7" name="Metin kutusu 6">
            <a:extLst>
              <a:ext uri="{FF2B5EF4-FFF2-40B4-BE49-F238E27FC236}">
                <a16:creationId xmlns:a16="http://schemas.microsoft.com/office/drawing/2014/main" id="{9D675824-A82C-FA6E-D317-747D4EDD03D0}"/>
              </a:ext>
            </a:extLst>
          </p:cNvPr>
          <p:cNvSpPr txBox="1"/>
          <p:nvPr/>
        </p:nvSpPr>
        <p:spPr>
          <a:xfrm>
            <a:off x="1164347" y="4100023"/>
            <a:ext cx="10782674" cy="646331"/>
          </a:xfrm>
          <a:prstGeom prst="rect">
            <a:avLst/>
          </a:prstGeom>
          <a:noFill/>
        </p:spPr>
        <p:txBody>
          <a:bodyPr wrap="square">
            <a:spAutoFit/>
          </a:bodyPr>
          <a:lstStyle/>
          <a:p>
            <a:r>
              <a:rPr lang="tr-TR" dirty="0">
                <a:solidFill>
                  <a:srgbClr val="FF0000"/>
                </a:solidFill>
              </a:rPr>
              <a:t>Keşif fazı, </a:t>
            </a:r>
            <a:r>
              <a:rPr lang="tr-TR" dirty="0" err="1">
                <a:solidFill>
                  <a:srgbClr val="FF0000"/>
                </a:solidFill>
              </a:rPr>
              <a:t>metasezgisel</a:t>
            </a:r>
            <a:r>
              <a:rPr lang="tr-TR" dirty="0">
                <a:solidFill>
                  <a:srgbClr val="FF0000"/>
                </a:solidFill>
              </a:rPr>
              <a:t> algoritmaların başarısında kritik bir rol oynar çünkü çözüm uzayının geniş bir şekilde taranmasını sağlar ve yerel optimumların dışındaki daha iyi çözümler için fırsatlar yaratır.</a:t>
            </a:r>
          </a:p>
        </p:txBody>
      </p:sp>
    </p:spTree>
    <p:extLst>
      <p:ext uri="{BB962C8B-B14F-4D97-AF65-F5344CB8AC3E}">
        <p14:creationId xmlns:p14="http://schemas.microsoft.com/office/powerpoint/2010/main" val="1867915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9435E-7985-4370-E5CE-F1E1DE2E636F}"/>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CB1B1FEC-B353-4AF3-26DC-962A614FE00E}"/>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Sömürü (</a:t>
            </a:r>
            <a:r>
              <a:rPr lang="tr-TR" sz="3000" b="1" dirty="0" err="1">
                <a:latin typeface="Consolas" panose="020B0609020204030204" pitchFamily="49" charset="0"/>
              </a:rPr>
              <a:t>Explotiation</a:t>
            </a:r>
            <a:r>
              <a:rPr lang="tr-TR" sz="3000" b="1" dirty="0">
                <a:latin typeface="Consolas" panose="020B0609020204030204" pitchFamily="49" charset="0"/>
              </a:rPr>
              <a:t>) Fazı</a:t>
            </a:r>
          </a:p>
        </p:txBody>
      </p:sp>
      <p:pic>
        <p:nvPicPr>
          <p:cNvPr id="2" name="Picture 4" descr="Labirent arka plan">
            <a:extLst>
              <a:ext uri="{FF2B5EF4-FFF2-40B4-BE49-F238E27FC236}">
                <a16:creationId xmlns:a16="http://schemas.microsoft.com/office/drawing/2014/main" id="{7ECF4B23-829D-3655-02B1-D5A51004461D}"/>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60D03E70-98D8-9BB3-FA25-F0899008781D}"/>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0CE9F95E-ABFF-F89D-3E32-F149EA3F7AF1}"/>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BDCF20FC-0D44-286D-D2CB-C4D7AA8AAD8C}"/>
              </a:ext>
            </a:extLst>
          </p:cNvPr>
          <p:cNvSpPr txBox="1"/>
          <p:nvPr/>
        </p:nvSpPr>
        <p:spPr>
          <a:xfrm>
            <a:off x="1164349" y="884915"/>
            <a:ext cx="10913920" cy="5078313"/>
          </a:xfrm>
          <a:prstGeom prst="rect">
            <a:avLst/>
          </a:prstGeom>
          <a:noFill/>
        </p:spPr>
        <p:txBody>
          <a:bodyPr wrap="square">
            <a:spAutoFit/>
          </a:bodyPr>
          <a:lstStyle/>
          <a:p>
            <a:pPr algn="just"/>
            <a:r>
              <a:rPr lang="tr-TR" b="0" i="0" dirty="0">
                <a:solidFill>
                  <a:srgbClr val="242424"/>
                </a:solidFill>
                <a:effectLst/>
                <a:latin typeface="Consolas" panose="020B0609020204030204" pitchFamily="49" charset="0"/>
              </a:rPr>
              <a:t>Sömürü fazı, </a:t>
            </a:r>
            <a:r>
              <a:rPr lang="tr-TR" b="0" i="0" dirty="0" err="1">
                <a:solidFill>
                  <a:srgbClr val="242424"/>
                </a:solidFill>
                <a:effectLst/>
                <a:latin typeface="Consolas" panose="020B0609020204030204" pitchFamily="49" charset="0"/>
              </a:rPr>
              <a:t>metasezgisel</a:t>
            </a:r>
            <a:r>
              <a:rPr lang="tr-TR" b="0" i="0" dirty="0">
                <a:solidFill>
                  <a:srgbClr val="242424"/>
                </a:solidFill>
                <a:effectLst/>
                <a:latin typeface="Consolas" panose="020B0609020204030204" pitchFamily="49" charset="0"/>
              </a:rPr>
              <a:t> algoritmaların bir çözüm bulduktan sonra, bu çözümü iyileştirmeye çalıştığı aşamadır. </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Bu faz, algoritmanın çözüm uzayında "derinlemesine" bir arama yaparak, potansiyel olarak en iyi çözüme yakın yerel optimum çözümler aramaya odaklanır. </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Sömürü fazı, genellikle keşif fazından sonra gelir ve çözümün daha iyi hale getirilmesini hedefler.</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Sömürü fazı, algoritmanın daha önce keşfedilen çözümler üzerine odaklanarak, yerel optimumu bulma ve çözümü optimize etme sürecidir. </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Bu fazda, algoritma daha küçük ve kontrollü hareketler yaparak, çözümü iyileştirir. </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Genellikle daha dar bir çözüm uzayında, mevcut çözüme yakın bölgelerde araştırma yapılır.</a:t>
            </a:r>
          </a:p>
          <a:p>
            <a:pPr algn="just"/>
            <a:endParaRPr lang="tr-TR" dirty="0">
              <a:solidFill>
                <a:srgbClr val="242424"/>
              </a:solidFill>
              <a:latin typeface="Consolas" panose="020B0609020204030204" pitchFamily="49" charset="0"/>
            </a:endParaRPr>
          </a:p>
          <a:p>
            <a:pPr algn="just"/>
            <a:endParaRPr lang="tr-TR" dirty="0">
              <a:latin typeface="Consolas" panose="020B0609020204030204" pitchFamily="49" charset="0"/>
            </a:endParaRPr>
          </a:p>
        </p:txBody>
      </p:sp>
    </p:spTree>
    <p:extLst>
      <p:ext uri="{BB962C8B-B14F-4D97-AF65-F5344CB8AC3E}">
        <p14:creationId xmlns:p14="http://schemas.microsoft.com/office/powerpoint/2010/main" val="27606564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6D42D-7B07-BF27-1662-D2B10FA838C9}"/>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6AACE218-0F24-3005-3CBF-23D81981904F}"/>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Sömürü (</a:t>
            </a:r>
            <a:r>
              <a:rPr lang="tr-TR" sz="3000" b="1" dirty="0" err="1">
                <a:latin typeface="Consolas" panose="020B0609020204030204" pitchFamily="49" charset="0"/>
              </a:rPr>
              <a:t>Explotiation</a:t>
            </a:r>
            <a:r>
              <a:rPr lang="tr-TR" sz="3000" b="1" dirty="0">
                <a:latin typeface="Consolas" panose="020B0609020204030204" pitchFamily="49" charset="0"/>
              </a:rPr>
              <a:t>) Fazı</a:t>
            </a:r>
          </a:p>
        </p:txBody>
      </p:sp>
      <p:pic>
        <p:nvPicPr>
          <p:cNvPr id="2" name="Picture 4" descr="Labirent arka plan">
            <a:extLst>
              <a:ext uri="{FF2B5EF4-FFF2-40B4-BE49-F238E27FC236}">
                <a16:creationId xmlns:a16="http://schemas.microsoft.com/office/drawing/2014/main" id="{5AE5DE52-DB0F-710F-EF82-6745BED81D53}"/>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F4EB12A5-3E9A-BF69-FD25-4F440380EA37}"/>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4345CB6C-0AC2-5262-CB48-671DF97F0905}"/>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7DF56309-DDDD-C7CC-C858-FA4AFE849578}"/>
              </a:ext>
            </a:extLst>
          </p:cNvPr>
          <p:cNvSpPr txBox="1"/>
          <p:nvPr/>
        </p:nvSpPr>
        <p:spPr>
          <a:xfrm>
            <a:off x="1164349" y="884915"/>
            <a:ext cx="10913920" cy="4247317"/>
          </a:xfrm>
          <a:prstGeom prst="rect">
            <a:avLst/>
          </a:prstGeom>
          <a:noFill/>
        </p:spPr>
        <p:txBody>
          <a:bodyPr wrap="square">
            <a:spAutoFit/>
          </a:bodyPr>
          <a:lstStyle/>
          <a:p>
            <a:pPr algn="just"/>
            <a:r>
              <a:rPr lang="tr-TR" b="0" i="0" dirty="0">
                <a:solidFill>
                  <a:srgbClr val="242424"/>
                </a:solidFill>
                <a:effectLst/>
                <a:latin typeface="Consolas" panose="020B0609020204030204" pitchFamily="49" charset="0"/>
              </a:rPr>
              <a:t>Sömürü Fazının Temel Özellikleri:</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Yerel Optimuma Yönelik </a:t>
            </a:r>
            <a:r>
              <a:rPr lang="tr-TR" b="0" i="0" dirty="0" err="1">
                <a:solidFill>
                  <a:srgbClr val="242424"/>
                </a:solidFill>
                <a:effectLst/>
                <a:latin typeface="Consolas" panose="020B0609020204030204" pitchFamily="49" charset="0"/>
              </a:rPr>
              <a:t>Arama:Sömürü</a:t>
            </a:r>
            <a:r>
              <a:rPr lang="tr-TR" b="0" i="0" dirty="0">
                <a:solidFill>
                  <a:srgbClr val="242424"/>
                </a:solidFill>
                <a:effectLst/>
                <a:latin typeface="Consolas" panose="020B0609020204030204" pitchFamily="49" charset="0"/>
              </a:rPr>
              <a:t> fazının ana amacı, çözüm uzayında daha iyi bir çözüm bulmak için mevcut çözüm etrafında daha detaylı bir arama </a:t>
            </a:r>
            <a:r>
              <a:rPr lang="tr-TR" b="0" i="0" dirty="0" err="1">
                <a:solidFill>
                  <a:srgbClr val="242424"/>
                </a:solidFill>
                <a:effectLst/>
                <a:latin typeface="Consolas" panose="020B0609020204030204" pitchFamily="49" charset="0"/>
              </a:rPr>
              <a:t>yapmaktır.Bu</a:t>
            </a:r>
            <a:r>
              <a:rPr lang="tr-TR" b="0" i="0" dirty="0">
                <a:solidFill>
                  <a:srgbClr val="242424"/>
                </a:solidFill>
                <a:effectLst/>
                <a:latin typeface="Consolas" panose="020B0609020204030204" pitchFamily="49" charset="0"/>
              </a:rPr>
              <a:t> fazda, çözümler genellikle daha yüksek kalitede olur çünkü algoritma daha dar ve daha odaklı bir araştırma yapar.</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Küçük ve Kontrollü </a:t>
            </a:r>
            <a:r>
              <a:rPr lang="tr-TR" b="0" i="0" dirty="0" err="1">
                <a:solidFill>
                  <a:srgbClr val="242424"/>
                </a:solidFill>
                <a:effectLst/>
                <a:latin typeface="Consolas" panose="020B0609020204030204" pitchFamily="49" charset="0"/>
              </a:rPr>
              <a:t>Adımlar:Sömürü</a:t>
            </a:r>
            <a:r>
              <a:rPr lang="tr-TR" b="0" i="0" dirty="0">
                <a:solidFill>
                  <a:srgbClr val="242424"/>
                </a:solidFill>
                <a:effectLst/>
                <a:latin typeface="Consolas" panose="020B0609020204030204" pitchFamily="49" charset="0"/>
              </a:rPr>
              <a:t> fazında, çözüm uzayında küçük ve kontrollü adımlar atılır. Bu, çözümde küçük değişiklikler yaparak, mevcut çözümü daha iyi hale getirmeyi </a:t>
            </a:r>
            <a:r>
              <a:rPr lang="tr-TR" b="0" i="0" dirty="0" err="1">
                <a:solidFill>
                  <a:srgbClr val="242424"/>
                </a:solidFill>
                <a:effectLst/>
                <a:latin typeface="Consolas" panose="020B0609020204030204" pitchFamily="49" charset="0"/>
              </a:rPr>
              <a:t>amaçlar.Algoritma</a:t>
            </a:r>
            <a:r>
              <a:rPr lang="tr-TR" b="0" i="0" dirty="0">
                <a:solidFill>
                  <a:srgbClr val="242424"/>
                </a:solidFill>
                <a:effectLst/>
                <a:latin typeface="Consolas" panose="020B0609020204030204" pitchFamily="49" charset="0"/>
              </a:rPr>
              <a:t>, keşif fazındaki geniş hareketlerin aksine, çözümün etrafında daha sınırlı ve hassas bir arama yapar.</a:t>
            </a:r>
          </a:p>
          <a:p>
            <a:pPr algn="just"/>
            <a:endParaRPr lang="tr-TR" dirty="0">
              <a:solidFill>
                <a:srgbClr val="242424"/>
              </a:solidFill>
              <a:latin typeface="Consolas" panose="020B0609020204030204" pitchFamily="49" charset="0"/>
            </a:endParaRPr>
          </a:p>
          <a:p>
            <a:pPr algn="just"/>
            <a:r>
              <a:rPr lang="tr-TR" b="0" i="0" dirty="0" err="1">
                <a:solidFill>
                  <a:srgbClr val="242424"/>
                </a:solidFill>
                <a:effectLst/>
                <a:latin typeface="Consolas" panose="020B0609020204030204" pitchFamily="49" charset="0"/>
              </a:rPr>
              <a:t>İyileştirme:Bu</a:t>
            </a:r>
            <a:r>
              <a:rPr lang="tr-TR" b="0" i="0" dirty="0">
                <a:solidFill>
                  <a:srgbClr val="242424"/>
                </a:solidFill>
                <a:effectLst/>
                <a:latin typeface="Consolas" panose="020B0609020204030204" pitchFamily="49" charset="0"/>
              </a:rPr>
              <a:t> fazda, algoritma çözümün daha iyi bir hale gelmesi için küçük değişiklikler yapar. Çoğu zaman, mevcut çözümde iyileştirme sağlayan teknikler (örneğin, yerel arama, yeniden </a:t>
            </a:r>
            <a:r>
              <a:rPr lang="tr-TR" b="0" i="0" dirty="0" err="1">
                <a:solidFill>
                  <a:srgbClr val="242424"/>
                </a:solidFill>
                <a:effectLst/>
                <a:latin typeface="Consolas" panose="020B0609020204030204" pitchFamily="49" charset="0"/>
              </a:rPr>
              <a:t>parametrelendirme</a:t>
            </a:r>
            <a:r>
              <a:rPr lang="tr-TR" b="0" i="0" dirty="0">
                <a:solidFill>
                  <a:srgbClr val="242424"/>
                </a:solidFill>
                <a:effectLst/>
                <a:latin typeface="Consolas" panose="020B0609020204030204" pitchFamily="49" charset="0"/>
              </a:rPr>
              <a:t>) kullanılır.</a:t>
            </a:r>
            <a:endParaRPr lang="tr-TR" dirty="0">
              <a:latin typeface="Consolas" panose="020B0609020204030204" pitchFamily="49" charset="0"/>
            </a:endParaRPr>
          </a:p>
        </p:txBody>
      </p:sp>
    </p:spTree>
    <p:extLst>
      <p:ext uri="{BB962C8B-B14F-4D97-AF65-F5344CB8AC3E}">
        <p14:creationId xmlns:p14="http://schemas.microsoft.com/office/powerpoint/2010/main" val="1064044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B6E42-270D-E6A4-3C32-96D0E7D8004B}"/>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5427A297-AC14-3884-3F61-A24E90826DF7}"/>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Sömürü (</a:t>
            </a:r>
            <a:r>
              <a:rPr lang="tr-TR" sz="3000" b="1" dirty="0" err="1">
                <a:latin typeface="Consolas" panose="020B0609020204030204" pitchFamily="49" charset="0"/>
              </a:rPr>
              <a:t>Explotiation</a:t>
            </a:r>
            <a:r>
              <a:rPr lang="tr-TR" sz="3000" b="1" dirty="0">
                <a:latin typeface="Consolas" panose="020B0609020204030204" pitchFamily="49" charset="0"/>
              </a:rPr>
              <a:t>) Fazı</a:t>
            </a:r>
          </a:p>
        </p:txBody>
      </p:sp>
      <p:pic>
        <p:nvPicPr>
          <p:cNvPr id="2" name="Picture 4" descr="Labirent arka plan">
            <a:extLst>
              <a:ext uri="{FF2B5EF4-FFF2-40B4-BE49-F238E27FC236}">
                <a16:creationId xmlns:a16="http://schemas.microsoft.com/office/drawing/2014/main" id="{6F4CA245-DEC5-3DB9-C907-99D37961E299}"/>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FEB6BD00-A4F1-34C4-DA5B-AA4CBF8A7A2B}"/>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EE784C6B-5638-29EA-B583-BC0D1E832E31}"/>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EBF8B7D8-4983-EF63-69B1-E3F698A74446}"/>
              </a:ext>
            </a:extLst>
          </p:cNvPr>
          <p:cNvSpPr txBox="1"/>
          <p:nvPr/>
        </p:nvSpPr>
        <p:spPr>
          <a:xfrm>
            <a:off x="1164349" y="884915"/>
            <a:ext cx="10913920" cy="2862322"/>
          </a:xfrm>
          <a:prstGeom prst="rect">
            <a:avLst/>
          </a:prstGeom>
          <a:noFill/>
        </p:spPr>
        <p:txBody>
          <a:bodyPr wrap="square">
            <a:spAutoFit/>
          </a:bodyPr>
          <a:lstStyle/>
          <a:p>
            <a:pPr algn="just"/>
            <a:r>
              <a:rPr lang="tr-TR" b="0" i="0" dirty="0">
                <a:solidFill>
                  <a:srgbClr val="242424"/>
                </a:solidFill>
                <a:effectLst/>
                <a:latin typeface="Consolas" panose="020B0609020204030204" pitchFamily="49" charset="0"/>
              </a:rPr>
              <a:t>Daha Az </a:t>
            </a:r>
            <a:r>
              <a:rPr lang="tr-TR" b="0" i="0" dirty="0" err="1">
                <a:solidFill>
                  <a:srgbClr val="242424"/>
                </a:solidFill>
                <a:effectLst/>
                <a:latin typeface="Consolas" panose="020B0609020204030204" pitchFamily="49" charset="0"/>
              </a:rPr>
              <a:t>Rastgelelik:Keşif</a:t>
            </a:r>
            <a:r>
              <a:rPr lang="tr-TR" b="0" i="0" dirty="0">
                <a:solidFill>
                  <a:srgbClr val="242424"/>
                </a:solidFill>
                <a:effectLst/>
                <a:latin typeface="Consolas" panose="020B0609020204030204" pitchFamily="49" charset="0"/>
              </a:rPr>
              <a:t> fazındaki rastgelelikten farklı olarak, sömürü fazında rastgelelik daha azdır. Algoritma, daha önceki çözümlere odaklanarak, daha kontrollü bir şekilde çözüm uzayında hareket </a:t>
            </a:r>
            <a:r>
              <a:rPr lang="tr-TR" b="0" i="0" dirty="0" err="1">
                <a:solidFill>
                  <a:srgbClr val="242424"/>
                </a:solidFill>
                <a:effectLst/>
                <a:latin typeface="Consolas" panose="020B0609020204030204" pitchFamily="49" charset="0"/>
              </a:rPr>
              <a:t>eder.Bu</a:t>
            </a:r>
            <a:r>
              <a:rPr lang="tr-TR" b="0" i="0" dirty="0">
                <a:solidFill>
                  <a:srgbClr val="242424"/>
                </a:solidFill>
                <a:effectLst/>
                <a:latin typeface="Consolas" panose="020B0609020204030204" pitchFamily="49" charset="0"/>
              </a:rPr>
              <a:t> fazda çözüm, önceki keşiflerden öğrendikleriyle optimize edilir.</a:t>
            </a:r>
          </a:p>
          <a:p>
            <a:pPr algn="just"/>
            <a:endParaRPr lang="tr-TR" dirty="0">
              <a:solidFill>
                <a:srgbClr val="242424"/>
              </a:solidFill>
              <a:latin typeface="Consolas" panose="020B0609020204030204" pitchFamily="49" charset="0"/>
            </a:endParaRPr>
          </a:p>
          <a:p>
            <a:pPr algn="just"/>
            <a:endParaRPr lang="tr-TR" b="0" i="0" dirty="0">
              <a:solidFill>
                <a:srgbClr val="242424"/>
              </a:solidFill>
              <a:effectLst/>
              <a:latin typeface="Consolas" panose="020B0609020204030204" pitchFamily="49" charset="0"/>
            </a:endParaRPr>
          </a:p>
          <a:p>
            <a:pPr algn="just"/>
            <a:r>
              <a:rPr lang="tr-TR" b="0" i="0" dirty="0">
                <a:solidFill>
                  <a:srgbClr val="242424"/>
                </a:solidFill>
                <a:effectLst/>
                <a:latin typeface="Consolas" panose="020B0609020204030204" pitchFamily="49" charset="0"/>
              </a:rPr>
              <a:t>Yerel Optimuma </a:t>
            </a:r>
            <a:r>
              <a:rPr lang="tr-TR" b="0" i="0" dirty="0" err="1">
                <a:solidFill>
                  <a:srgbClr val="242424"/>
                </a:solidFill>
                <a:effectLst/>
                <a:latin typeface="Consolas" panose="020B0609020204030204" pitchFamily="49" charset="0"/>
              </a:rPr>
              <a:t>Yaklaşma:Sömürü</a:t>
            </a:r>
            <a:r>
              <a:rPr lang="tr-TR" b="0" i="0" dirty="0">
                <a:solidFill>
                  <a:srgbClr val="242424"/>
                </a:solidFill>
                <a:effectLst/>
                <a:latin typeface="Consolas" panose="020B0609020204030204" pitchFamily="49" charset="0"/>
              </a:rPr>
              <a:t> fazının sonunda algoritmalar, çözüm uzayındaki yerel optimumlara yaklaşır. Ancak bu, her zaman global optimumu bulmak anlamına gelmez. Yerel optimuma ulaşmak, çözümün kalitesini artırır ama global optimumu bulma ihtimali düşük olabilir.</a:t>
            </a:r>
            <a:endParaRPr lang="tr-TR" dirty="0">
              <a:latin typeface="Consolas" panose="020B0609020204030204" pitchFamily="49" charset="0"/>
            </a:endParaRPr>
          </a:p>
        </p:txBody>
      </p:sp>
      <p:pic>
        <p:nvPicPr>
          <p:cNvPr id="3074" name="Picture 2" descr="The Battle of Exploration and Exploitation Mindset...">
            <a:extLst>
              <a:ext uri="{FF2B5EF4-FFF2-40B4-BE49-F238E27FC236}">
                <a16:creationId xmlns:a16="http://schemas.microsoft.com/office/drawing/2014/main" id="{EA59F93D-86C6-E055-09E7-14E836A89E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762" r="50000"/>
          <a:stretch/>
        </p:blipFill>
        <p:spPr bwMode="auto">
          <a:xfrm>
            <a:off x="2950128" y="3747237"/>
            <a:ext cx="3038475" cy="26868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2759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8266F-FC4E-0D18-6307-EB44F8970A77}"/>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58BDCBD7-6A22-32C6-2066-EFA100D7C77F}"/>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Sömürü (</a:t>
            </a:r>
            <a:r>
              <a:rPr lang="tr-TR" sz="3000" b="1" dirty="0" err="1">
                <a:latin typeface="Consolas" panose="020B0609020204030204" pitchFamily="49" charset="0"/>
              </a:rPr>
              <a:t>Explotiation</a:t>
            </a:r>
            <a:r>
              <a:rPr lang="tr-TR" sz="3000" b="1" dirty="0">
                <a:latin typeface="Consolas" panose="020B0609020204030204" pitchFamily="49" charset="0"/>
              </a:rPr>
              <a:t>) Fazı</a:t>
            </a:r>
          </a:p>
        </p:txBody>
      </p:sp>
      <p:pic>
        <p:nvPicPr>
          <p:cNvPr id="2" name="Picture 4" descr="Labirent arka plan">
            <a:extLst>
              <a:ext uri="{FF2B5EF4-FFF2-40B4-BE49-F238E27FC236}">
                <a16:creationId xmlns:a16="http://schemas.microsoft.com/office/drawing/2014/main" id="{066ECBC8-A223-8882-507E-8DA31ADBDF01}"/>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2340A712-BE9E-4D85-E25D-837939B0AEC6}"/>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6C7EFB0A-CB06-45B1-D8DB-5B588568B426}"/>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AF9C8DB0-7EB6-8A16-0E12-000242F17A55}"/>
              </a:ext>
            </a:extLst>
          </p:cNvPr>
          <p:cNvSpPr txBox="1"/>
          <p:nvPr/>
        </p:nvSpPr>
        <p:spPr>
          <a:xfrm>
            <a:off x="1164349" y="884915"/>
            <a:ext cx="10913920" cy="5909310"/>
          </a:xfrm>
          <a:prstGeom prst="rect">
            <a:avLst/>
          </a:prstGeom>
          <a:noFill/>
        </p:spPr>
        <p:txBody>
          <a:bodyPr wrap="square">
            <a:spAutoFit/>
          </a:bodyPr>
          <a:lstStyle/>
          <a:p>
            <a:pPr algn="just"/>
            <a:r>
              <a:rPr lang="tr-TR" b="0" i="0" dirty="0">
                <a:solidFill>
                  <a:srgbClr val="242424"/>
                </a:solidFill>
                <a:effectLst/>
                <a:latin typeface="Consolas" panose="020B0609020204030204" pitchFamily="49" charset="0"/>
              </a:rPr>
              <a:t>Sömürü Fazındaki Yöntemler:</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Sömürü fazında kullanılan yöntemler, algoritmanın genel yapısına ve operatörlerine göre değişir. </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Seçim ve Elitizm (Genetik Algoritmalar):Genetik algoritmalarda, elitizm ve seçim operatörleri, daha iyi bireylerin korunmasını sağlar. Bu sayede, en iyi çözümler yerel optimumlarda daha fazla </a:t>
            </a:r>
            <a:r>
              <a:rPr lang="tr-TR" b="0" i="0" dirty="0" err="1">
                <a:solidFill>
                  <a:srgbClr val="242424"/>
                </a:solidFill>
                <a:effectLst/>
                <a:latin typeface="Consolas" panose="020B0609020204030204" pitchFamily="49" charset="0"/>
              </a:rPr>
              <a:t>odaklanır.Seçim</a:t>
            </a:r>
            <a:r>
              <a:rPr lang="tr-TR" b="0" i="0" dirty="0">
                <a:solidFill>
                  <a:srgbClr val="242424"/>
                </a:solidFill>
                <a:effectLst/>
                <a:latin typeface="Consolas" panose="020B0609020204030204" pitchFamily="49" charset="0"/>
              </a:rPr>
              <a:t> işlemi, daha iyi bireylerin hayatta kalmasını sağlarken, elitizm de mevcut popülasyondaki en iyi çözümü bir sonraki </a:t>
            </a:r>
            <a:r>
              <a:rPr lang="tr-TR" b="0" i="0" dirty="0" err="1">
                <a:solidFill>
                  <a:srgbClr val="242424"/>
                </a:solidFill>
                <a:effectLst/>
                <a:latin typeface="Consolas" panose="020B0609020204030204" pitchFamily="49" charset="0"/>
              </a:rPr>
              <a:t>nesile</a:t>
            </a:r>
            <a:r>
              <a:rPr lang="tr-TR" b="0" i="0" dirty="0">
                <a:solidFill>
                  <a:srgbClr val="242424"/>
                </a:solidFill>
                <a:effectLst/>
                <a:latin typeface="Consolas" panose="020B0609020204030204" pitchFamily="49" charset="0"/>
              </a:rPr>
              <a:t> aktarır.</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Düşük Sıcaklıkta Yavaş Hareket (Simüle Tavlama):Simüle Tavlama algoritmasında, sıcaklık düştükçe, çözümdeki hareketler daha küçük ve kontrollü hale gelir. Düşük sıcaklık, yerel optimumlara odaklanmayı </a:t>
            </a:r>
            <a:r>
              <a:rPr lang="tr-TR" b="0" i="0" dirty="0" err="1">
                <a:solidFill>
                  <a:srgbClr val="242424"/>
                </a:solidFill>
                <a:effectLst/>
                <a:latin typeface="Consolas" panose="020B0609020204030204" pitchFamily="49" charset="0"/>
              </a:rPr>
              <a:t>sağlar.Bu</a:t>
            </a:r>
            <a:r>
              <a:rPr lang="tr-TR" b="0" i="0" dirty="0">
                <a:solidFill>
                  <a:srgbClr val="242424"/>
                </a:solidFill>
                <a:effectLst/>
                <a:latin typeface="Consolas" panose="020B0609020204030204" pitchFamily="49" charset="0"/>
              </a:rPr>
              <a:t> fazda, algoritma genellikle daha küçük değişiklikler yaparak çözümü optimize eder.</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Yerel Arama (PSO ve Karınca Kolonisi Optimizasyonu):Parçacık Sürü Optimizasyonu (PSO) algoritmasında, parçacıklar, kendi ve sürülerinin en iyi çözümlerine odaklanarak daha iyi çözümler ararlar. Bu süreç, parçacıkların konumlarını daraltarak mevcut çözümü </a:t>
            </a:r>
            <a:r>
              <a:rPr lang="tr-TR" b="0" i="0" dirty="0" err="1">
                <a:solidFill>
                  <a:srgbClr val="242424"/>
                </a:solidFill>
                <a:effectLst/>
                <a:latin typeface="Consolas" panose="020B0609020204030204" pitchFamily="49" charset="0"/>
              </a:rPr>
              <a:t>iyileştirir.Karınca</a:t>
            </a:r>
            <a:r>
              <a:rPr lang="tr-TR" b="0" i="0" dirty="0">
                <a:solidFill>
                  <a:srgbClr val="242424"/>
                </a:solidFill>
                <a:effectLst/>
                <a:latin typeface="Consolas" panose="020B0609020204030204" pitchFamily="49" charset="0"/>
              </a:rPr>
              <a:t> Kolonisi Optimizasyonunda, karıncalar feromon izleri takip ederek daha iyi çözümler bulur ve mevcut yolları iyileştirir.</a:t>
            </a:r>
            <a:endParaRPr lang="tr-TR" dirty="0">
              <a:latin typeface="Consolas" panose="020B0609020204030204" pitchFamily="49" charset="0"/>
            </a:endParaRPr>
          </a:p>
        </p:txBody>
      </p:sp>
    </p:spTree>
    <p:extLst>
      <p:ext uri="{BB962C8B-B14F-4D97-AF65-F5344CB8AC3E}">
        <p14:creationId xmlns:p14="http://schemas.microsoft.com/office/powerpoint/2010/main" val="9010605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912AC-D9A7-0545-D244-0E748D3EBEC4}"/>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4DFE3310-7C01-8D22-2E69-6DF803B5E459}"/>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Sömürü (</a:t>
            </a:r>
            <a:r>
              <a:rPr lang="tr-TR" sz="3000" b="1" dirty="0" err="1">
                <a:latin typeface="Consolas" panose="020B0609020204030204" pitchFamily="49" charset="0"/>
              </a:rPr>
              <a:t>Explotiation</a:t>
            </a:r>
            <a:r>
              <a:rPr lang="tr-TR" sz="3000" b="1" dirty="0">
                <a:latin typeface="Consolas" panose="020B0609020204030204" pitchFamily="49" charset="0"/>
              </a:rPr>
              <a:t>) Fazı</a:t>
            </a:r>
          </a:p>
        </p:txBody>
      </p:sp>
      <p:pic>
        <p:nvPicPr>
          <p:cNvPr id="2" name="Picture 4" descr="Labirent arka plan">
            <a:extLst>
              <a:ext uri="{FF2B5EF4-FFF2-40B4-BE49-F238E27FC236}">
                <a16:creationId xmlns:a16="http://schemas.microsoft.com/office/drawing/2014/main" id="{484F5091-BD98-5B47-D621-84458833DE72}"/>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2F27FA65-F577-C1AE-267C-4E428EDAA5D0}"/>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B3E1508C-72F8-4AA9-A2A5-E598F8F5F07F}"/>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E79B9872-8559-3495-EE82-B175C9866832}"/>
              </a:ext>
            </a:extLst>
          </p:cNvPr>
          <p:cNvSpPr txBox="1"/>
          <p:nvPr/>
        </p:nvSpPr>
        <p:spPr>
          <a:xfrm>
            <a:off x="1164349" y="884915"/>
            <a:ext cx="10913920" cy="3970318"/>
          </a:xfrm>
          <a:prstGeom prst="rect">
            <a:avLst/>
          </a:prstGeom>
          <a:noFill/>
        </p:spPr>
        <p:txBody>
          <a:bodyPr wrap="square">
            <a:spAutoFit/>
          </a:bodyPr>
          <a:lstStyle/>
          <a:p>
            <a:pPr algn="just"/>
            <a:r>
              <a:rPr lang="tr-TR" b="0" i="0" dirty="0" err="1">
                <a:solidFill>
                  <a:srgbClr val="242424"/>
                </a:solidFill>
                <a:effectLst/>
                <a:latin typeface="Consolas" panose="020B0609020204030204" pitchFamily="49" charset="0"/>
              </a:rPr>
              <a:t>Pheromone</a:t>
            </a:r>
            <a:r>
              <a:rPr lang="tr-TR" b="0" i="0" dirty="0">
                <a:solidFill>
                  <a:srgbClr val="242424"/>
                </a:solidFill>
                <a:effectLst/>
                <a:latin typeface="Consolas" panose="020B0609020204030204" pitchFamily="49" charset="0"/>
              </a:rPr>
              <a:t> Güncelleme (ACO):Karınca Kolonisi Algoritmasında, çözüm uzayındaki en iyi yollar, feromon izleriyle güçlendirilir. Bu güncellenmiş feromonlar, karıncaları yerel optimum çözümler aramaya </a:t>
            </a:r>
            <a:r>
              <a:rPr lang="tr-TR" b="0" i="0" dirty="0" err="1">
                <a:solidFill>
                  <a:srgbClr val="242424"/>
                </a:solidFill>
                <a:effectLst/>
                <a:latin typeface="Consolas" panose="020B0609020204030204" pitchFamily="49" charset="0"/>
              </a:rPr>
              <a:t>yönlendirir.Feromon</a:t>
            </a:r>
            <a:r>
              <a:rPr lang="tr-TR" b="0" i="0" dirty="0">
                <a:solidFill>
                  <a:srgbClr val="242424"/>
                </a:solidFill>
                <a:effectLst/>
                <a:latin typeface="Consolas" panose="020B0609020204030204" pitchFamily="49" charset="0"/>
              </a:rPr>
              <a:t> izleri, daha iyi çözümler bulunduğunda daha yoğun hale gelir ve karıncalar bu yolları tercih ederek daha iyi çözüme yaklaşır.</a:t>
            </a:r>
          </a:p>
          <a:p>
            <a:pPr algn="just"/>
            <a:endParaRPr lang="tr-TR" dirty="0">
              <a:solidFill>
                <a:srgbClr val="242424"/>
              </a:solidFill>
              <a:latin typeface="Consolas" panose="020B0609020204030204" pitchFamily="49" charset="0"/>
            </a:endParaRPr>
          </a:p>
          <a:p>
            <a:pPr algn="just"/>
            <a:r>
              <a:rPr lang="tr-TR" b="0" i="0" dirty="0">
                <a:solidFill>
                  <a:srgbClr val="242424"/>
                </a:solidFill>
                <a:effectLst/>
                <a:latin typeface="Consolas" panose="020B0609020204030204" pitchFamily="49" charset="0"/>
              </a:rPr>
              <a:t>Bölgesel Araştırma (</a:t>
            </a:r>
            <a:r>
              <a:rPr lang="tr-TR" b="0" i="0" dirty="0" err="1">
                <a:solidFill>
                  <a:srgbClr val="242424"/>
                </a:solidFill>
                <a:effectLst/>
                <a:latin typeface="Consolas" panose="020B0609020204030204" pitchFamily="49" charset="0"/>
              </a:rPr>
              <a:t>Differential</a:t>
            </a:r>
            <a:r>
              <a:rPr lang="tr-TR" b="0" i="0" dirty="0">
                <a:solidFill>
                  <a:srgbClr val="242424"/>
                </a:solidFill>
                <a:effectLst/>
                <a:latin typeface="Consolas" panose="020B0609020204030204" pitchFamily="49" charset="0"/>
              </a:rPr>
              <a:t> </a:t>
            </a:r>
            <a:r>
              <a:rPr lang="tr-TR" b="0" i="0" dirty="0" err="1">
                <a:solidFill>
                  <a:srgbClr val="242424"/>
                </a:solidFill>
                <a:effectLst/>
                <a:latin typeface="Consolas" panose="020B0609020204030204" pitchFamily="49" charset="0"/>
              </a:rPr>
              <a:t>Evolution</a:t>
            </a:r>
            <a:r>
              <a:rPr lang="tr-TR" b="0" i="0" dirty="0">
                <a:solidFill>
                  <a:srgbClr val="242424"/>
                </a:solidFill>
                <a:effectLst/>
                <a:latin typeface="Consolas" panose="020B0609020204030204" pitchFamily="49" charset="0"/>
              </a:rPr>
              <a:t>):</a:t>
            </a:r>
            <a:r>
              <a:rPr lang="tr-TR" b="0" i="0" dirty="0" err="1">
                <a:solidFill>
                  <a:srgbClr val="242424"/>
                </a:solidFill>
                <a:effectLst/>
                <a:latin typeface="Consolas" panose="020B0609020204030204" pitchFamily="49" charset="0"/>
              </a:rPr>
              <a:t>Differential</a:t>
            </a:r>
            <a:r>
              <a:rPr lang="tr-TR" b="0" i="0" dirty="0">
                <a:solidFill>
                  <a:srgbClr val="242424"/>
                </a:solidFill>
                <a:effectLst/>
                <a:latin typeface="Consolas" panose="020B0609020204030204" pitchFamily="49" charset="0"/>
              </a:rPr>
              <a:t> </a:t>
            </a:r>
            <a:r>
              <a:rPr lang="tr-TR" b="0" i="0" dirty="0" err="1">
                <a:solidFill>
                  <a:srgbClr val="242424"/>
                </a:solidFill>
                <a:effectLst/>
                <a:latin typeface="Consolas" panose="020B0609020204030204" pitchFamily="49" charset="0"/>
              </a:rPr>
              <a:t>Evolution</a:t>
            </a:r>
            <a:r>
              <a:rPr lang="tr-TR" b="0" i="0" dirty="0">
                <a:solidFill>
                  <a:srgbClr val="242424"/>
                </a:solidFill>
                <a:effectLst/>
                <a:latin typeface="Consolas" panose="020B0609020204030204" pitchFamily="49" charset="0"/>
              </a:rPr>
              <a:t> (DE) algoritmasında, mevcut çözüm etrafında daha küçük adımlarla hareket edilir. Bu sayede, çözümde iyileştirmeler sağlanır.DE, farkları kullanarak mevcut çözümü iyileştirirken, daha küçük ve dar bir alanda araştırma </a:t>
            </a:r>
            <a:r>
              <a:rPr lang="tr-TR" b="0" i="0" dirty="0" err="1">
                <a:solidFill>
                  <a:srgbClr val="242424"/>
                </a:solidFill>
                <a:effectLst/>
                <a:latin typeface="Consolas" panose="020B0609020204030204" pitchFamily="49" charset="0"/>
              </a:rPr>
              <a:t>yapar.Yeniden</a:t>
            </a:r>
            <a:r>
              <a:rPr lang="tr-TR" b="0" i="0" dirty="0">
                <a:solidFill>
                  <a:srgbClr val="242424"/>
                </a:solidFill>
                <a:effectLst/>
                <a:latin typeface="Consolas" panose="020B0609020204030204" pitchFamily="49" charset="0"/>
              </a:rPr>
              <a:t> </a:t>
            </a:r>
          </a:p>
          <a:p>
            <a:pPr algn="just"/>
            <a:endParaRPr lang="tr-TR" dirty="0">
              <a:solidFill>
                <a:srgbClr val="242424"/>
              </a:solidFill>
              <a:latin typeface="Consolas" panose="020B0609020204030204" pitchFamily="49" charset="0"/>
            </a:endParaRPr>
          </a:p>
          <a:p>
            <a:pPr algn="just"/>
            <a:r>
              <a:rPr lang="tr-TR" b="0" i="0" dirty="0" err="1">
                <a:solidFill>
                  <a:srgbClr val="242424"/>
                </a:solidFill>
                <a:effectLst/>
                <a:latin typeface="Consolas" panose="020B0609020204030204" pitchFamily="49" charset="0"/>
              </a:rPr>
              <a:t>Parametrelendirme</a:t>
            </a:r>
            <a:r>
              <a:rPr lang="tr-TR" b="0" i="0" dirty="0">
                <a:solidFill>
                  <a:srgbClr val="242424"/>
                </a:solidFill>
                <a:effectLst/>
                <a:latin typeface="Consolas" panose="020B0609020204030204" pitchFamily="49" charset="0"/>
              </a:rPr>
              <a:t> (</a:t>
            </a:r>
            <a:r>
              <a:rPr lang="tr-TR" b="0" i="0" dirty="0" err="1">
                <a:solidFill>
                  <a:srgbClr val="242424"/>
                </a:solidFill>
                <a:effectLst/>
                <a:latin typeface="Consolas" panose="020B0609020204030204" pitchFamily="49" charset="0"/>
              </a:rPr>
              <a:t>Cuckoo</a:t>
            </a:r>
            <a:r>
              <a:rPr lang="tr-TR" b="0" i="0" dirty="0">
                <a:solidFill>
                  <a:srgbClr val="242424"/>
                </a:solidFill>
                <a:effectLst/>
                <a:latin typeface="Consolas" panose="020B0609020204030204" pitchFamily="49" charset="0"/>
              </a:rPr>
              <a:t> </a:t>
            </a:r>
            <a:r>
              <a:rPr lang="tr-TR" b="0" i="0" dirty="0" err="1">
                <a:solidFill>
                  <a:srgbClr val="242424"/>
                </a:solidFill>
                <a:effectLst/>
                <a:latin typeface="Consolas" panose="020B0609020204030204" pitchFamily="49" charset="0"/>
              </a:rPr>
              <a:t>Search</a:t>
            </a:r>
            <a:r>
              <a:rPr lang="tr-TR" b="0" i="0" dirty="0">
                <a:solidFill>
                  <a:srgbClr val="242424"/>
                </a:solidFill>
                <a:effectLst/>
                <a:latin typeface="Consolas" panose="020B0609020204030204" pitchFamily="49" charset="0"/>
              </a:rPr>
              <a:t>):</a:t>
            </a:r>
            <a:r>
              <a:rPr lang="tr-TR" b="0" i="0" dirty="0" err="1">
                <a:solidFill>
                  <a:srgbClr val="242424"/>
                </a:solidFill>
                <a:effectLst/>
                <a:latin typeface="Consolas" panose="020B0609020204030204" pitchFamily="49" charset="0"/>
              </a:rPr>
              <a:t>Cuckoo</a:t>
            </a:r>
            <a:r>
              <a:rPr lang="tr-TR" b="0" i="0" dirty="0">
                <a:solidFill>
                  <a:srgbClr val="242424"/>
                </a:solidFill>
                <a:effectLst/>
                <a:latin typeface="Consolas" panose="020B0609020204030204" pitchFamily="49" charset="0"/>
              </a:rPr>
              <a:t> </a:t>
            </a:r>
            <a:r>
              <a:rPr lang="tr-TR" b="0" i="0" dirty="0" err="1">
                <a:solidFill>
                  <a:srgbClr val="242424"/>
                </a:solidFill>
                <a:effectLst/>
                <a:latin typeface="Consolas" panose="020B0609020204030204" pitchFamily="49" charset="0"/>
              </a:rPr>
              <a:t>Search</a:t>
            </a:r>
            <a:r>
              <a:rPr lang="tr-TR" b="0" i="0" dirty="0">
                <a:solidFill>
                  <a:srgbClr val="242424"/>
                </a:solidFill>
                <a:effectLst/>
                <a:latin typeface="Consolas" panose="020B0609020204030204" pitchFamily="49" charset="0"/>
              </a:rPr>
              <a:t> algoritmasında, çözümün parametreleri üzerinde küçük iyileştirmeler yapılır. Bu, çözümün daha iyi hale gelmesi için gerçekleştirilen bir yerel optimizasyon stratejisidir.</a:t>
            </a:r>
            <a:endParaRPr lang="tr-TR" dirty="0">
              <a:latin typeface="Consolas" panose="020B0609020204030204" pitchFamily="49" charset="0"/>
            </a:endParaRPr>
          </a:p>
        </p:txBody>
      </p:sp>
    </p:spTree>
    <p:extLst>
      <p:ext uri="{BB962C8B-B14F-4D97-AF65-F5344CB8AC3E}">
        <p14:creationId xmlns:p14="http://schemas.microsoft.com/office/powerpoint/2010/main" val="1588504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B4433-060D-5F99-B5DD-C826E25A0B89}"/>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AA53E139-0255-8E3B-2B50-423CE6A96CD1}"/>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Sömürü (</a:t>
            </a:r>
            <a:r>
              <a:rPr lang="tr-TR" sz="3000" b="1" dirty="0" err="1">
                <a:latin typeface="Consolas" panose="020B0609020204030204" pitchFamily="49" charset="0"/>
              </a:rPr>
              <a:t>Explotiation</a:t>
            </a:r>
            <a:r>
              <a:rPr lang="tr-TR" sz="3000" b="1" dirty="0">
                <a:latin typeface="Consolas" panose="020B0609020204030204" pitchFamily="49" charset="0"/>
              </a:rPr>
              <a:t>) Fazı</a:t>
            </a:r>
          </a:p>
        </p:txBody>
      </p:sp>
      <p:pic>
        <p:nvPicPr>
          <p:cNvPr id="2" name="Picture 4" descr="Labirent arka plan">
            <a:extLst>
              <a:ext uri="{FF2B5EF4-FFF2-40B4-BE49-F238E27FC236}">
                <a16:creationId xmlns:a16="http://schemas.microsoft.com/office/drawing/2014/main" id="{0A8659AF-957E-A855-14EB-C685799E4A62}"/>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458EFA81-C236-AE04-D7AD-2F4BE755F25F}"/>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A51E8EF7-0F81-EA17-86C9-707A4304A94A}"/>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382D14B9-B39A-7348-3975-54CF867C67CA}"/>
              </a:ext>
            </a:extLst>
          </p:cNvPr>
          <p:cNvSpPr txBox="1"/>
          <p:nvPr/>
        </p:nvSpPr>
        <p:spPr>
          <a:xfrm>
            <a:off x="1164349" y="884915"/>
            <a:ext cx="10913920" cy="4770537"/>
          </a:xfrm>
          <a:prstGeom prst="rect">
            <a:avLst/>
          </a:prstGeom>
          <a:noFill/>
        </p:spPr>
        <p:txBody>
          <a:bodyPr wrap="square">
            <a:spAutoFit/>
          </a:bodyPr>
          <a:lstStyle/>
          <a:p>
            <a:pPr algn="just"/>
            <a:r>
              <a:rPr lang="tr-TR" sz="1600" b="0" i="0" dirty="0">
                <a:solidFill>
                  <a:srgbClr val="242424"/>
                </a:solidFill>
                <a:effectLst/>
                <a:latin typeface="Consolas" panose="020B0609020204030204" pitchFamily="49" charset="0"/>
              </a:rPr>
              <a:t>Sömürü Fazının Algoritma Bazında Uygulaması:</a:t>
            </a:r>
          </a:p>
          <a:p>
            <a:pPr algn="just"/>
            <a:endParaRPr lang="tr-TR" sz="1600" dirty="0">
              <a:solidFill>
                <a:srgbClr val="242424"/>
              </a:solidFill>
              <a:latin typeface="Consolas" panose="020B0609020204030204" pitchFamily="49" charset="0"/>
            </a:endParaRPr>
          </a:p>
          <a:p>
            <a:pPr algn="just"/>
            <a:r>
              <a:rPr lang="tr-TR" sz="1600" b="0" i="0" dirty="0">
                <a:solidFill>
                  <a:srgbClr val="242424"/>
                </a:solidFill>
                <a:effectLst/>
                <a:latin typeface="Consolas" panose="020B0609020204030204" pitchFamily="49" charset="0"/>
              </a:rPr>
              <a:t>Genetik Algoritmalarda </a:t>
            </a:r>
            <a:r>
              <a:rPr lang="tr-TR" sz="1600" b="0" i="0" dirty="0" err="1">
                <a:solidFill>
                  <a:srgbClr val="242424"/>
                </a:solidFill>
                <a:effectLst/>
                <a:latin typeface="Consolas" panose="020B0609020204030204" pitchFamily="49" charset="0"/>
              </a:rPr>
              <a:t>Sömürü:Sömürü</a:t>
            </a:r>
            <a:r>
              <a:rPr lang="tr-TR" sz="1600" b="0" i="0" dirty="0">
                <a:solidFill>
                  <a:srgbClr val="242424"/>
                </a:solidFill>
                <a:effectLst/>
                <a:latin typeface="Consolas" panose="020B0609020204030204" pitchFamily="49" charset="0"/>
              </a:rPr>
              <a:t> fazı, elitizm ve seçim ile başlar. Bu, mevcut popülasyondan en iyi çözümleri seçerek bir sonraki </a:t>
            </a:r>
            <a:r>
              <a:rPr lang="tr-TR" sz="1600" b="0" i="0" dirty="0" err="1">
                <a:solidFill>
                  <a:srgbClr val="242424"/>
                </a:solidFill>
                <a:effectLst/>
                <a:latin typeface="Consolas" panose="020B0609020204030204" pitchFamily="49" charset="0"/>
              </a:rPr>
              <a:t>nesile</a:t>
            </a:r>
            <a:r>
              <a:rPr lang="tr-TR" sz="1600" b="0" i="0" dirty="0">
                <a:solidFill>
                  <a:srgbClr val="242424"/>
                </a:solidFill>
                <a:effectLst/>
                <a:latin typeface="Consolas" panose="020B0609020204030204" pitchFamily="49" charset="0"/>
              </a:rPr>
              <a:t> aktarılmasını sağlar. Daha sonra, çaprazlama ve mutasyon ile bu çözümler daha da </a:t>
            </a:r>
            <a:r>
              <a:rPr lang="tr-TR" sz="1600" b="0" i="0" dirty="0" err="1">
                <a:solidFill>
                  <a:srgbClr val="242424"/>
                </a:solidFill>
                <a:effectLst/>
                <a:latin typeface="Consolas" panose="020B0609020204030204" pitchFamily="49" charset="0"/>
              </a:rPr>
              <a:t>iyileştirilir.Çaprazlama</a:t>
            </a:r>
            <a:r>
              <a:rPr lang="tr-TR" sz="1600" b="0" i="0" dirty="0">
                <a:solidFill>
                  <a:srgbClr val="242424"/>
                </a:solidFill>
                <a:effectLst/>
                <a:latin typeface="Consolas" panose="020B0609020204030204" pitchFamily="49" charset="0"/>
              </a:rPr>
              <a:t>, mevcut çözümleri birleştirerek daha iyi bir çözüm yaratırken, mutasyon küçük değişiklikler yaparak çözümde iyileştirme sağlar.</a:t>
            </a:r>
          </a:p>
          <a:p>
            <a:pPr algn="just"/>
            <a:endParaRPr lang="tr-TR" sz="1600" dirty="0">
              <a:solidFill>
                <a:srgbClr val="242424"/>
              </a:solidFill>
              <a:latin typeface="Consolas" panose="020B0609020204030204" pitchFamily="49" charset="0"/>
            </a:endParaRPr>
          </a:p>
          <a:p>
            <a:pPr algn="just"/>
            <a:r>
              <a:rPr lang="tr-TR" sz="1600" b="0" i="0" dirty="0">
                <a:solidFill>
                  <a:srgbClr val="242424"/>
                </a:solidFill>
                <a:effectLst/>
                <a:latin typeface="Consolas" panose="020B0609020204030204" pitchFamily="49" charset="0"/>
              </a:rPr>
              <a:t>Simüle Tavlama (SA) Algoritmasında </a:t>
            </a:r>
            <a:r>
              <a:rPr lang="tr-TR" sz="1600" b="0" i="0" dirty="0" err="1">
                <a:solidFill>
                  <a:srgbClr val="242424"/>
                </a:solidFill>
                <a:effectLst/>
                <a:latin typeface="Consolas" panose="020B0609020204030204" pitchFamily="49" charset="0"/>
              </a:rPr>
              <a:t>Sömürü:Simüle</a:t>
            </a:r>
            <a:r>
              <a:rPr lang="tr-TR" sz="1600" b="0" i="0" dirty="0">
                <a:solidFill>
                  <a:srgbClr val="242424"/>
                </a:solidFill>
                <a:effectLst/>
                <a:latin typeface="Consolas" panose="020B0609020204030204" pitchFamily="49" charset="0"/>
              </a:rPr>
              <a:t> Tavlama algoritmasında, sıcaklık düştükçe, çözümdeki adımlar daha küçük hale gelir ve çözüm etrafında dar bir araştırma yapılır. Bu süreçte yerel optimuma odaklanılır ve daha iyi çözümler aranmaya başlanır.</a:t>
            </a:r>
          </a:p>
          <a:p>
            <a:pPr algn="just"/>
            <a:endParaRPr lang="tr-TR" sz="1600" dirty="0">
              <a:solidFill>
                <a:srgbClr val="242424"/>
              </a:solidFill>
              <a:latin typeface="Consolas" panose="020B0609020204030204" pitchFamily="49" charset="0"/>
            </a:endParaRPr>
          </a:p>
          <a:p>
            <a:pPr algn="just"/>
            <a:r>
              <a:rPr lang="tr-TR" sz="1600" b="0" i="0" dirty="0">
                <a:solidFill>
                  <a:srgbClr val="242424"/>
                </a:solidFill>
                <a:effectLst/>
                <a:latin typeface="Consolas" panose="020B0609020204030204" pitchFamily="49" charset="0"/>
              </a:rPr>
              <a:t>PSO (Parçacık Sürü Optimizasyonu) Sömürü </a:t>
            </a:r>
            <a:r>
              <a:rPr lang="tr-TR" sz="1600" b="0" i="0" dirty="0" err="1">
                <a:solidFill>
                  <a:srgbClr val="242424"/>
                </a:solidFill>
                <a:effectLst/>
                <a:latin typeface="Consolas" panose="020B0609020204030204" pitchFamily="49" charset="0"/>
              </a:rPr>
              <a:t>Fazı:PSO</a:t>
            </a:r>
            <a:r>
              <a:rPr lang="tr-TR" sz="1600" b="0" i="0" dirty="0">
                <a:solidFill>
                  <a:srgbClr val="242424"/>
                </a:solidFill>
                <a:effectLst/>
                <a:latin typeface="Consolas" panose="020B0609020204030204" pitchFamily="49" charset="0"/>
              </a:rPr>
              <a:t> algoritmasında, her bir parçacık, en iyi çözümünü ve sürünün en iyi çözümünü takip eder. Bu, parçacıkların daha iyi çözüm bulmasına yardımcı olur ve mevcut çözümü </a:t>
            </a:r>
            <a:r>
              <a:rPr lang="tr-TR" sz="1600" b="0" i="0" dirty="0" err="1">
                <a:solidFill>
                  <a:srgbClr val="242424"/>
                </a:solidFill>
                <a:effectLst/>
                <a:latin typeface="Consolas" panose="020B0609020204030204" pitchFamily="49" charset="0"/>
              </a:rPr>
              <a:t>iyileştirir.Parçacıkların</a:t>
            </a:r>
            <a:r>
              <a:rPr lang="tr-TR" sz="1600" b="0" i="0" dirty="0">
                <a:solidFill>
                  <a:srgbClr val="242424"/>
                </a:solidFill>
                <a:effectLst/>
                <a:latin typeface="Consolas" panose="020B0609020204030204" pitchFamily="49" charset="0"/>
              </a:rPr>
              <a:t> hızları, daraltılarak yerel optimuma yaklaşmalarına olanak tanır.</a:t>
            </a:r>
          </a:p>
          <a:p>
            <a:pPr algn="just"/>
            <a:endParaRPr lang="tr-TR" sz="1600" dirty="0">
              <a:solidFill>
                <a:srgbClr val="242424"/>
              </a:solidFill>
              <a:latin typeface="Consolas" panose="020B0609020204030204" pitchFamily="49" charset="0"/>
            </a:endParaRPr>
          </a:p>
          <a:p>
            <a:pPr algn="just"/>
            <a:r>
              <a:rPr lang="tr-TR" sz="1600" b="0" i="0" dirty="0">
                <a:solidFill>
                  <a:srgbClr val="242424"/>
                </a:solidFill>
                <a:effectLst/>
                <a:latin typeface="Consolas" panose="020B0609020204030204" pitchFamily="49" charset="0"/>
              </a:rPr>
              <a:t>Karınca Kolonisi Optimizasyonu (ACO) Sömürü </a:t>
            </a:r>
            <a:r>
              <a:rPr lang="tr-TR" sz="1600" b="0" i="0" dirty="0" err="1">
                <a:solidFill>
                  <a:srgbClr val="242424"/>
                </a:solidFill>
                <a:effectLst/>
                <a:latin typeface="Consolas" panose="020B0609020204030204" pitchFamily="49" charset="0"/>
              </a:rPr>
              <a:t>Fazı:Karıncalar</a:t>
            </a:r>
            <a:r>
              <a:rPr lang="tr-TR" sz="1600" b="0" i="0" dirty="0">
                <a:solidFill>
                  <a:srgbClr val="242424"/>
                </a:solidFill>
                <a:effectLst/>
                <a:latin typeface="Consolas" panose="020B0609020204030204" pitchFamily="49" charset="0"/>
              </a:rPr>
              <a:t>, çözümdeki en iyi yolları tercih ederek yerel optimum çözümü arar. Feromon izleri, daha önce bulunan iyi çözümleri pekiştirir ve karıncalar bu izleri takip ederek çözümü iyileştirir.</a:t>
            </a:r>
            <a:endParaRPr lang="tr-TR" sz="1600" dirty="0">
              <a:latin typeface="Consolas" panose="020B0609020204030204" pitchFamily="49" charset="0"/>
            </a:endParaRPr>
          </a:p>
        </p:txBody>
      </p:sp>
    </p:spTree>
    <p:extLst>
      <p:ext uri="{BB962C8B-B14F-4D97-AF65-F5344CB8AC3E}">
        <p14:creationId xmlns:p14="http://schemas.microsoft.com/office/powerpoint/2010/main" val="2391550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1E773-1013-4E80-35FC-66485BF96F7F}"/>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1404F432-F9E1-CCA8-FD0F-4BAB53558D6E}"/>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Sömürü (</a:t>
            </a:r>
            <a:r>
              <a:rPr lang="tr-TR" sz="3000" b="1" dirty="0" err="1">
                <a:latin typeface="Consolas" panose="020B0609020204030204" pitchFamily="49" charset="0"/>
              </a:rPr>
              <a:t>Explotiation</a:t>
            </a:r>
            <a:r>
              <a:rPr lang="tr-TR" sz="3000" b="1" dirty="0">
                <a:latin typeface="Consolas" panose="020B0609020204030204" pitchFamily="49" charset="0"/>
              </a:rPr>
              <a:t>) Fazı</a:t>
            </a:r>
          </a:p>
        </p:txBody>
      </p:sp>
      <p:pic>
        <p:nvPicPr>
          <p:cNvPr id="2" name="Picture 4" descr="Labirent arka plan">
            <a:extLst>
              <a:ext uri="{FF2B5EF4-FFF2-40B4-BE49-F238E27FC236}">
                <a16:creationId xmlns:a16="http://schemas.microsoft.com/office/drawing/2014/main" id="{A4D8F672-58D2-F193-8ECA-EEC4D5F5F2E5}"/>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8E7A805D-5217-9B70-B21E-33976CE503B5}"/>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836444BC-22CB-4E51-A1EE-60CF8242B1D0}"/>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D9845B88-0665-6AB1-A948-40485516CFF7}"/>
              </a:ext>
            </a:extLst>
          </p:cNvPr>
          <p:cNvSpPr txBox="1"/>
          <p:nvPr/>
        </p:nvSpPr>
        <p:spPr>
          <a:xfrm>
            <a:off x="1164349" y="884915"/>
            <a:ext cx="10913920" cy="3046988"/>
          </a:xfrm>
          <a:prstGeom prst="rect">
            <a:avLst/>
          </a:prstGeom>
          <a:noFill/>
        </p:spPr>
        <p:txBody>
          <a:bodyPr wrap="square">
            <a:spAutoFit/>
          </a:bodyPr>
          <a:lstStyle/>
          <a:p>
            <a:pPr algn="just"/>
            <a:r>
              <a:rPr lang="tr-TR" sz="1600" b="0" i="0" dirty="0">
                <a:solidFill>
                  <a:srgbClr val="242424"/>
                </a:solidFill>
                <a:effectLst/>
                <a:latin typeface="Consolas" panose="020B0609020204030204" pitchFamily="49" charset="0"/>
              </a:rPr>
              <a:t>Sömürü Fazının Önemi:</a:t>
            </a:r>
          </a:p>
          <a:p>
            <a:pPr algn="just"/>
            <a:endParaRPr lang="tr-TR" sz="1600" dirty="0">
              <a:solidFill>
                <a:srgbClr val="242424"/>
              </a:solidFill>
              <a:latin typeface="Consolas" panose="020B0609020204030204" pitchFamily="49" charset="0"/>
            </a:endParaRPr>
          </a:p>
          <a:p>
            <a:pPr algn="just"/>
            <a:r>
              <a:rPr lang="tr-TR" sz="1600" b="0" i="0" dirty="0">
                <a:solidFill>
                  <a:srgbClr val="242424"/>
                </a:solidFill>
                <a:effectLst/>
                <a:latin typeface="Consolas" panose="020B0609020204030204" pitchFamily="49" charset="0"/>
              </a:rPr>
              <a:t>Yerel Optimumun Bulunması: Sömürü fazı, çözüm uzayında daha fazla derinlik sağlar ve yerel optimuma yaklaşır. Bu süreç, mevcut çözümü optimize etmek için kritik bir adımdır.</a:t>
            </a:r>
          </a:p>
          <a:p>
            <a:pPr algn="just"/>
            <a:endParaRPr lang="tr-TR" sz="1600" dirty="0">
              <a:solidFill>
                <a:srgbClr val="242424"/>
              </a:solidFill>
              <a:latin typeface="Consolas" panose="020B0609020204030204" pitchFamily="49" charset="0"/>
            </a:endParaRPr>
          </a:p>
          <a:p>
            <a:pPr algn="just"/>
            <a:r>
              <a:rPr lang="tr-TR" sz="1600" b="0" i="0" dirty="0">
                <a:solidFill>
                  <a:srgbClr val="242424"/>
                </a:solidFill>
                <a:effectLst/>
                <a:latin typeface="Consolas" panose="020B0609020204030204" pitchFamily="49" charset="0"/>
              </a:rPr>
              <a:t>Çözüm Kalitesinin Artması: Sömürü, çözümün kalitesini artırır. Yerel iyileştirme yaparak, daha iyi ve daha verimli çözümler bulunabilir.</a:t>
            </a:r>
          </a:p>
          <a:p>
            <a:pPr algn="just"/>
            <a:endParaRPr lang="tr-TR" sz="1600" dirty="0">
              <a:solidFill>
                <a:srgbClr val="242424"/>
              </a:solidFill>
              <a:latin typeface="Consolas" panose="020B0609020204030204" pitchFamily="49" charset="0"/>
            </a:endParaRPr>
          </a:p>
          <a:p>
            <a:pPr algn="just"/>
            <a:r>
              <a:rPr lang="tr-TR" sz="1600" b="0" i="0" dirty="0">
                <a:solidFill>
                  <a:srgbClr val="242424"/>
                </a:solidFill>
                <a:effectLst/>
                <a:latin typeface="Consolas" panose="020B0609020204030204" pitchFamily="49" charset="0"/>
              </a:rPr>
              <a:t>Yerel Minimumlardan Kaçınma: Eğer keşif fazı doğru yapılmışsa, sömürü fazı yerel minimumlara takılmadan daha iyi çözümler aramaya olanak tanır.</a:t>
            </a:r>
          </a:p>
          <a:p>
            <a:pPr algn="just"/>
            <a:endParaRPr lang="tr-TR" sz="1600" dirty="0">
              <a:solidFill>
                <a:srgbClr val="242424"/>
              </a:solidFill>
              <a:latin typeface="Consolas" panose="020B0609020204030204" pitchFamily="49" charset="0"/>
            </a:endParaRPr>
          </a:p>
          <a:p>
            <a:pPr algn="just"/>
            <a:endParaRPr lang="tr-TR" sz="1600" dirty="0">
              <a:latin typeface="Consolas" panose="020B0609020204030204" pitchFamily="49" charset="0"/>
            </a:endParaRPr>
          </a:p>
        </p:txBody>
      </p:sp>
    </p:spTree>
    <p:extLst>
      <p:ext uri="{BB962C8B-B14F-4D97-AF65-F5344CB8AC3E}">
        <p14:creationId xmlns:p14="http://schemas.microsoft.com/office/powerpoint/2010/main" val="12498394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25D3C-DC47-B561-1CDD-B6A5BA4114B0}"/>
            </a:ext>
          </a:extLst>
        </p:cNvPr>
        <p:cNvGrpSpPr/>
        <p:nvPr/>
      </p:nvGrpSpPr>
      <p:grpSpPr>
        <a:xfrm>
          <a:off x="0" y="0"/>
          <a:ext cx="0" cy="0"/>
          <a:chOff x="0" y="0"/>
          <a:chExt cx="0" cy="0"/>
        </a:xfrm>
      </p:grpSpPr>
      <p:pic>
        <p:nvPicPr>
          <p:cNvPr id="1026" name="Picture 2" descr="Change trend of exploration and exploitation from the beginning to the end  | Download Scientific Diagram">
            <a:extLst>
              <a:ext uri="{FF2B5EF4-FFF2-40B4-BE49-F238E27FC236}">
                <a16:creationId xmlns:a16="http://schemas.microsoft.com/office/drawing/2014/main" id="{59CBE23F-1E78-4CF3-A315-9D3C1F64EB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783" y="738775"/>
            <a:ext cx="4984795" cy="2961554"/>
          </a:xfrm>
          <a:prstGeom prst="rect">
            <a:avLst/>
          </a:prstGeom>
          <a:noFill/>
          <a:extLst>
            <a:ext uri="{909E8E84-426E-40DD-AFC4-6F175D3DCCD1}">
              <a14:hiddenFill xmlns:a14="http://schemas.microsoft.com/office/drawing/2010/main">
                <a:solidFill>
                  <a:srgbClr val="FFFFFF"/>
                </a:solidFill>
              </a14:hiddenFill>
            </a:ext>
          </a:extLst>
        </p:spPr>
      </p:pic>
      <p:sp>
        <p:nvSpPr>
          <p:cNvPr id="6" name="Metin kutusu 5">
            <a:extLst>
              <a:ext uri="{FF2B5EF4-FFF2-40B4-BE49-F238E27FC236}">
                <a16:creationId xmlns:a16="http://schemas.microsoft.com/office/drawing/2014/main" id="{AD93EBD0-725B-0F8B-A020-CA17A52A8F54}"/>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Keşif ve Sömürü Fazı Arasındaki Denge</a:t>
            </a:r>
          </a:p>
        </p:txBody>
      </p:sp>
      <p:pic>
        <p:nvPicPr>
          <p:cNvPr id="2" name="Picture 4" descr="Labirent arka plan">
            <a:extLst>
              <a:ext uri="{FF2B5EF4-FFF2-40B4-BE49-F238E27FC236}">
                <a16:creationId xmlns:a16="http://schemas.microsoft.com/office/drawing/2014/main" id="{E17E698D-F2F9-E839-FA61-EC0FD02C6EE6}"/>
              </a:ext>
            </a:extLst>
          </p:cNvPr>
          <p:cNvPicPr>
            <a:picLocks noChangeAspect="1" noChangeArrowheads="1"/>
          </p:cNvPicPr>
          <p:nvPr/>
        </p:nvPicPr>
        <p:blipFill rotWithShape="1">
          <a:blip r:embed="rId3">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0EA1DB3A-BE29-28E7-0FAD-0A8E825F71D7}"/>
              </a:ext>
            </a:extLst>
          </p:cNvPr>
          <p:cNvPicPr>
            <a:picLocks noChangeAspect="1" noChangeArrowheads="1"/>
          </p:cNvPicPr>
          <p:nvPr/>
        </p:nvPicPr>
        <p:blipFill rotWithShape="1">
          <a:blip r:embed="rId3">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FA29F571-CBB1-7128-544D-092B799F8F04}"/>
              </a:ext>
            </a:extLst>
          </p:cNvPr>
          <p:cNvPicPr>
            <a:picLocks noChangeAspect="1" noChangeArrowheads="1"/>
          </p:cNvPicPr>
          <p:nvPr/>
        </p:nvPicPr>
        <p:blipFill rotWithShape="1">
          <a:blip r:embed="rId3">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9" name="Metin kutusu 8">
            <a:extLst>
              <a:ext uri="{FF2B5EF4-FFF2-40B4-BE49-F238E27FC236}">
                <a16:creationId xmlns:a16="http://schemas.microsoft.com/office/drawing/2014/main" id="{75EAA200-6976-C1DC-76F0-BFC6E2951C14}"/>
              </a:ext>
            </a:extLst>
          </p:cNvPr>
          <p:cNvSpPr txBox="1"/>
          <p:nvPr/>
        </p:nvSpPr>
        <p:spPr>
          <a:xfrm>
            <a:off x="1164349" y="884915"/>
            <a:ext cx="4931651" cy="6986528"/>
          </a:xfrm>
          <a:prstGeom prst="rect">
            <a:avLst/>
          </a:prstGeom>
          <a:noFill/>
        </p:spPr>
        <p:txBody>
          <a:bodyPr wrap="square">
            <a:spAutoFit/>
          </a:bodyPr>
          <a:lstStyle/>
          <a:p>
            <a:pPr algn="just"/>
            <a:r>
              <a:rPr lang="tr-TR" sz="1600" b="0" i="0" dirty="0">
                <a:solidFill>
                  <a:srgbClr val="242424"/>
                </a:solidFill>
                <a:effectLst/>
                <a:latin typeface="Consolas" panose="020B0609020204030204" pitchFamily="49" charset="0"/>
              </a:rPr>
              <a:t>Keşif fazı ve sömürü fazı, algoritmaların genel başarısı için çok önemlidir. </a:t>
            </a:r>
          </a:p>
          <a:p>
            <a:pPr algn="just"/>
            <a:endParaRPr lang="tr-TR" sz="1600" dirty="0">
              <a:solidFill>
                <a:srgbClr val="242424"/>
              </a:solidFill>
              <a:latin typeface="Consolas" panose="020B0609020204030204" pitchFamily="49" charset="0"/>
            </a:endParaRPr>
          </a:p>
          <a:p>
            <a:pPr algn="just"/>
            <a:r>
              <a:rPr lang="tr-TR" sz="1600" b="0" i="0" dirty="0">
                <a:solidFill>
                  <a:srgbClr val="242424"/>
                </a:solidFill>
                <a:effectLst/>
                <a:latin typeface="Consolas" panose="020B0609020204030204" pitchFamily="49" charset="0"/>
              </a:rPr>
              <a:t>Keşif fazı, çözüm uzayında geniş bir arama yaparak potansiyel çözümleri bulur, ancak sömürü fazı bu çözümleri optimize eder ve iyileştirir.</a:t>
            </a:r>
          </a:p>
          <a:p>
            <a:pPr algn="just"/>
            <a:endParaRPr lang="tr-TR" sz="1600" dirty="0">
              <a:solidFill>
                <a:srgbClr val="242424"/>
              </a:solidFill>
              <a:latin typeface="Consolas" panose="020B0609020204030204" pitchFamily="49" charset="0"/>
            </a:endParaRPr>
          </a:p>
          <a:p>
            <a:pPr algn="just"/>
            <a:r>
              <a:rPr lang="tr-TR" sz="1600" b="0" i="0" dirty="0">
                <a:solidFill>
                  <a:srgbClr val="242424"/>
                </a:solidFill>
                <a:effectLst/>
                <a:latin typeface="Consolas" panose="020B0609020204030204" pitchFamily="49" charset="0"/>
              </a:rPr>
              <a:t>Keşif fazında rastgele hareketler, sömürüde ise daha kontrollü hareketler yapılır. </a:t>
            </a:r>
          </a:p>
          <a:p>
            <a:pPr algn="just"/>
            <a:endParaRPr lang="tr-TR" sz="1600" dirty="0">
              <a:solidFill>
                <a:srgbClr val="242424"/>
              </a:solidFill>
              <a:latin typeface="Consolas" panose="020B0609020204030204" pitchFamily="49" charset="0"/>
            </a:endParaRPr>
          </a:p>
          <a:p>
            <a:pPr algn="just"/>
            <a:r>
              <a:rPr lang="tr-TR" sz="1600" b="0" i="0" dirty="0">
                <a:solidFill>
                  <a:srgbClr val="242424"/>
                </a:solidFill>
                <a:effectLst/>
                <a:latin typeface="Consolas" panose="020B0609020204030204" pitchFamily="49" charset="0"/>
              </a:rPr>
              <a:t>İyi bir algoritma, bu iki faz arasındaki dengeyi kurarak daha etkili sonuçlar elde eder.</a:t>
            </a:r>
          </a:p>
          <a:p>
            <a:pPr algn="just"/>
            <a:endParaRPr lang="tr-TR" sz="1600" dirty="0">
              <a:solidFill>
                <a:srgbClr val="242424"/>
              </a:solidFill>
              <a:latin typeface="Consolas" panose="020B0609020204030204" pitchFamily="49" charset="0"/>
            </a:endParaRPr>
          </a:p>
          <a:p>
            <a:pPr algn="just"/>
            <a:r>
              <a:rPr lang="tr-TR" sz="1600" b="0" i="0" dirty="0">
                <a:solidFill>
                  <a:srgbClr val="242424"/>
                </a:solidFill>
                <a:effectLst/>
                <a:latin typeface="Consolas" panose="020B0609020204030204" pitchFamily="49" charset="0"/>
              </a:rPr>
              <a:t>Sömürü fazı, algoritmaların potansiyel olarak en iyi çözüme yaklaşmasını sağlayarak, çözüm kalitesini artırır ve daha verimli sonuçlar elde edilmesine yardımcı olur.</a:t>
            </a:r>
          </a:p>
          <a:p>
            <a:pPr algn="just"/>
            <a:endParaRPr lang="tr-TR" sz="1600" dirty="0">
              <a:solidFill>
                <a:srgbClr val="242424"/>
              </a:solidFill>
              <a:latin typeface="Consolas" panose="020B0609020204030204" pitchFamily="49" charset="0"/>
            </a:endParaRPr>
          </a:p>
          <a:p>
            <a:pPr algn="just"/>
            <a:r>
              <a:rPr lang="tr-TR" sz="1600" b="0" i="0" dirty="0">
                <a:solidFill>
                  <a:srgbClr val="242424"/>
                </a:solidFill>
                <a:effectLst/>
                <a:latin typeface="Consolas" panose="020B0609020204030204" pitchFamily="49" charset="0"/>
              </a:rPr>
              <a:t>Dengenin kurulamadığı durumlarda algoritma ya global optimumu kaçırabilir ya da yerel optimumlarda sıkışabilir.</a:t>
            </a:r>
          </a:p>
          <a:p>
            <a:pPr algn="just"/>
            <a:endParaRPr lang="tr-TR" sz="1600" dirty="0">
              <a:solidFill>
                <a:srgbClr val="242424"/>
              </a:solidFill>
              <a:latin typeface="Consolas" panose="020B0609020204030204" pitchFamily="49" charset="0"/>
            </a:endParaRPr>
          </a:p>
          <a:p>
            <a:pPr algn="just"/>
            <a:endParaRPr lang="tr-TR" sz="1600" dirty="0">
              <a:latin typeface="Consolas" panose="020B0609020204030204" pitchFamily="49" charset="0"/>
            </a:endParaRPr>
          </a:p>
        </p:txBody>
      </p:sp>
      <p:pic>
        <p:nvPicPr>
          <p:cNvPr id="1028" name="Picture 4" descr="Exploration and exploitation groups of dynamic group-based optimization...  | Download Scientific Diagram">
            <a:extLst>
              <a:ext uri="{FF2B5EF4-FFF2-40B4-BE49-F238E27FC236}">
                <a16:creationId xmlns:a16="http://schemas.microsoft.com/office/drawing/2014/main" id="{0D8CA47A-E4CB-862F-E255-510ACFB008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29001" y="4114755"/>
            <a:ext cx="4156270" cy="2591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3006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9A75E-7B83-B794-EA23-F5EBBB921677}"/>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DF870900-8D5F-D2BD-F645-9316084B4BEE}"/>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Keşif ve Sömürü Fazı Arasındaki Denge</a:t>
            </a:r>
          </a:p>
        </p:txBody>
      </p:sp>
      <p:pic>
        <p:nvPicPr>
          <p:cNvPr id="2" name="Picture 4" descr="Labirent arka plan">
            <a:extLst>
              <a:ext uri="{FF2B5EF4-FFF2-40B4-BE49-F238E27FC236}">
                <a16:creationId xmlns:a16="http://schemas.microsoft.com/office/drawing/2014/main" id="{88D2CCFB-CBA5-31E0-4375-A766F8A9DB23}"/>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294583F4-6AAF-D413-9943-736F44B8E6E0}"/>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37536C07-CE14-EC03-92FD-C67BB92448AC}"/>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pic>
        <p:nvPicPr>
          <p:cNvPr id="4" name="Resim 3">
            <a:extLst>
              <a:ext uri="{FF2B5EF4-FFF2-40B4-BE49-F238E27FC236}">
                <a16:creationId xmlns:a16="http://schemas.microsoft.com/office/drawing/2014/main" id="{7E3ECFE2-484C-CA47-78FA-5EF171947B9C}"/>
              </a:ext>
            </a:extLst>
          </p:cNvPr>
          <p:cNvPicPr>
            <a:picLocks noChangeAspect="1"/>
          </p:cNvPicPr>
          <p:nvPr/>
        </p:nvPicPr>
        <p:blipFill>
          <a:blip r:embed="rId3"/>
          <a:stretch>
            <a:fillRect/>
          </a:stretch>
        </p:blipFill>
        <p:spPr>
          <a:xfrm>
            <a:off x="1385357" y="1259555"/>
            <a:ext cx="9967387" cy="4026974"/>
          </a:xfrm>
          <a:prstGeom prst="rect">
            <a:avLst/>
          </a:prstGeom>
        </p:spPr>
      </p:pic>
    </p:spTree>
    <p:extLst>
      <p:ext uri="{BB962C8B-B14F-4D97-AF65-F5344CB8AC3E}">
        <p14:creationId xmlns:p14="http://schemas.microsoft.com/office/powerpoint/2010/main" val="352655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087-F246-A445-C251-DEAC33CB6900}"/>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F317A085-5CBA-F725-015A-6D87D60D9751}"/>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Keşif ve Sömürü Fazı Arasındaki Denge</a:t>
            </a:r>
          </a:p>
        </p:txBody>
      </p:sp>
      <p:pic>
        <p:nvPicPr>
          <p:cNvPr id="2" name="Picture 4" descr="Labirent arka plan">
            <a:extLst>
              <a:ext uri="{FF2B5EF4-FFF2-40B4-BE49-F238E27FC236}">
                <a16:creationId xmlns:a16="http://schemas.microsoft.com/office/drawing/2014/main" id="{8B758C63-FFA8-548D-D88A-B108CE1B3A99}"/>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93969649-74CC-2EF8-FA06-E95C999CEC67}"/>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6EA22674-1F0C-27E0-93AC-2A9BDFA5ED5B}"/>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pic>
        <p:nvPicPr>
          <p:cNvPr id="4" name="Resim 3">
            <a:extLst>
              <a:ext uri="{FF2B5EF4-FFF2-40B4-BE49-F238E27FC236}">
                <a16:creationId xmlns:a16="http://schemas.microsoft.com/office/drawing/2014/main" id="{B87F9EFA-63E8-AC30-902F-4CE27A4C4B3B}"/>
              </a:ext>
            </a:extLst>
          </p:cNvPr>
          <p:cNvPicPr>
            <a:picLocks noChangeAspect="1"/>
          </p:cNvPicPr>
          <p:nvPr/>
        </p:nvPicPr>
        <p:blipFill>
          <a:blip r:embed="rId3"/>
          <a:stretch>
            <a:fillRect/>
          </a:stretch>
        </p:blipFill>
        <p:spPr>
          <a:xfrm>
            <a:off x="1778324" y="1296207"/>
            <a:ext cx="8906896" cy="4265585"/>
          </a:xfrm>
          <a:prstGeom prst="rect">
            <a:avLst/>
          </a:prstGeom>
        </p:spPr>
      </p:pic>
    </p:spTree>
    <p:extLst>
      <p:ext uri="{BB962C8B-B14F-4D97-AF65-F5344CB8AC3E}">
        <p14:creationId xmlns:p14="http://schemas.microsoft.com/office/powerpoint/2010/main" val="365923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EF165-3918-FDDD-E5C8-336E95456453}"/>
            </a:ext>
          </a:extLst>
        </p:cNvPr>
        <p:cNvGrpSpPr/>
        <p:nvPr/>
      </p:nvGrpSpPr>
      <p:grpSpPr>
        <a:xfrm>
          <a:off x="0" y="0"/>
          <a:ext cx="0" cy="0"/>
          <a:chOff x="0" y="0"/>
          <a:chExt cx="0" cy="0"/>
        </a:xfrm>
      </p:grpSpPr>
      <p:sp>
        <p:nvSpPr>
          <p:cNvPr id="6" name="Metin kutusu 5">
            <a:extLst>
              <a:ext uri="{FF2B5EF4-FFF2-40B4-BE49-F238E27FC236}">
                <a16:creationId xmlns:a16="http://schemas.microsoft.com/office/drawing/2014/main" id="{7CF43CFD-D494-2F63-FD51-C1E2CCBAF691}"/>
              </a:ext>
            </a:extLst>
          </p:cNvPr>
          <p:cNvSpPr txBox="1"/>
          <p:nvPr/>
        </p:nvSpPr>
        <p:spPr>
          <a:xfrm>
            <a:off x="1164349" y="184777"/>
            <a:ext cx="10688668" cy="553998"/>
          </a:xfrm>
          <a:prstGeom prst="rect">
            <a:avLst/>
          </a:prstGeom>
          <a:noFill/>
        </p:spPr>
        <p:txBody>
          <a:bodyPr wrap="square" rtlCol="0">
            <a:spAutoFit/>
          </a:bodyPr>
          <a:lstStyle/>
          <a:p>
            <a:r>
              <a:rPr lang="tr-TR" sz="3000" b="1" dirty="0">
                <a:latin typeface="Consolas" panose="020B0609020204030204" pitchFamily="49" charset="0"/>
              </a:rPr>
              <a:t>ÖDEV (Final sınavına ait)</a:t>
            </a:r>
          </a:p>
        </p:txBody>
      </p:sp>
      <p:pic>
        <p:nvPicPr>
          <p:cNvPr id="2" name="Picture 4" descr="Labirent arka plan">
            <a:extLst>
              <a:ext uri="{FF2B5EF4-FFF2-40B4-BE49-F238E27FC236}">
                <a16:creationId xmlns:a16="http://schemas.microsoft.com/office/drawing/2014/main" id="{C45420BC-43AC-8E31-2942-993513B17ACB}"/>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a:off x="-1186238" y="1176785"/>
            <a:ext cx="3282497" cy="91001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Labirent arka plan">
            <a:extLst>
              <a:ext uri="{FF2B5EF4-FFF2-40B4-BE49-F238E27FC236}">
                <a16:creationId xmlns:a16="http://schemas.microsoft.com/office/drawing/2014/main" id="{5E73D443-6D25-EAC4-F7B7-43E45F11A2EF}"/>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a:stretch/>
        </p:blipFill>
        <p:spPr bwMode="auto">
          <a:xfrm rot="16200000" flipV="1">
            <a:off x="-1186240" y="4459281"/>
            <a:ext cx="3282497" cy="91001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Labirent arka plan">
            <a:extLst>
              <a:ext uri="{FF2B5EF4-FFF2-40B4-BE49-F238E27FC236}">
                <a16:creationId xmlns:a16="http://schemas.microsoft.com/office/drawing/2014/main" id="{B70345D2-FC45-F03F-12F0-FECEA6DAE021}"/>
              </a:ext>
            </a:extLst>
          </p:cNvPr>
          <p:cNvPicPr>
            <a:picLocks noChangeAspect="1" noChangeArrowheads="1"/>
          </p:cNvPicPr>
          <p:nvPr/>
        </p:nvPicPr>
        <p:blipFill rotWithShape="1">
          <a:blip r:embed="rId2">
            <a:duotone>
              <a:schemeClr val="accent2">
                <a:shade val="45000"/>
                <a:satMod val="135000"/>
              </a:schemeClr>
              <a:prstClr val="white"/>
            </a:duotone>
            <a:extLst>
              <a:ext uri="{28A0092B-C50C-407E-A947-70E740481C1C}">
                <a14:useLocalDpi xmlns:a14="http://schemas.microsoft.com/office/drawing/2010/main" val="0"/>
              </a:ext>
            </a:extLst>
          </a:blip>
          <a:srcRect t="55713" r="90757"/>
          <a:stretch/>
        </p:blipFill>
        <p:spPr bwMode="auto">
          <a:xfrm rot="5400000">
            <a:off x="303318" y="6251304"/>
            <a:ext cx="303374" cy="910019"/>
          </a:xfrm>
          <a:prstGeom prst="rect">
            <a:avLst/>
          </a:prstGeom>
          <a:noFill/>
          <a:extLst>
            <a:ext uri="{909E8E84-426E-40DD-AFC4-6F175D3DCCD1}">
              <a14:hiddenFill xmlns:a14="http://schemas.microsoft.com/office/drawing/2010/main">
                <a:solidFill>
                  <a:srgbClr val="FFFFFF"/>
                </a:solidFill>
              </a14:hiddenFill>
            </a:ext>
          </a:extLst>
        </p:spPr>
      </p:pic>
      <p:sp>
        <p:nvSpPr>
          <p:cNvPr id="8" name="Metin kutusu 7">
            <a:extLst>
              <a:ext uri="{FF2B5EF4-FFF2-40B4-BE49-F238E27FC236}">
                <a16:creationId xmlns:a16="http://schemas.microsoft.com/office/drawing/2014/main" id="{DB0DBDBF-D4C7-7D59-1940-E26FA91A5438}"/>
              </a:ext>
            </a:extLst>
          </p:cNvPr>
          <p:cNvSpPr txBox="1"/>
          <p:nvPr/>
        </p:nvSpPr>
        <p:spPr>
          <a:xfrm>
            <a:off x="1164349" y="889843"/>
            <a:ext cx="10688668" cy="6186309"/>
          </a:xfrm>
          <a:prstGeom prst="rect">
            <a:avLst/>
          </a:prstGeom>
          <a:noFill/>
        </p:spPr>
        <p:txBody>
          <a:bodyPr wrap="square">
            <a:spAutoFit/>
          </a:bodyPr>
          <a:lstStyle/>
          <a:p>
            <a:pPr marL="285750" indent="-285750" algn="just">
              <a:buFontTx/>
              <a:buChar char="-"/>
            </a:pPr>
            <a:r>
              <a:rPr lang="tr-TR" b="0" i="0" dirty="0">
                <a:solidFill>
                  <a:srgbClr val="242424"/>
                </a:solidFill>
                <a:effectLst/>
                <a:latin typeface="Consolas" panose="020B0609020204030204" pitchFamily="49" charset="0"/>
              </a:rPr>
              <a:t>2 adet iyi bilinen (</a:t>
            </a:r>
            <a:r>
              <a:rPr lang="tr-TR" b="0" i="0" dirty="0" err="1">
                <a:solidFill>
                  <a:srgbClr val="242424"/>
                </a:solidFill>
                <a:effectLst/>
                <a:latin typeface="Consolas" panose="020B0609020204030204" pitchFamily="49" charset="0"/>
              </a:rPr>
              <a:t>well-known</a:t>
            </a:r>
            <a:r>
              <a:rPr lang="tr-TR" b="0" i="0" dirty="0">
                <a:solidFill>
                  <a:srgbClr val="242424"/>
                </a:solidFill>
                <a:effectLst/>
                <a:latin typeface="Consolas" panose="020B0609020204030204" pitchFamily="49" charset="0"/>
              </a:rPr>
              <a:t>) </a:t>
            </a:r>
            <a:r>
              <a:rPr lang="tr-TR" b="0" i="0" dirty="0" err="1">
                <a:solidFill>
                  <a:srgbClr val="242424"/>
                </a:solidFill>
                <a:effectLst/>
                <a:latin typeface="Consolas" panose="020B0609020204030204" pitchFamily="49" charset="0"/>
              </a:rPr>
              <a:t>metasezgisel</a:t>
            </a:r>
            <a:r>
              <a:rPr lang="tr-TR" b="0" i="0" dirty="0">
                <a:solidFill>
                  <a:srgbClr val="242424"/>
                </a:solidFill>
                <a:effectLst/>
                <a:latin typeface="Consolas" panose="020B0609020204030204" pitchFamily="49" charset="0"/>
              </a:rPr>
              <a:t> algoritma için keşif ve sömürü fazlarının nasıl gerçekleştiğini araştırın. Hangi denklemler kullanılarak yapıldığını gösterin. </a:t>
            </a:r>
          </a:p>
          <a:p>
            <a:pPr marL="285750" indent="-285750" algn="just">
              <a:buFontTx/>
              <a:buChar char="-"/>
            </a:pPr>
            <a:r>
              <a:rPr lang="tr-TR" sz="1400" b="0" i="0" dirty="0">
                <a:solidFill>
                  <a:srgbClr val="242424"/>
                </a:solidFill>
                <a:effectLst/>
                <a:latin typeface="Consolas" panose="020B0609020204030204" pitchFamily="49" charset="0"/>
              </a:rPr>
              <a:t>Örnek algoritmalar: DE (</a:t>
            </a:r>
            <a:r>
              <a:rPr lang="tr-TR" sz="1400" b="0" i="0" dirty="0" err="1">
                <a:solidFill>
                  <a:srgbClr val="242424"/>
                </a:solidFill>
                <a:effectLst/>
                <a:latin typeface="Consolas" panose="020B0609020204030204" pitchFamily="49" charset="0"/>
              </a:rPr>
              <a:t>Differential</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Evolution</a:t>
            </a:r>
            <a:r>
              <a:rPr lang="tr-TR" sz="1400" b="0" i="0" dirty="0">
                <a:solidFill>
                  <a:srgbClr val="242424"/>
                </a:solidFill>
                <a:effectLst/>
                <a:latin typeface="Consolas" panose="020B0609020204030204" pitchFamily="49" charset="0"/>
              </a:rPr>
              <a:t>), TS (Tabu </a:t>
            </a:r>
            <a:r>
              <a:rPr lang="tr-TR" sz="1400" b="0" i="0" dirty="0" err="1">
                <a:solidFill>
                  <a:srgbClr val="242424"/>
                </a:solidFill>
                <a:effectLst/>
                <a:latin typeface="Consolas" panose="020B0609020204030204" pitchFamily="49" charset="0"/>
              </a:rPr>
              <a:t>Search</a:t>
            </a:r>
            <a:r>
              <a:rPr lang="tr-TR" sz="1400" b="0" i="0" dirty="0">
                <a:solidFill>
                  <a:srgbClr val="242424"/>
                </a:solidFill>
                <a:effectLst/>
                <a:latin typeface="Consolas" panose="020B0609020204030204" pitchFamily="49" charset="0"/>
              </a:rPr>
              <a:t>), ABC (</a:t>
            </a:r>
            <a:r>
              <a:rPr lang="tr-TR" sz="1400" b="0" i="0" dirty="0" err="1">
                <a:solidFill>
                  <a:srgbClr val="242424"/>
                </a:solidFill>
                <a:effectLst/>
                <a:latin typeface="Consolas" panose="020B0609020204030204" pitchFamily="49" charset="0"/>
              </a:rPr>
              <a:t>Artificial</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Bee</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Colony</a:t>
            </a:r>
            <a:r>
              <a:rPr lang="tr-TR" sz="1400" b="0" i="0" dirty="0">
                <a:solidFill>
                  <a:srgbClr val="242424"/>
                </a:solidFill>
                <a:effectLst/>
                <a:latin typeface="Consolas" panose="020B0609020204030204" pitchFamily="49" charset="0"/>
              </a:rPr>
              <a:t>), HS (</a:t>
            </a:r>
            <a:r>
              <a:rPr lang="tr-TR" sz="1400" b="0" i="0" dirty="0" err="1">
                <a:solidFill>
                  <a:srgbClr val="242424"/>
                </a:solidFill>
                <a:effectLst/>
                <a:latin typeface="Consolas" panose="020B0609020204030204" pitchFamily="49" charset="0"/>
              </a:rPr>
              <a:t>Harmony</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Search</a:t>
            </a:r>
            <a:r>
              <a:rPr lang="tr-TR" sz="1400" b="0" i="0" dirty="0">
                <a:solidFill>
                  <a:srgbClr val="242424"/>
                </a:solidFill>
                <a:effectLst/>
                <a:latin typeface="Consolas" panose="020B0609020204030204" pitchFamily="49" charset="0"/>
              </a:rPr>
              <a:t>), FA (</a:t>
            </a:r>
            <a:r>
              <a:rPr lang="tr-TR" sz="1400" b="0" i="0" dirty="0" err="1">
                <a:solidFill>
                  <a:srgbClr val="242424"/>
                </a:solidFill>
                <a:effectLst/>
                <a:latin typeface="Consolas" panose="020B0609020204030204" pitchFamily="49" charset="0"/>
              </a:rPr>
              <a:t>Firefly</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Algorithm</a:t>
            </a:r>
            <a:r>
              <a:rPr lang="tr-TR" sz="1400" b="0" i="0" dirty="0">
                <a:solidFill>
                  <a:srgbClr val="242424"/>
                </a:solidFill>
                <a:effectLst/>
                <a:latin typeface="Consolas" panose="020B0609020204030204" pitchFamily="49" charset="0"/>
              </a:rPr>
              <a:t>), GSA (</a:t>
            </a:r>
            <a:r>
              <a:rPr lang="tr-TR" sz="1400" b="0" i="0" dirty="0" err="1">
                <a:solidFill>
                  <a:srgbClr val="242424"/>
                </a:solidFill>
                <a:effectLst/>
                <a:latin typeface="Consolas" panose="020B0609020204030204" pitchFamily="49" charset="0"/>
              </a:rPr>
              <a:t>Gravitational</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Search</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Algorithm</a:t>
            </a:r>
            <a:r>
              <a:rPr lang="tr-TR" sz="1400" b="0" i="0" dirty="0">
                <a:solidFill>
                  <a:srgbClr val="242424"/>
                </a:solidFill>
                <a:effectLst/>
                <a:latin typeface="Consolas" panose="020B0609020204030204" pitchFamily="49" charset="0"/>
              </a:rPr>
              <a:t>), BA (Bat </a:t>
            </a:r>
            <a:r>
              <a:rPr lang="tr-TR" sz="1400" b="0" i="0" dirty="0" err="1">
                <a:solidFill>
                  <a:srgbClr val="242424"/>
                </a:solidFill>
                <a:effectLst/>
                <a:latin typeface="Consolas" panose="020B0609020204030204" pitchFamily="49" charset="0"/>
              </a:rPr>
              <a:t>Algorithm</a:t>
            </a:r>
            <a:r>
              <a:rPr lang="tr-TR" sz="1400" b="0" i="0" dirty="0">
                <a:solidFill>
                  <a:srgbClr val="242424"/>
                </a:solidFill>
                <a:effectLst/>
                <a:latin typeface="Consolas" panose="020B0609020204030204" pitchFamily="49" charset="0"/>
              </a:rPr>
              <a:t>), GWO (</a:t>
            </a:r>
            <a:r>
              <a:rPr lang="tr-TR" sz="1400" b="0" i="0" dirty="0" err="1">
                <a:solidFill>
                  <a:srgbClr val="242424"/>
                </a:solidFill>
                <a:effectLst/>
                <a:latin typeface="Consolas" panose="020B0609020204030204" pitchFamily="49" charset="0"/>
              </a:rPr>
              <a:t>Grey</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Wolf</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Algorithm</a:t>
            </a:r>
            <a:r>
              <a:rPr lang="tr-TR" sz="1400" dirty="0">
                <a:solidFill>
                  <a:srgbClr val="242424"/>
                </a:solidFill>
                <a:latin typeface="Consolas" panose="020B0609020204030204" pitchFamily="49" charset="0"/>
              </a:rPr>
              <a:t>)</a:t>
            </a:r>
            <a:r>
              <a:rPr lang="tr-TR" sz="1400" b="0" i="0" dirty="0">
                <a:solidFill>
                  <a:srgbClr val="242424"/>
                </a:solidFill>
                <a:effectLst/>
                <a:latin typeface="Consolas" panose="020B0609020204030204" pitchFamily="49" charset="0"/>
              </a:rPr>
              <a:t>, WOA (</a:t>
            </a:r>
            <a:r>
              <a:rPr lang="tr-TR" sz="1400" b="0" i="0" dirty="0" err="1">
                <a:solidFill>
                  <a:srgbClr val="242424"/>
                </a:solidFill>
                <a:effectLst/>
                <a:latin typeface="Consolas" panose="020B0609020204030204" pitchFamily="49" charset="0"/>
              </a:rPr>
              <a:t>Whale</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Optimization</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Algorithm</a:t>
            </a:r>
            <a:r>
              <a:rPr lang="tr-TR" sz="1400" b="0" i="0" dirty="0">
                <a:solidFill>
                  <a:srgbClr val="242424"/>
                </a:solidFill>
                <a:effectLst/>
                <a:latin typeface="Consolas" panose="020B0609020204030204" pitchFamily="49" charset="0"/>
              </a:rPr>
              <a:t>), AOA (</a:t>
            </a:r>
            <a:r>
              <a:rPr lang="tr-TR" sz="1400" b="0" i="0" dirty="0" err="1">
                <a:solidFill>
                  <a:srgbClr val="242424"/>
                </a:solidFill>
                <a:effectLst/>
                <a:latin typeface="Consolas" panose="020B0609020204030204" pitchFamily="49" charset="0"/>
              </a:rPr>
              <a:t>Arithmetic</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Optimization</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Algorithm</a:t>
            </a:r>
            <a:r>
              <a:rPr lang="tr-TR" sz="1400" b="0" i="0" dirty="0">
                <a:solidFill>
                  <a:srgbClr val="242424"/>
                </a:solidFill>
                <a:effectLst/>
                <a:latin typeface="Consolas" panose="020B0609020204030204" pitchFamily="49" charset="0"/>
              </a:rPr>
              <a:t>), SCA (Sine-</a:t>
            </a:r>
            <a:r>
              <a:rPr lang="tr-TR" sz="1400" b="0" i="0" dirty="0" err="1">
                <a:solidFill>
                  <a:srgbClr val="242424"/>
                </a:solidFill>
                <a:effectLst/>
                <a:latin typeface="Consolas" panose="020B0609020204030204" pitchFamily="49" charset="0"/>
              </a:rPr>
              <a:t>Cosine</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Algorithm</a:t>
            </a:r>
            <a:r>
              <a:rPr lang="tr-TR" sz="1400" b="0" i="0" dirty="0">
                <a:solidFill>
                  <a:srgbClr val="242424"/>
                </a:solidFill>
                <a:effectLst/>
                <a:latin typeface="Consolas" panose="020B0609020204030204" pitchFamily="49" charset="0"/>
              </a:rPr>
              <a:t>), TLBO (</a:t>
            </a:r>
            <a:r>
              <a:rPr lang="tr-TR" sz="1400" b="0" i="0" dirty="0" err="1">
                <a:solidFill>
                  <a:srgbClr val="242424"/>
                </a:solidFill>
                <a:effectLst/>
                <a:latin typeface="Consolas" panose="020B0609020204030204" pitchFamily="49" charset="0"/>
              </a:rPr>
              <a:t>Teaching</a:t>
            </a:r>
            <a:r>
              <a:rPr lang="tr-TR" sz="1400" b="0" i="0" dirty="0">
                <a:solidFill>
                  <a:srgbClr val="242424"/>
                </a:solidFill>
                <a:effectLst/>
                <a:latin typeface="Consolas" panose="020B0609020204030204" pitchFamily="49" charset="0"/>
              </a:rPr>
              <a:t>–Learning-</a:t>
            </a:r>
            <a:r>
              <a:rPr lang="tr-TR" sz="1400" b="0" i="0" dirty="0" err="1">
                <a:solidFill>
                  <a:srgbClr val="242424"/>
                </a:solidFill>
                <a:effectLst/>
                <a:latin typeface="Consolas" panose="020B0609020204030204" pitchFamily="49" charset="0"/>
              </a:rPr>
              <a:t>Based</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Optimization</a:t>
            </a:r>
            <a:r>
              <a:rPr lang="tr-TR" sz="1400" b="0" i="0" dirty="0">
                <a:solidFill>
                  <a:srgbClr val="242424"/>
                </a:solidFill>
                <a:effectLst/>
                <a:latin typeface="Consolas" panose="020B0609020204030204" pitchFamily="49" charset="0"/>
              </a:rPr>
              <a:t>), BBO (</a:t>
            </a:r>
            <a:r>
              <a:rPr lang="tr-TR" sz="1400" b="0" i="0" dirty="0" err="1">
                <a:solidFill>
                  <a:srgbClr val="242424"/>
                </a:solidFill>
                <a:effectLst/>
                <a:latin typeface="Consolas" panose="020B0609020204030204" pitchFamily="49" charset="0"/>
              </a:rPr>
              <a:t>Biogeography-Based</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Optimization</a:t>
            </a:r>
            <a:r>
              <a:rPr lang="tr-TR" sz="1400" b="0" i="0" dirty="0">
                <a:solidFill>
                  <a:srgbClr val="242424"/>
                </a:solidFill>
                <a:effectLst/>
                <a:latin typeface="Consolas" panose="020B0609020204030204" pitchFamily="49" charset="0"/>
              </a:rPr>
              <a:t>), ICA (</a:t>
            </a:r>
            <a:r>
              <a:rPr lang="tr-TR" sz="1400" b="0" i="0" dirty="0" err="1">
                <a:solidFill>
                  <a:srgbClr val="242424"/>
                </a:solidFill>
                <a:effectLst/>
                <a:latin typeface="Consolas" panose="020B0609020204030204" pitchFamily="49" charset="0"/>
              </a:rPr>
              <a:t>Imperialist</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Competitive</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Algorithm</a:t>
            </a:r>
            <a:r>
              <a:rPr lang="tr-TR" sz="1400" b="0" i="0" dirty="0">
                <a:solidFill>
                  <a:srgbClr val="242424"/>
                </a:solidFill>
                <a:effectLst/>
                <a:latin typeface="Consolas" panose="020B0609020204030204" pitchFamily="49" charset="0"/>
              </a:rPr>
              <a:t>), FPA (</a:t>
            </a:r>
            <a:r>
              <a:rPr lang="tr-TR" sz="1400" b="0" i="0" dirty="0" err="1">
                <a:solidFill>
                  <a:srgbClr val="242424"/>
                </a:solidFill>
                <a:effectLst/>
                <a:latin typeface="Consolas" panose="020B0609020204030204" pitchFamily="49" charset="0"/>
              </a:rPr>
              <a:t>Flower</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Pollination</a:t>
            </a:r>
            <a:r>
              <a:rPr lang="tr-TR" sz="1400" b="0" i="0" dirty="0">
                <a:solidFill>
                  <a:srgbClr val="242424"/>
                </a:solidFill>
                <a:effectLst/>
                <a:latin typeface="Consolas" panose="020B0609020204030204" pitchFamily="49" charset="0"/>
              </a:rPr>
              <a:t> </a:t>
            </a:r>
            <a:r>
              <a:rPr lang="tr-TR" sz="1400" b="0" i="0" dirty="0" err="1">
                <a:solidFill>
                  <a:srgbClr val="242424"/>
                </a:solidFill>
                <a:effectLst/>
                <a:latin typeface="Consolas" panose="020B0609020204030204" pitchFamily="49" charset="0"/>
              </a:rPr>
              <a:t>Algorithm</a:t>
            </a:r>
            <a:r>
              <a:rPr lang="tr-TR" sz="1400" b="0" i="0" dirty="0">
                <a:solidFill>
                  <a:srgbClr val="242424"/>
                </a:solidFill>
                <a:effectLst/>
                <a:latin typeface="Consolas" panose="020B0609020204030204" pitchFamily="49" charset="0"/>
              </a:rPr>
              <a:t>) gibi… </a:t>
            </a:r>
          </a:p>
          <a:p>
            <a:pPr marL="285750" indent="-285750" algn="just">
              <a:buFontTx/>
              <a:buChar char="-"/>
            </a:pPr>
            <a:r>
              <a:rPr lang="tr-TR" dirty="0">
                <a:solidFill>
                  <a:srgbClr val="242424"/>
                </a:solidFill>
                <a:latin typeface="Consolas" panose="020B0609020204030204" pitchFamily="49" charset="0"/>
              </a:rPr>
              <a:t>2024 sonrasında çıkan 3 tane </a:t>
            </a:r>
            <a:r>
              <a:rPr lang="tr-TR" dirty="0" err="1">
                <a:solidFill>
                  <a:srgbClr val="242424"/>
                </a:solidFill>
                <a:latin typeface="Consolas" panose="020B0609020204030204" pitchFamily="49" charset="0"/>
              </a:rPr>
              <a:t>metasezgisel</a:t>
            </a:r>
            <a:r>
              <a:rPr lang="tr-TR" dirty="0">
                <a:solidFill>
                  <a:srgbClr val="242424"/>
                </a:solidFill>
                <a:latin typeface="Consolas" panose="020B0609020204030204" pitchFamily="49" charset="0"/>
              </a:rPr>
              <a:t> algoritma seçin. Bunun için Google </a:t>
            </a:r>
            <a:r>
              <a:rPr lang="tr-TR" dirty="0" err="1">
                <a:solidFill>
                  <a:srgbClr val="242424"/>
                </a:solidFill>
                <a:latin typeface="Consolas" panose="020B0609020204030204" pitchFamily="49" charset="0"/>
              </a:rPr>
              <a:t>Scholar’ı</a:t>
            </a:r>
            <a:r>
              <a:rPr lang="tr-TR" dirty="0">
                <a:solidFill>
                  <a:srgbClr val="242424"/>
                </a:solidFill>
                <a:latin typeface="Consolas" panose="020B0609020204030204" pitchFamily="49" charset="0"/>
              </a:rPr>
              <a:t> kullanabilirsiniz. Keşif ve sömürü fazlarının nasıl gerçekleştiğini araştırın. Hangi denklemler kullanılarak yapıldığını gösterin. </a:t>
            </a:r>
          </a:p>
          <a:p>
            <a:pPr marL="285750" indent="-285750" algn="just">
              <a:buFontTx/>
              <a:buChar char="-"/>
            </a:pPr>
            <a:endParaRPr lang="tr-TR" dirty="0">
              <a:solidFill>
                <a:srgbClr val="242424"/>
              </a:solidFill>
              <a:latin typeface="Consolas" panose="020B0609020204030204" pitchFamily="49" charset="0"/>
            </a:endParaRPr>
          </a:p>
          <a:p>
            <a:pPr algn="just"/>
            <a:r>
              <a:rPr lang="tr-TR" sz="1400" dirty="0">
                <a:solidFill>
                  <a:schemeClr val="accent2">
                    <a:lumMod val="50000"/>
                  </a:schemeClr>
                </a:solidFill>
                <a:latin typeface="Consolas" panose="020B0609020204030204" pitchFamily="49" charset="0"/>
              </a:rPr>
              <a:t>  Örneğin: </a:t>
            </a:r>
            <a:r>
              <a:rPr lang="tr-TR" sz="1400" b="1" dirty="0" err="1">
                <a:solidFill>
                  <a:schemeClr val="accent2">
                    <a:lumMod val="50000"/>
                  </a:schemeClr>
                </a:solidFill>
                <a:latin typeface="Consolas" panose="020B0609020204030204" pitchFamily="49" charset="0"/>
              </a:rPr>
              <a:t>Genetic</a:t>
            </a:r>
            <a:r>
              <a:rPr lang="tr-TR" sz="1400" b="1" dirty="0">
                <a:solidFill>
                  <a:schemeClr val="accent2">
                    <a:lumMod val="50000"/>
                  </a:schemeClr>
                </a:solidFill>
                <a:latin typeface="Consolas" panose="020B0609020204030204" pitchFamily="49" charset="0"/>
              </a:rPr>
              <a:t> </a:t>
            </a:r>
            <a:r>
              <a:rPr lang="tr-TR" sz="1400" b="1" dirty="0" err="1">
                <a:solidFill>
                  <a:schemeClr val="accent2">
                    <a:lumMod val="50000"/>
                  </a:schemeClr>
                </a:solidFill>
                <a:latin typeface="Consolas" panose="020B0609020204030204" pitchFamily="49" charset="0"/>
              </a:rPr>
              <a:t>Algorithm</a:t>
            </a:r>
            <a:r>
              <a:rPr lang="tr-TR" sz="1400" b="1" dirty="0">
                <a:solidFill>
                  <a:schemeClr val="accent2">
                    <a:lumMod val="50000"/>
                  </a:schemeClr>
                </a:solidFill>
                <a:latin typeface="Consolas" panose="020B0609020204030204" pitchFamily="49" charset="0"/>
              </a:rPr>
              <a:t> (GA)’</a:t>
            </a:r>
            <a:r>
              <a:rPr lang="tr-TR" sz="1400" b="1" dirty="0" err="1">
                <a:solidFill>
                  <a:schemeClr val="accent2">
                    <a:lumMod val="50000"/>
                  </a:schemeClr>
                </a:solidFill>
                <a:latin typeface="Consolas" panose="020B0609020204030204" pitchFamily="49" charset="0"/>
              </a:rPr>
              <a:t>yı</a:t>
            </a:r>
            <a:r>
              <a:rPr lang="tr-TR" sz="1400" b="1" dirty="0">
                <a:solidFill>
                  <a:schemeClr val="accent2">
                    <a:lumMod val="50000"/>
                  </a:schemeClr>
                </a:solidFill>
                <a:latin typeface="Consolas" panose="020B0609020204030204" pitchFamily="49" charset="0"/>
              </a:rPr>
              <a:t> ele alalım. </a:t>
            </a:r>
          </a:p>
          <a:p>
            <a:pPr lvl="1"/>
            <a:r>
              <a:rPr lang="tr-TR" sz="1400" b="1" dirty="0">
                <a:solidFill>
                  <a:schemeClr val="accent2">
                    <a:lumMod val="50000"/>
                  </a:schemeClr>
                </a:solidFill>
                <a:latin typeface="Consolas" panose="020B0609020204030204" pitchFamily="49" charset="0"/>
              </a:rPr>
              <a:t>Keşif fazı (</a:t>
            </a:r>
            <a:r>
              <a:rPr lang="tr-TR" sz="1400" b="1" dirty="0" err="1">
                <a:solidFill>
                  <a:schemeClr val="accent2">
                    <a:lumMod val="50000"/>
                  </a:schemeClr>
                </a:solidFill>
                <a:latin typeface="Consolas" panose="020B0609020204030204" pitchFamily="49" charset="0"/>
              </a:rPr>
              <a:t>exploration</a:t>
            </a:r>
            <a:r>
              <a:rPr lang="tr-TR" sz="1400" b="1" dirty="0">
                <a:solidFill>
                  <a:schemeClr val="accent2">
                    <a:lumMod val="50000"/>
                  </a:schemeClr>
                </a:solidFill>
                <a:latin typeface="Consolas" panose="020B0609020204030204" pitchFamily="49" charset="0"/>
              </a:rPr>
              <a:t>): </a:t>
            </a:r>
            <a:endParaRPr lang="tr-TR" sz="1400" dirty="0">
              <a:solidFill>
                <a:schemeClr val="accent2">
                  <a:lumMod val="50000"/>
                </a:schemeClr>
              </a:solidFill>
              <a:latin typeface="Consolas" panose="020B0609020204030204" pitchFamily="49" charset="0"/>
            </a:endParaRPr>
          </a:p>
          <a:p>
            <a:pPr marL="1200150" lvl="2" indent="-285750">
              <a:buFont typeface="Arial" panose="020B0604020202020204" pitchFamily="34" charset="0"/>
              <a:buChar char="•"/>
            </a:pPr>
            <a:r>
              <a:rPr lang="tr-TR" sz="1400" dirty="0">
                <a:solidFill>
                  <a:schemeClr val="accent2">
                    <a:lumMod val="50000"/>
                  </a:schemeClr>
                </a:solidFill>
                <a:latin typeface="Consolas" panose="020B0609020204030204" pitchFamily="49" charset="0"/>
              </a:rPr>
              <a:t>Rastgele başlangıç popülasyonu oluşturma</a:t>
            </a:r>
          </a:p>
          <a:p>
            <a:pPr marL="1200150" lvl="2" indent="-285750">
              <a:buFont typeface="Arial" panose="020B0604020202020204" pitchFamily="34" charset="0"/>
              <a:buChar char="•"/>
            </a:pPr>
            <a:r>
              <a:rPr lang="tr-TR" sz="1400" b="1" dirty="0" err="1">
                <a:solidFill>
                  <a:schemeClr val="accent2">
                    <a:lumMod val="50000"/>
                  </a:schemeClr>
                </a:solidFill>
                <a:latin typeface="Consolas" panose="020B0609020204030204" pitchFamily="49" charset="0"/>
              </a:rPr>
              <a:t>Crossover</a:t>
            </a:r>
            <a:r>
              <a:rPr lang="tr-TR" sz="1400" b="1" dirty="0">
                <a:solidFill>
                  <a:schemeClr val="accent2">
                    <a:lumMod val="50000"/>
                  </a:schemeClr>
                </a:solidFill>
                <a:latin typeface="Consolas" panose="020B0609020204030204" pitchFamily="49" charset="0"/>
              </a:rPr>
              <a:t> (çaprazlama)</a:t>
            </a:r>
            <a:r>
              <a:rPr lang="tr-TR" sz="1400" dirty="0">
                <a:solidFill>
                  <a:schemeClr val="accent2">
                    <a:lumMod val="50000"/>
                  </a:schemeClr>
                </a:solidFill>
                <a:latin typeface="Consolas" panose="020B0609020204030204" pitchFamily="49" charset="0"/>
              </a:rPr>
              <a:t>: Farklı ebeveynlerden kes-yapıştır ile çocuk üretme → çözüm uzayında sıçramalar</a:t>
            </a:r>
          </a:p>
          <a:p>
            <a:pPr marL="1200150" lvl="2" indent="-285750">
              <a:buFont typeface="Arial" panose="020B0604020202020204" pitchFamily="34" charset="0"/>
              <a:buChar char="•"/>
            </a:pPr>
            <a:r>
              <a:rPr lang="tr-TR" sz="1400" dirty="0">
                <a:solidFill>
                  <a:schemeClr val="accent2">
                    <a:lumMod val="50000"/>
                  </a:schemeClr>
                </a:solidFill>
                <a:latin typeface="Consolas" panose="020B0609020204030204" pitchFamily="49" charset="0"/>
              </a:rPr>
              <a:t>Bazen büyük aralıklı mutasyonlar (</a:t>
            </a:r>
            <a:r>
              <a:rPr lang="tr-TR" sz="1400" dirty="0" err="1">
                <a:solidFill>
                  <a:schemeClr val="accent2">
                    <a:lumMod val="50000"/>
                  </a:schemeClr>
                </a:solidFill>
                <a:latin typeface="Consolas" panose="020B0609020204030204" pitchFamily="49" charset="0"/>
              </a:rPr>
              <a:t>high</a:t>
            </a:r>
            <a:r>
              <a:rPr lang="tr-TR" sz="1400" dirty="0">
                <a:solidFill>
                  <a:schemeClr val="accent2">
                    <a:lumMod val="50000"/>
                  </a:schemeClr>
                </a:solidFill>
                <a:latin typeface="Consolas" panose="020B0609020204030204" pitchFamily="49" charset="0"/>
              </a:rPr>
              <a:t> </a:t>
            </a:r>
            <a:r>
              <a:rPr lang="tr-TR" sz="1400" dirty="0" err="1">
                <a:solidFill>
                  <a:schemeClr val="accent2">
                    <a:lumMod val="50000"/>
                  </a:schemeClr>
                </a:solidFill>
                <a:latin typeface="Consolas" panose="020B0609020204030204" pitchFamily="49" charset="0"/>
              </a:rPr>
              <a:t>mutation</a:t>
            </a:r>
            <a:r>
              <a:rPr lang="tr-TR" sz="1400" dirty="0">
                <a:solidFill>
                  <a:schemeClr val="accent2">
                    <a:lumMod val="50000"/>
                  </a:schemeClr>
                </a:solidFill>
                <a:latin typeface="Consolas" panose="020B0609020204030204" pitchFamily="49" charset="0"/>
              </a:rPr>
              <a:t>) da keşfe girer</a:t>
            </a:r>
          </a:p>
          <a:p>
            <a:pPr marL="1200150" lvl="2" indent="-285750">
              <a:buFont typeface="Arial" panose="020B0604020202020204" pitchFamily="34" charset="0"/>
              <a:buChar char="•"/>
            </a:pPr>
            <a:r>
              <a:rPr lang="tr-TR" sz="1400" i="1" dirty="0">
                <a:solidFill>
                  <a:schemeClr val="accent2">
                    <a:lumMod val="50000"/>
                  </a:schemeClr>
                </a:solidFill>
                <a:latin typeface="Consolas" panose="020B0609020204030204" pitchFamily="49" charset="0"/>
              </a:rPr>
              <a:t>BURADA GÜNCELLEME DENKLEMLERİNE DE YER VERİLEBİLİR</a:t>
            </a:r>
          </a:p>
          <a:p>
            <a:pPr lvl="1"/>
            <a:r>
              <a:rPr lang="tr-TR" sz="1400" b="1" dirty="0">
                <a:solidFill>
                  <a:schemeClr val="accent2">
                    <a:lumMod val="50000"/>
                  </a:schemeClr>
                </a:solidFill>
                <a:latin typeface="Consolas" panose="020B0609020204030204" pitchFamily="49" charset="0"/>
              </a:rPr>
              <a:t>Sömürü fazı (</a:t>
            </a:r>
            <a:r>
              <a:rPr lang="tr-TR" sz="1400" b="1" dirty="0" err="1">
                <a:solidFill>
                  <a:schemeClr val="accent2">
                    <a:lumMod val="50000"/>
                  </a:schemeClr>
                </a:solidFill>
                <a:latin typeface="Consolas" panose="020B0609020204030204" pitchFamily="49" charset="0"/>
              </a:rPr>
              <a:t>exploitation</a:t>
            </a:r>
            <a:r>
              <a:rPr lang="tr-TR" sz="1400" b="1" dirty="0">
                <a:solidFill>
                  <a:schemeClr val="accent2">
                    <a:lumMod val="50000"/>
                  </a:schemeClr>
                </a:solidFill>
                <a:latin typeface="Consolas" panose="020B0609020204030204" pitchFamily="49" charset="0"/>
              </a:rPr>
              <a:t>): </a:t>
            </a:r>
            <a:endParaRPr lang="tr-TR" sz="1400" dirty="0">
              <a:solidFill>
                <a:schemeClr val="accent2">
                  <a:lumMod val="50000"/>
                </a:schemeClr>
              </a:solidFill>
              <a:latin typeface="Consolas" panose="020B0609020204030204" pitchFamily="49" charset="0"/>
            </a:endParaRPr>
          </a:p>
          <a:p>
            <a:pPr marL="1200150" lvl="2" indent="-285750">
              <a:buFont typeface="Arial" panose="020B0604020202020204" pitchFamily="34" charset="0"/>
              <a:buChar char="•"/>
            </a:pPr>
            <a:r>
              <a:rPr lang="tr-TR" sz="1400" b="1" dirty="0" err="1">
                <a:solidFill>
                  <a:schemeClr val="accent2">
                    <a:lumMod val="50000"/>
                  </a:schemeClr>
                </a:solidFill>
                <a:latin typeface="Consolas" panose="020B0609020204030204" pitchFamily="49" charset="0"/>
              </a:rPr>
              <a:t>Selection</a:t>
            </a:r>
            <a:r>
              <a:rPr lang="tr-TR" sz="1400" b="1" dirty="0">
                <a:solidFill>
                  <a:schemeClr val="accent2">
                    <a:lumMod val="50000"/>
                  </a:schemeClr>
                </a:solidFill>
                <a:latin typeface="Consolas" panose="020B0609020204030204" pitchFamily="49" charset="0"/>
              </a:rPr>
              <a:t> (seçilim)</a:t>
            </a:r>
            <a:r>
              <a:rPr lang="tr-TR" sz="1400" dirty="0">
                <a:solidFill>
                  <a:schemeClr val="accent2">
                    <a:lumMod val="50000"/>
                  </a:schemeClr>
                </a:solidFill>
                <a:latin typeface="Consolas" panose="020B0609020204030204" pitchFamily="49" charset="0"/>
              </a:rPr>
              <a:t>: En iyi bireylerin daha çok seçilmesi, elitizm</a:t>
            </a:r>
          </a:p>
          <a:p>
            <a:pPr marL="1200150" lvl="2" indent="-285750">
              <a:buFont typeface="Arial" panose="020B0604020202020204" pitchFamily="34" charset="0"/>
              <a:buChar char="•"/>
            </a:pPr>
            <a:r>
              <a:rPr lang="tr-TR" sz="1400" dirty="0">
                <a:solidFill>
                  <a:schemeClr val="accent2">
                    <a:lumMod val="50000"/>
                  </a:schemeClr>
                </a:solidFill>
                <a:latin typeface="Consolas" panose="020B0609020204030204" pitchFamily="49" charset="0"/>
              </a:rPr>
              <a:t>Küçük, ince ayar mutasyonları (</a:t>
            </a:r>
            <a:r>
              <a:rPr lang="tr-TR" sz="1400" dirty="0" err="1">
                <a:solidFill>
                  <a:schemeClr val="accent2">
                    <a:lumMod val="50000"/>
                  </a:schemeClr>
                </a:solidFill>
                <a:latin typeface="Consolas" panose="020B0609020204030204" pitchFamily="49" charset="0"/>
              </a:rPr>
              <a:t>low</a:t>
            </a:r>
            <a:r>
              <a:rPr lang="tr-TR" sz="1400" dirty="0">
                <a:solidFill>
                  <a:schemeClr val="accent2">
                    <a:lumMod val="50000"/>
                  </a:schemeClr>
                </a:solidFill>
                <a:latin typeface="Consolas" panose="020B0609020204030204" pitchFamily="49" charset="0"/>
              </a:rPr>
              <a:t> </a:t>
            </a:r>
            <a:r>
              <a:rPr lang="tr-TR" sz="1400" dirty="0" err="1">
                <a:solidFill>
                  <a:schemeClr val="accent2">
                    <a:lumMod val="50000"/>
                  </a:schemeClr>
                </a:solidFill>
                <a:latin typeface="Consolas" panose="020B0609020204030204" pitchFamily="49" charset="0"/>
              </a:rPr>
              <a:t>mutation</a:t>
            </a:r>
            <a:r>
              <a:rPr lang="tr-TR" sz="1400" dirty="0">
                <a:solidFill>
                  <a:schemeClr val="accent2">
                    <a:lumMod val="50000"/>
                  </a:schemeClr>
                </a:solidFill>
                <a:latin typeface="Consolas" panose="020B0609020204030204" pitchFamily="49" charset="0"/>
              </a:rPr>
              <a:t>)</a:t>
            </a:r>
          </a:p>
          <a:p>
            <a:pPr marL="1200150" lvl="2" indent="-285750">
              <a:buFont typeface="Arial" panose="020B0604020202020204" pitchFamily="34" charset="0"/>
              <a:buChar char="•"/>
            </a:pPr>
            <a:r>
              <a:rPr lang="tr-TR" sz="1400" dirty="0">
                <a:solidFill>
                  <a:schemeClr val="accent2">
                    <a:lumMod val="50000"/>
                  </a:schemeClr>
                </a:solidFill>
                <a:latin typeface="Consolas" panose="020B0609020204030204" pitchFamily="49" charset="0"/>
              </a:rPr>
              <a:t>Aynı iyi çözümlerin etrafında yoğunlaşmış </a:t>
            </a:r>
            <a:r>
              <a:rPr lang="tr-TR" sz="1400" dirty="0" err="1">
                <a:solidFill>
                  <a:schemeClr val="accent2">
                    <a:lumMod val="50000"/>
                  </a:schemeClr>
                </a:solidFill>
                <a:latin typeface="Consolas" panose="020B0609020204030204" pitchFamily="49" charset="0"/>
              </a:rPr>
              <a:t>crossover’lar</a:t>
            </a:r>
            <a:endParaRPr lang="tr-TR" sz="1400" dirty="0">
              <a:solidFill>
                <a:schemeClr val="accent2">
                  <a:lumMod val="50000"/>
                </a:schemeClr>
              </a:solidFill>
              <a:latin typeface="Consolas" panose="020B0609020204030204" pitchFamily="49" charset="0"/>
            </a:endParaRPr>
          </a:p>
          <a:p>
            <a:pPr marL="1200150" lvl="2" indent="-285750">
              <a:buFont typeface="Arial" panose="020B0604020202020204" pitchFamily="34" charset="0"/>
              <a:buChar char="•"/>
            </a:pPr>
            <a:r>
              <a:rPr lang="tr-TR" sz="1400" i="1" dirty="0">
                <a:solidFill>
                  <a:schemeClr val="accent2">
                    <a:lumMod val="50000"/>
                  </a:schemeClr>
                </a:solidFill>
                <a:latin typeface="Consolas" panose="020B0609020204030204" pitchFamily="49" charset="0"/>
              </a:rPr>
              <a:t>BURADA GÜNCELLEME DENKLEMLERİNE DE YER VERİLEBİLİR</a:t>
            </a:r>
          </a:p>
          <a:p>
            <a:pPr algn="just"/>
            <a:endParaRPr lang="tr-TR" dirty="0">
              <a:latin typeface="Consolas" panose="020B0609020204030204" pitchFamily="49" charset="0"/>
            </a:endParaRPr>
          </a:p>
        </p:txBody>
      </p:sp>
    </p:spTree>
    <p:extLst>
      <p:ext uri="{BB962C8B-B14F-4D97-AF65-F5344CB8AC3E}">
        <p14:creationId xmlns:p14="http://schemas.microsoft.com/office/powerpoint/2010/main" val="4215169002"/>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4691</TotalTime>
  <Words>2167</Words>
  <Application>Microsoft Office PowerPoint</Application>
  <PresentationFormat>Geniş ekran</PresentationFormat>
  <Paragraphs>157</Paragraphs>
  <Slides>19</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19</vt:i4>
      </vt:variant>
    </vt:vector>
  </HeadingPairs>
  <TitlesOfParts>
    <vt:vector size="24" baseType="lpstr">
      <vt:lpstr>Aptos</vt:lpstr>
      <vt:lpstr>Aptos Display</vt:lpstr>
      <vt:lpstr>Arial</vt:lpstr>
      <vt:lpstr>Consolas</vt:lpstr>
      <vt:lpstr>Office Teması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FUNDA KUTLU ONAY</dc:creator>
  <cp:lastModifiedBy>FUNDA KUTLU ONAY</cp:lastModifiedBy>
  <cp:revision>19</cp:revision>
  <dcterms:created xsi:type="dcterms:W3CDTF">2024-02-16T10:42:36Z</dcterms:created>
  <dcterms:modified xsi:type="dcterms:W3CDTF">2025-11-27T07:31:16Z</dcterms:modified>
</cp:coreProperties>
</file>