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327" r:id="rId3"/>
    <p:sldId id="397" r:id="rId4"/>
    <p:sldId id="414" r:id="rId5"/>
    <p:sldId id="415" r:id="rId6"/>
    <p:sldId id="422" r:id="rId7"/>
    <p:sldId id="421" r:id="rId8"/>
    <p:sldId id="423" r:id="rId9"/>
    <p:sldId id="424" r:id="rId10"/>
    <p:sldId id="416" r:id="rId11"/>
    <p:sldId id="417" r:id="rId12"/>
    <p:sldId id="418" r:id="rId13"/>
    <p:sldId id="425" r:id="rId14"/>
    <p:sldId id="398" r:id="rId15"/>
    <p:sldId id="419" r:id="rId16"/>
    <p:sldId id="399" r:id="rId17"/>
    <p:sldId id="426" r:id="rId18"/>
    <p:sldId id="427" r:id="rId19"/>
    <p:sldId id="420" r:id="rId20"/>
    <p:sldId id="400" r:id="rId2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470A"/>
    <a:srgbClr val="0B203C"/>
    <a:srgbClr val="1B83A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F75514-BF04-23F8-BD6B-177D3B102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E5B3339-13E9-0F07-A1CA-2E7FDBD8DA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3C39623-D02E-79AC-7E93-841D46AD7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998A-9DE2-4BB2-91E8-615337B18859}" type="datetimeFigureOut">
              <a:rPr lang="tr-TR" smtClean="0"/>
              <a:t>25.11.2025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BD4B22E-3D27-FC9B-05CD-6A4516BA1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042F0A5-FDBA-88BD-D489-001376BB1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1FD9-62D5-41CE-A9B8-6B2E1BB5ABC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0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0E3AC28-81EF-AECE-1206-8A1C7FF5F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009E259-A76C-3E13-A3BD-64D87D43E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2D16593-5D0D-E26E-D79A-E7401323C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998A-9DE2-4BB2-91E8-615337B18859}" type="datetimeFigureOut">
              <a:rPr lang="tr-TR" smtClean="0"/>
              <a:t>25.11.2025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17C2A8D-DD14-42C2-5C97-1FD3D6E78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EFC272A-10D0-3097-5A62-54200DC26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1FD9-62D5-41CE-A9B8-6B2E1BB5ABC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9871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7B3DB28-BB48-788C-300A-12F830EEB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018F9AC-B91C-304A-5CE0-E14E46E3C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05ED9F0-0A41-4078-28F0-0CEA007F7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998A-9DE2-4BB2-91E8-615337B18859}" type="datetimeFigureOut">
              <a:rPr lang="tr-TR" smtClean="0"/>
              <a:t>25.11.2025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7427F2A-A966-ACD1-A250-B1FC3E912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5ADDAEB-E083-7B30-8C03-8EDDC9D85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1FD9-62D5-41CE-A9B8-6B2E1BB5ABC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6027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69F723-3B55-6443-2E23-D09F852D2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5796FF7-3FB3-9B7B-1BD7-2323D5995A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8A51B62-F1AC-9F11-844E-6BF8F3E93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AAE7C2D-C344-70A8-0C3B-79939BCBF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998A-9DE2-4BB2-91E8-615337B18859}" type="datetimeFigureOut">
              <a:rPr lang="tr-TR" smtClean="0"/>
              <a:t>25.11.2025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F02B8B2-4342-4570-19C6-46E7F53EE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EEABC8B-0D2E-BDD3-0993-4EBC33D95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1FD9-62D5-41CE-A9B8-6B2E1BB5ABC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95842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148CC8C-8FDC-35A5-5D5B-4C8602E29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7541950-AF96-9E74-13F5-E1A3DC8B5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940EB8A-A51D-AA31-1C24-1293C1C00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DC3A1F32-5BFD-DB19-8097-3FA578F8E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C778786-FB56-A118-47A0-806A15D5C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0E246C61-AA53-C968-116A-586E83CB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998A-9DE2-4BB2-91E8-615337B18859}" type="datetimeFigureOut">
              <a:rPr lang="tr-TR" smtClean="0"/>
              <a:t>25.11.2025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A2BA97D3-6154-3F93-BFA4-AC4DA325A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9AE808B4-6EC1-3129-B13D-3BE5D086C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1FD9-62D5-41CE-A9B8-6B2E1BB5ABC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81978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C667091-A95B-96FE-EEB9-DF2D87EFB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DD2BAEE1-E6E5-6B4A-3DA0-BCAFC70E0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998A-9DE2-4BB2-91E8-615337B18859}" type="datetimeFigureOut">
              <a:rPr lang="tr-TR" smtClean="0"/>
              <a:t>25.11.2025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803F750E-CA15-54EA-967E-1DF823D6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A3B4294-DD45-51C9-0FB3-7C0137F5D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1FD9-62D5-41CE-A9B8-6B2E1BB5ABC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8755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2BABA66E-C403-26B3-F479-580135613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998A-9DE2-4BB2-91E8-615337B18859}" type="datetimeFigureOut">
              <a:rPr lang="tr-TR" smtClean="0"/>
              <a:t>25.11.2025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199709CD-0E2F-8DCE-A739-A44E61BF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EC8C7D5-C236-2EF1-8B7B-6BF328AE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1FD9-62D5-41CE-A9B8-6B2E1BB5ABC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5925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40C0E8F-0447-05A4-715C-394E6EB30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687833F-9581-085F-5209-80E776FE8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7A454FB-188B-E752-1C8F-17742CBDA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CA82EC4-BCA4-F560-27A4-6B092C686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998A-9DE2-4BB2-91E8-615337B18859}" type="datetimeFigureOut">
              <a:rPr lang="tr-TR" smtClean="0"/>
              <a:t>25.11.2025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38802D1-7474-6FD1-AC11-60218DDF0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25E8EA1-3806-B6A3-E40A-D779E1E4C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1FD9-62D5-41CE-A9B8-6B2E1BB5ABC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8333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3E0E167-D76A-9EE7-F1AF-4A25D9E7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01B0AA71-3F5A-AEAC-2B49-1DC2718028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F46FFC1-ADEA-F482-81AB-ADCF18896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2A5B4A1-B775-B1EC-4B32-EF48E2A23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998A-9DE2-4BB2-91E8-615337B18859}" type="datetimeFigureOut">
              <a:rPr lang="tr-TR" smtClean="0"/>
              <a:t>25.11.2025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16A0CD8-7AF2-4D32-CDB5-DD421B048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032B8E6-25A6-F61F-A324-6937E3E3C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1FD9-62D5-41CE-A9B8-6B2E1BB5ABC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4131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9994D35-050C-1660-8824-ADB224E59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420275EC-6020-8D26-41F9-8320A4905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9114BD4-6BFA-0D2C-4F95-6637D6054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998A-9DE2-4BB2-91E8-615337B18859}" type="datetimeFigureOut">
              <a:rPr lang="tr-TR" smtClean="0"/>
              <a:t>25.11.2025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BE66453-A7C6-CBA5-BF61-201630F1C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4BCA1A7-0E11-FF0B-6BF9-BAFF7C3A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1FD9-62D5-41CE-A9B8-6B2E1BB5ABC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55246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5B9F7103-B098-7BE0-20A1-453D07A13C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76E4489-B8B0-1522-88F3-9F367A122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45850B6-F222-AF67-C56F-AB22FA28B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C998A-9DE2-4BB2-91E8-615337B18859}" type="datetimeFigureOut">
              <a:rPr lang="tr-TR" smtClean="0"/>
              <a:t>25.11.2025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F79FECD-98F2-5214-5873-E973386AE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9C60F16-BDF4-BD72-6710-CA78CE146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1FD9-62D5-41CE-A9B8-6B2E1BB5ABC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9722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584051B6-468A-AE5B-427C-8882DA675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6C65F59-6CEB-EF02-45DE-A317BB733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B666C11-1AD7-EA57-A964-F5C57517C8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EC998A-9DE2-4BB2-91E8-615337B18859}" type="datetimeFigureOut">
              <a:rPr lang="tr-TR" smtClean="0"/>
              <a:t>25.11.2025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90F500D-03D0-B230-EA42-3594FE8643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A0C0BCB-2832-682A-9C8B-EF048978ED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41FD9-62D5-41CE-A9B8-6B2E1BB5ABC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0989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17EB9-C6A3-B367-9905-5453DA8B2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>
            <a:extLst>
              <a:ext uri="{FF2B5EF4-FFF2-40B4-BE49-F238E27FC236}">
                <a16:creationId xmlns:a16="http://schemas.microsoft.com/office/drawing/2014/main" id="{7CDE559C-EAF5-2A2F-A186-3BA531E39EA8}"/>
              </a:ext>
            </a:extLst>
          </p:cNvPr>
          <p:cNvSpPr txBox="1"/>
          <p:nvPr/>
        </p:nvSpPr>
        <p:spPr>
          <a:xfrm>
            <a:off x="2167246" y="2996684"/>
            <a:ext cx="737894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000" b="1" dirty="0">
                <a:solidFill>
                  <a:srgbClr val="BA470A"/>
                </a:solidFill>
                <a:latin typeface="Consolas" panose="020B0609020204030204" pitchFamily="49" charset="0"/>
              </a:rPr>
              <a:t>BIL416 – </a:t>
            </a:r>
            <a:r>
              <a:rPr lang="tr-TR" sz="3000" b="1" dirty="0" err="1">
                <a:solidFill>
                  <a:srgbClr val="BA470A"/>
                </a:solidFill>
                <a:latin typeface="Consolas" panose="020B0609020204030204" pitchFamily="49" charset="0"/>
              </a:rPr>
              <a:t>Metasezgisel</a:t>
            </a:r>
            <a:r>
              <a:rPr lang="tr-TR" sz="3000" b="1" dirty="0">
                <a:solidFill>
                  <a:srgbClr val="BA470A"/>
                </a:solidFill>
                <a:latin typeface="Consolas" panose="020B0609020204030204" pitchFamily="49" charset="0"/>
              </a:rPr>
              <a:t> Algoritmalar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2D2B9F7A-7E6B-789E-13C9-CB3BF6490A23}"/>
              </a:ext>
            </a:extLst>
          </p:cNvPr>
          <p:cNvSpPr txBox="1"/>
          <p:nvPr/>
        </p:nvSpPr>
        <p:spPr>
          <a:xfrm>
            <a:off x="3111849" y="1497296"/>
            <a:ext cx="5968301" cy="707886"/>
          </a:xfrm>
          <a:prstGeom prst="rect">
            <a:avLst/>
          </a:prstGeom>
          <a:noFill/>
          <a:ln>
            <a:solidFill>
              <a:srgbClr val="BA470A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tr-TR" sz="2000" dirty="0">
                <a:latin typeface="Consolas" panose="020B0609020204030204" pitchFamily="49" charset="0"/>
              </a:rPr>
              <a:t>Amasya Üniversitesi Mühendislik Fakültesi</a:t>
            </a:r>
          </a:p>
          <a:p>
            <a:pPr algn="ctr"/>
            <a:r>
              <a:rPr lang="tr-TR" sz="2000" dirty="0">
                <a:latin typeface="Consolas" panose="020B0609020204030204" pitchFamily="49" charset="0"/>
              </a:rPr>
              <a:t>Bilgisayar Mühendisliği Bölümü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7AA52E2E-C829-5BCB-61D4-03C02C603B70}"/>
              </a:ext>
            </a:extLst>
          </p:cNvPr>
          <p:cNvSpPr txBox="1"/>
          <p:nvPr/>
        </p:nvSpPr>
        <p:spPr>
          <a:xfrm>
            <a:off x="4626277" y="3816742"/>
            <a:ext cx="25122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500" dirty="0">
                <a:solidFill>
                  <a:srgbClr val="BA470A"/>
                </a:solidFill>
                <a:latin typeface="Consolas" panose="020B0609020204030204" pitchFamily="49" charset="0"/>
              </a:rPr>
              <a:t>Hafta 7</a:t>
            </a:r>
          </a:p>
          <a:p>
            <a:pPr algn="ctr"/>
            <a:r>
              <a:rPr lang="tr-TR" sz="1500" b="1" dirty="0" err="1">
                <a:solidFill>
                  <a:srgbClr val="BA470A"/>
                </a:solidFill>
                <a:latin typeface="Consolas" panose="020B0609020204030204" pitchFamily="49" charset="0"/>
              </a:rPr>
              <a:t>Benchmark</a:t>
            </a:r>
            <a:r>
              <a:rPr lang="tr-TR" sz="1500" b="1" dirty="0">
                <a:solidFill>
                  <a:srgbClr val="BA470A"/>
                </a:solidFill>
                <a:latin typeface="Consolas" panose="020B0609020204030204" pitchFamily="49" charset="0"/>
              </a:rPr>
              <a:t> Test Setleri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783C7FC2-223A-8CB8-2B89-C8604641B8C8}"/>
              </a:ext>
            </a:extLst>
          </p:cNvPr>
          <p:cNvSpPr txBox="1"/>
          <p:nvPr/>
        </p:nvSpPr>
        <p:spPr>
          <a:xfrm>
            <a:off x="4353747" y="4900631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dirty="0">
                <a:latin typeface="Consolas" panose="020B0609020204030204" pitchFamily="49" charset="0"/>
              </a:rPr>
              <a:t>Dr. Funda KUTLU ONAY</a:t>
            </a:r>
          </a:p>
        </p:txBody>
      </p:sp>
      <p:pic>
        <p:nvPicPr>
          <p:cNvPr id="4100" name="Picture 4" descr="Labirent arka plan">
            <a:extLst>
              <a:ext uri="{FF2B5EF4-FFF2-40B4-BE49-F238E27FC236}">
                <a16:creationId xmlns:a16="http://schemas.microsoft.com/office/drawing/2014/main" id="{6CEDB3C2-B72E-4482-8254-39532BDE13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>
            <a:off x="0" y="5537675"/>
            <a:ext cx="4762500" cy="132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Labirent arka plan">
            <a:extLst>
              <a:ext uri="{FF2B5EF4-FFF2-40B4-BE49-F238E27FC236}">
                <a16:creationId xmlns:a16="http://schemas.microsoft.com/office/drawing/2014/main" id="{2B4A7B58-4FF0-5672-A0CD-1A84776B9E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>
            <a:off x="4758051" y="5537675"/>
            <a:ext cx="4762500" cy="132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Labirent arka plan">
            <a:extLst>
              <a:ext uri="{FF2B5EF4-FFF2-40B4-BE49-F238E27FC236}">
                <a16:creationId xmlns:a16="http://schemas.microsoft.com/office/drawing/2014/main" id="{80320894-89ED-4B91-25CF-CBE1510BC9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 r="43813"/>
          <a:stretch/>
        </p:blipFill>
        <p:spPr bwMode="auto">
          <a:xfrm>
            <a:off x="9516102" y="5537675"/>
            <a:ext cx="2675898" cy="132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066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5BAB2-1F40-C15B-DBAA-C25CEB9B4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B0C66E0E-4CCC-67BF-1A13-395362B956E0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 err="1">
                <a:latin typeface="Consolas" panose="020B0609020204030204" pitchFamily="49" charset="0"/>
              </a:rPr>
              <a:t>Benchmark</a:t>
            </a:r>
            <a:r>
              <a:rPr lang="tr-TR" sz="3000" b="1" dirty="0">
                <a:latin typeface="Consolas" panose="020B0609020204030204" pitchFamily="49" charset="0"/>
              </a:rPr>
              <a:t> nedir?</a:t>
            </a:r>
          </a:p>
        </p:txBody>
      </p:sp>
      <p:pic>
        <p:nvPicPr>
          <p:cNvPr id="2" name="Picture 4" descr="Labirent arka plan">
            <a:extLst>
              <a:ext uri="{FF2B5EF4-FFF2-40B4-BE49-F238E27FC236}">
                <a16:creationId xmlns:a16="http://schemas.microsoft.com/office/drawing/2014/main" id="{3F21AC6B-DE3B-D57B-AA24-2975C68C83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>
            <a:off x="-1186238" y="1176785"/>
            <a:ext cx="3282497" cy="91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Labirent arka plan">
            <a:extLst>
              <a:ext uri="{FF2B5EF4-FFF2-40B4-BE49-F238E27FC236}">
                <a16:creationId xmlns:a16="http://schemas.microsoft.com/office/drawing/2014/main" id="{75210DFE-82F8-65B8-CD62-80509CDB7B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 flipV="1">
            <a:off x="-1186240" y="4459281"/>
            <a:ext cx="3282497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abirent arka plan">
            <a:extLst>
              <a:ext uri="{FF2B5EF4-FFF2-40B4-BE49-F238E27FC236}">
                <a16:creationId xmlns:a16="http://schemas.microsoft.com/office/drawing/2014/main" id="{5F0CE4CD-6678-F402-6944-47CA78BE57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 r="90757"/>
          <a:stretch/>
        </p:blipFill>
        <p:spPr bwMode="auto">
          <a:xfrm rot="5400000">
            <a:off x="303318" y="6251304"/>
            <a:ext cx="303374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4AFE1793-3B9D-0D1F-BC8B-BEF1B1BE7B34}"/>
              </a:ext>
            </a:extLst>
          </p:cNvPr>
          <p:cNvSpPr txBox="1"/>
          <p:nvPr/>
        </p:nvSpPr>
        <p:spPr>
          <a:xfrm>
            <a:off x="1164349" y="884915"/>
            <a:ext cx="109139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Consolas" panose="020B0609020204030204" pitchFamily="49" charset="0"/>
              </a:rPr>
              <a:t>Meta-sezgisel algoritmalar genellikle </a:t>
            </a:r>
            <a:r>
              <a:rPr lang="tr-TR" b="1" dirty="0">
                <a:latin typeface="Consolas" panose="020B0609020204030204" pitchFamily="49" charset="0"/>
              </a:rPr>
              <a:t>genel amaçlı arama araçlarıdır</a:t>
            </a:r>
            <a:r>
              <a:rPr lang="tr-TR" dirty="0">
                <a:latin typeface="Consolas" panose="020B0609020204030204" pitchFamily="49" charset="0"/>
              </a:rPr>
              <a:t>. </a:t>
            </a:r>
          </a:p>
          <a:p>
            <a:r>
              <a:rPr lang="tr-TR" dirty="0">
                <a:latin typeface="Consolas" panose="020B0609020204030204" pitchFamily="49" charset="0"/>
              </a:rPr>
              <a:t>Yani belirli bir problem için özel türetilmiş değillerdir. Bu yüzden:</a:t>
            </a:r>
          </a:p>
          <a:p>
            <a:endParaRPr lang="tr-TR" dirty="0">
              <a:latin typeface="Consolas" panose="020B0609020204030204" pitchFamily="49" charset="0"/>
            </a:endParaRPr>
          </a:p>
          <a:p>
            <a:r>
              <a:rPr lang="tr-TR" dirty="0">
                <a:latin typeface="Consolas" panose="020B0609020204030204" pitchFamily="49" charset="0"/>
              </a:rPr>
              <a:t>“Bu algoritma </a:t>
            </a:r>
            <a:r>
              <a:rPr lang="tr-TR" b="1" dirty="0">
                <a:latin typeface="Consolas" panose="020B0609020204030204" pitchFamily="49" charset="0"/>
              </a:rPr>
              <a:t>genel olarak</a:t>
            </a:r>
            <a:r>
              <a:rPr lang="tr-TR" dirty="0">
                <a:latin typeface="Consolas" panose="020B0609020204030204" pitchFamily="49" charset="0"/>
              </a:rPr>
              <a:t> iyi mi?”</a:t>
            </a:r>
          </a:p>
          <a:p>
            <a:r>
              <a:rPr lang="tr-TR" dirty="0">
                <a:latin typeface="Consolas" panose="020B0609020204030204" pitchFamily="49" charset="0"/>
              </a:rPr>
              <a:t>“Keşif–sömürü dengesini gerçekten doğru kurabiliyor mu?”</a:t>
            </a:r>
          </a:p>
          <a:p>
            <a:r>
              <a:rPr lang="tr-TR" dirty="0">
                <a:latin typeface="Consolas" panose="020B0609020204030204" pitchFamily="49" charset="0"/>
              </a:rPr>
              <a:t>“Diğer algoritmalara göre nerede güçlü, nerede zayıf?”</a:t>
            </a:r>
          </a:p>
          <a:p>
            <a:endParaRPr lang="tr-TR" dirty="0">
              <a:latin typeface="Consolas" panose="020B0609020204030204" pitchFamily="49" charset="0"/>
            </a:endParaRPr>
          </a:p>
          <a:p>
            <a:r>
              <a:rPr lang="tr-TR" dirty="0">
                <a:latin typeface="Consolas" panose="020B0609020204030204" pitchFamily="49" charset="0"/>
              </a:rPr>
              <a:t>sorularını yanıtlamak için, herkesin bildiği ve literatürde ortak kullanılan </a:t>
            </a:r>
            <a:r>
              <a:rPr lang="tr-TR" b="1" dirty="0">
                <a:latin typeface="Consolas" panose="020B0609020204030204" pitchFamily="49" charset="0"/>
              </a:rPr>
              <a:t>standart test fonksiyonlarına</a:t>
            </a:r>
            <a:r>
              <a:rPr lang="tr-TR" dirty="0">
                <a:latin typeface="Consolas" panose="020B0609020204030204" pitchFamily="49" charset="0"/>
              </a:rPr>
              <a:t> (</a:t>
            </a:r>
            <a:r>
              <a:rPr lang="tr-TR" dirty="0" err="1">
                <a:latin typeface="Consolas" panose="020B0609020204030204" pitchFamily="49" charset="0"/>
              </a:rPr>
              <a:t>benchmark</a:t>
            </a:r>
            <a:r>
              <a:rPr lang="tr-TR" dirty="0">
                <a:latin typeface="Consolas" panose="020B0609020204030204" pitchFamily="49" charset="0"/>
              </a:rPr>
              <a:t> fonksiyonları) ihtiyaç duyulur.</a:t>
            </a:r>
          </a:p>
          <a:p>
            <a:endParaRPr lang="tr-TR" dirty="0">
              <a:latin typeface="Consolas" panose="020B0609020204030204" pitchFamily="49" charset="0"/>
            </a:endParaRPr>
          </a:p>
          <a:p>
            <a:r>
              <a:rPr lang="tr-TR" b="1" i="1" dirty="0" err="1">
                <a:latin typeface="Consolas" panose="020B0609020204030204" pitchFamily="49" charset="0"/>
              </a:rPr>
              <a:t>Benchmark</a:t>
            </a:r>
            <a:r>
              <a:rPr lang="tr-TR" b="1" i="1" dirty="0">
                <a:latin typeface="Consolas" panose="020B0609020204030204" pitchFamily="49" charset="0"/>
              </a:rPr>
              <a:t> test </a:t>
            </a:r>
            <a:r>
              <a:rPr lang="tr-TR" b="1" i="1" dirty="0" err="1">
                <a:latin typeface="Consolas" panose="020B0609020204030204" pitchFamily="49" charset="0"/>
              </a:rPr>
              <a:t>suite</a:t>
            </a:r>
            <a:r>
              <a:rPr lang="tr-TR" b="1" i="1" dirty="0">
                <a:latin typeface="Consolas" panose="020B0609020204030204" pitchFamily="49" charset="0"/>
              </a:rPr>
              <a:t> (test takımı)</a:t>
            </a:r>
            <a:r>
              <a:rPr lang="tr-TR" i="1" dirty="0">
                <a:latin typeface="Consolas" panose="020B0609020204030204" pitchFamily="49" charset="0"/>
              </a:rPr>
              <a:t>:</a:t>
            </a:r>
            <a:br>
              <a:rPr lang="tr-TR" dirty="0">
                <a:latin typeface="Consolas" panose="020B0609020204030204" pitchFamily="49" charset="0"/>
              </a:rPr>
            </a:br>
            <a:r>
              <a:rPr lang="tr-TR" dirty="0">
                <a:latin typeface="Consolas" panose="020B0609020204030204" pitchFamily="49" charset="0"/>
              </a:rPr>
              <a:t>Belirli sayıda test fonksiyonundan oluşan, genellikle bir makale ya da yarışma tarafından önerilmiş </a:t>
            </a:r>
            <a:r>
              <a:rPr lang="tr-TR" b="1" dirty="0">
                <a:latin typeface="Consolas" panose="020B0609020204030204" pitchFamily="49" charset="0"/>
              </a:rPr>
              <a:t>standart fonksiyonlar setidir</a:t>
            </a:r>
            <a:r>
              <a:rPr lang="tr-TR" dirty="0">
                <a:latin typeface="Consolas" panose="020B0609020204030204" pitchFamily="49" charset="0"/>
              </a:rPr>
              <a:t> (örneğin CEC 2017, CEC 2019 fonksiyon takımları gibi). </a:t>
            </a:r>
          </a:p>
          <a:p>
            <a:endParaRPr lang="tr-TR" dirty="0">
              <a:latin typeface="Consolas" panose="020B0609020204030204" pitchFamily="49" charset="0"/>
            </a:endParaRPr>
          </a:p>
          <a:p>
            <a:r>
              <a:rPr lang="tr-TR" dirty="0">
                <a:latin typeface="Consolas" panose="020B0609020204030204" pitchFamily="49" charset="0"/>
              </a:rPr>
              <a:t>Amaç, algoritmaların: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onsolas" panose="020B0609020204030204" pitchFamily="49" charset="0"/>
              </a:rPr>
              <a:t>Farklı </a:t>
            </a:r>
            <a:r>
              <a:rPr lang="tr-TR" b="1" dirty="0">
                <a:latin typeface="Consolas" panose="020B0609020204030204" pitchFamily="49" charset="0"/>
              </a:rPr>
              <a:t>peyzaj tiplerinde</a:t>
            </a:r>
            <a:r>
              <a:rPr lang="tr-TR" dirty="0">
                <a:latin typeface="Consolas" panose="020B0609020204030204" pitchFamily="49" charset="0"/>
              </a:rPr>
              <a:t> (</a:t>
            </a:r>
            <a:r>
              <a:rPr lang="tr-TR" dirty="0" err="1">
                <a:latin typeface="Consolas" panose="020B0609020204030204" pitchFamily="49" charset="0"/>
              </a:rPr>
              <a:t>smooth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dirty="0" err="1">
                <a:latin typeface="Consolas" panose="020B0609020204030204" pitchFamily="49" charset="0"/>
              </a:rPr>
              <a:t>rugged</a:t>
            </a:r>
            <a:r>
              <a:rPr lang="tr-TR" dirty="0">
                <a:latin typeface="Consolas" panose="020B0609020204030204" pitchFamily="49" charset="0"/>
              </a:rPr>
              <a:t>, multimodal, yüksek boyutlu…)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atin typeface="Consolas" panose="020B0609020204030204" pitchFamily="49" charset="0"/>
              </a:rPr>
              <a:t>Farklı </a:t>
            </a:r>
            <a:r>
              <a:rPr lang="tr-TR" b="1" dirty="0">
                <a:latin typeface="Consolas" panose="020B0609020204030204" pitchFamily="49" charset="0"/>
              </a:rPr>
              <a:t>zorluk seviyelerinde</a:t>
            </a:r>
            <a:endParaRPr lang="tr-TR" dirty="0">
              <a:latin typeface="Consolas" panose="020B0609020204030204" pitchFamily="49" charset="0"/>
            </a:endParaRPr>
          </a:p>
          <a:p>
            <a:r>
              <a:rPr lang="tr-TR" dirty="0">
                <a:latin typeface="Consolas" panose="020B0609020204030204" pitchFamily="49" charset="0"/>
              </a:rPr>
              <a:t>Aynı koşullarda, objektif bir şekilde kıyaslanabilmesini sağlamak.</a:t>
            </a:r>
          </a:p>
          <a:p>
            <a:endParaRPr lang="tr-TR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726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EA52-BA7A-014B-BFA6-E3339C443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664AF99F-56CC-3C06-790D-446908BE1B25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 err="1">
                <a:latin typeface="Consolas" panose="020B0609020204030204" pitchFamily="49" charset="0"/>
              </a:rPr>
              <a:t>Benchmark</a:t>
            </a:r>
            <a:r>
              <a:rPr lang="tr-TR" sz="3000" b="1" dirty="0">
                <a:latin typeface="Consolas" panose="020B0609020204030204" pitchFamily="49" charset="0"/>
              </a:rPr>
              <a:t> fonksiyonlarının sınıflandırılması</a:t>
            </a:r>
          </a:p>
        </p:txBody>
      </p:sp>
      <p:pic>
        <p:nvPicPr>
          <p:cNvPr id="2" name="Picture 4" descr="Labirent arka plan">
            <a:extLst>
              <a:ext uri="{FF2B5EF4-FFF2-40B4-BE49-F238E27FC236}">
                <a16:creationId xmlns:a16="http://schemas.microsoft.com/office/drawing/2014/main" id="{F5BE1914-9482-9936-184A-C106120BC1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>
            <a:off x="-1186238" y="1176785"/>
            <a:ext cx="3282497" cy="91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Labirent arka plan">
            <a:extLst>
              <a:ext uri="{FF2B5EF4-FFF2-40B4-BE49-F238E27FC236}">
                <a16:creationId xmlns:a16="http://schemas.microsoft.com/office/drawing/2014/main" id="{90AB20B6-EA2F-836A-02A7-8BBE4BF245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 flipV="1">
            <a:off x="-1186240" y="4459281"/>
            <a:ext cx="3282497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abirent arka plan">
            <a:extLst>
              <a:ext uri="{FF2B5EF4-FFF2-40B4-BE49-F238E27FC236}">
                <a16:creationId xmlns:a16="http://schemas.microsoft.com/office/drawing/2014/main" id="{C2256F53-D248-9CB1-8B34-5899FC7824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 r="90757"/>
          <a:stretch/>
        </p:blipFill>
        <p:spPr bwMode="auto">
          <a:xfrm rot="5400000">
            <a:off x="303318" y="6251304"/>
            <a:ext cx="303374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Metin kutusu 8">
                <a:extLst>
                  <a:ext uri="{FF2B5EF4-FFF2-40B4-BE49-F238E27FC236}">
                    <a16:creationId xmlns:a16="http://schemas.microsoft.com/office/drawing/2014/main" id="{7973A9FD-C07E-8BBC-3161-0A3D1F0A212A}"/>
                  </a:ext>
                </a:extLst>
              </p:cNvPr>
              <p:cNvSpPr txBox="1"/>
              <p:nvPr/>
            </p:nvSpPr>
            <p:spPr>
              <a:xfrm>
                <a:off x="1164349" y="884915"/>
                <a:ext cx="7283615" cy="55058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r-TR" dirty="0" err="1">
                    <a:latin typeface="Consolas" panose="020B0609020204030204" pitchFamily="49" charset="0"/>
                  </a:rPr>
                  <a:t>Benchmark</a:t>
                </a:r>
                <a:r>
                  <a:rPr lang="tr-TR" dirty="0">
                    <a:latin typeface="Consolas" panose="020B0609020204030204" pitchFamily="49" charset="0"/>
                  </a:rPr>
                  <a:t> fonksiyonlarını birkaç temel özelliğe göre sınıflandırmak çok yaygın ve analizi kolaylaştırmaktadır. </a:t>
                </a:r>
              </a:p>
              <a:p>
                <a:endParaRPr lang="tr-TR" dirty="0">
                  <a:latin typeface="Consolas" panose="020B0609020204030204" pitchFamily="49" charset="0"/>
                </a:endParaRPr>
              </a:p>
              <a:p>
                <a:r>
                  <a:rPr lang="tr-TR" b="1" dirty="0" err="1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Modality</a:t>
                </a:r>
                <a:r>
                  <a:rPr lang="tr-TR" b="1" dirty="0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: </a:t>
                </a:r>
                <a:r>
                  <a:rPr lang="tr-TR" b="1" dirty="0" err="1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Unimodal</a:t>
                </a:r>
                <a:r>
                  <a:rPr lang="tr-TR" b="1" dirty="0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 </a:t>
                </a:r>
                <a:r>
                  <a:rPr lang="tr-TR" b="1" dirty="0" err="1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vs</a:t>
                </a:r>
                <a:r>
                  <a:rPr lang="tr-TR" b="1" dirty="0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 Multimodal</a:t>
                </a:r>
              </a:p>
              <a:p>
                <a:endParaRPr lang="tr-TR" b="1" dirty="0">
                  <a:latin typeface="Consolas" panose="020B0609020204030204" pitchFamily="49" charset="0"/>
                </a:endParaRPr>
              </a:p>
              <a:p>
                <a:r>
                  <a:rPr lang="tr-TR" b="1" dirty="0" err="1">
                    <a:latin typeface="Consolas" panose="020B0609020204030204" pitchFamily="49" charset="0"/>
                  </a:rPr>
                  <a:t>Unimodal</a:t>
                </a:r>
                <a:r>
                  <a:rPr lang="tr-TR" b="1" dirty="0">
                    <a:latin typeface="Consolas" panose="020B0609020204030204" pitchFamily="49" charset="0"/>
                  </a:rPr>
                  <a:t> fonksiyonlar: Sadece bir tane </a:t>
                </a:r>
                <a:r>
                  <a:rPr lang="tr-TR" i="1" dirty="0">
                    <a:latin typeface="Consolas" panose="020B0609020204030204" pitchFamily="49" charset="0"/>
                  </a:rPr>
                  <a:t>global minimum (veya maksimum) </a:t>
                </a:r>
                <a:r>
                  <a:rPr lang="tr-TR" dirty="0">
                    <a:latin typeface="Consolas" panose="020B0609020204030204" pitchFamily="49" charset="0"/>
                  </a:rPr>
                  <a:t>içerir.</a:t>
                </a:r>
              </a:p>
              <a:p>
                <a:r>
                  <a:rPr lang="tr-TR" dirty="0">
                    <a:latin typeface="Consolas" panose="020B0609020204030204" pitchFamily="49" charset="0"/>
                  </a:rPr>
                  <a:t>Lokal minimum yoktur ya da ihmal edilebilecek kadar azdır.</a:t>
                </a:r>
              </a:p>
              <a:p>
                <a:r>
                  <a:rPr lang="tr-TR" dirty="0">
                    <a:latin typeface="Consolas" panose="020B0609020204030204" pitchFamily="49" charset="0"/>
                  </a:rPr>
                  <a:t>Algoritmanın daha çok </a:t>
                </a:r>
                <a:r>
                  <a:rPr lang="tr-TR" b="1" dirty="0">
                    <a:latin typeface="Consolas" panose="020B0609020204030204" pitchFamily="49" charset="0"/>
                  </a:rPr>
                  <a:t>sömürü (</a:t>
                </a:r>
                <a:r>
                  <a:rPr lang="tr-TR" b="1" dirty="0" err="1">
                    <a:latin typeface="Consolas" panose="020B0609020204030204" pitchFamily="49" charset="0"/>
                  </a:rPr>
                  <a:t>exploitation</a:t>
                </a:r>
                <a:r>
                  <a:rPr lang="tr-TR" b="1" dirty="0">
                    <a:latin typeface="Consolas" panose="020B0609020204030204" pitchFamily="49" charset="0"/>
                  </a:rPr>
                  <a:t>)</a:t>
                </a:r>
                <a:r>
                  <a:rPr lang="tr-TR" dirty="0">
                    <a:latin typeface="Consolas" panose="020B0609020204030204" pitchFamily="49" charset="0"/>
                  </a:rPr>
                  <a:t> yeteneğini test eder; yani iyi bir çözüme yaklaşırken ince ayar yapabiliyor mu? Örneğin; :</a:t>
                </a:r>
              </a:p>
              <a:p>
                <a:r>
                  <a:rPr lang="tr-TR" b="1" dirty="0">
                    <a:latin typeface="Consolas" panose="020B0609020204030204" pitchFamily="49" charset="0"/>
                  </a:rPr>
                  <a:t>Sphere fonksiyonu</a:t>
                </a:r>
                <a:br>
                  <a:rPr lang="tr-TR" dirty="0">
                    <a:latin typeface="Consolas" panose="020B0609020204030204" pitchFamily="49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/>
                        <m:t>𝑓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𝑥</m:t>
                          </m:r>
                        </m:e>
                      </m:d>
                      <m:r>
                        <a:rPr lang="ar-AE"/>
                        <m:t>=</m:t>
                      </m:r>
                      <m:nary>
                        <m:naryPr>
                          <m:chr m:val="∑"/>
                          <m:limLoc m:val="subSup"/>
                          <m:grow m:val="on"/>
                          <m:ctrlPr>
                            <a:rPr lang="ar-AE" i="1"/>
                          </m:ctrlPr>
                        </m:naryPr>
                        <m:sub>
                          <m:r>
                            <a:rPr lang="ar-AE" i="1"/>
                            <m:t>𝑖</m:t>
                          </m:r>
                          <m:r>
                            <a:rPr lang="ar-AE"/>
                            <m:t>=</m:t>
                          </m:r>
                          <m:r>
                            <a:rPr lang="ar-AE"/>
                            <m:t>1</m:t>
                          </m:r>
                        </m:sub>
                        <m:sup>
                          <m:r>
                            <a:rPr lang="ar-AE" i="1"/>
                            <m:t>𝐷</m:t>
                          </m:r>
                        </m:sup>
                        <m:e>
                          <m:sSubSup>
                            <m:sSubSupPr>
                              <m:ctrlPr>
                                <a:rPr lang="ar-AE" i="1"/>
                              </m:ctrlPr>
                            </m:sSubSupPr>
                            <m:e>
                              <m:r>
                                <a:rPr lang="ar-AE" i="1"/>
                                <m:t>𝑥</m:t>
                              </m:r>
                            </m:e>
                            <m:sub>
                              <m:r>
                                <a:rPr lang="ar-AE" i="1"/>
                                <m:t>𝑖</m:t>
                              </m:r>
                            </m:sub>
                            <m:sup>
                              <m:r>
                                <a:rPr lang="ar-AE"/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ar-AE" dirty="0">
                  <a:latin typeface="Consolas" panose="020B0609020204030204" pitchFamily="49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tr-TR" dirty="0">
                    <a:latin typeface="Consolas" panose="020B0609020204030204" pitchFamily="49" charset="0"/>
                  </a:rPr>
                  <a:t>Çok basit ve tamamen konveks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tr-TR" dirty="0">
                    <a:latin typeface="Consolas" panose="020B0609020204030204" pitchFamily="49" charset="0"/>
                  </a:rPr>
                  <a:t>Global minimum: </a:t>
                </a:r>
                <a14:m>
                  <m:oMath xmlns:m="http://schemas.openxmlformats.org/officeDocument/2006/math">
                    <m:r>
                      <a:rPr lang="tr-TR" i="1"/>
                      <m:t>𝑓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 i="1"/>
                              <m:t>𝑥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ar-AE" i="1">
                                <a:latin typeface="Consolas" panose="020B0609020204030204" pitchFamily="49" charset="0"/>
                              </a:rPr>
                              <m:t>\</m:t>
                            </m:r>
                            <m:r>
                              <m:rPr>
                                <m:nor/>
                              </m:rPr>
                              <a:rPr lang="ar-AE" i="1">
                                <a:latin typeface="Consolas" panose="020B0609020204030204" pitchFamily="49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0</m:t>
                    </m:r>
                  </m:oMath>
                </a14:m>
                <a:r>
                  <a:rPr lang="ar-AE" dirty="0">
                    <a:latin typeface="Consolas" panose="020B0609020204030204" pitchFamily="49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 i="1"/>
                          <m:t>𝑥</m:t>
                        </m:r>
                      </m:e>
                      <m:sup>
                        <m:r>
                          <m:rPr>
                            <m:nor/>
                          </m:rPr>
                          <a:rPr lang="ar-AE" i="1">
                            <a:latin typeface="Consolas" panose="020B0609020204030204" pitchFamily="49" charset="0"/>
                          </a:rPr>
                          <m:t>\</m:t>
                        </m:r>
                        <m:r>
                          <m:rPr>
                            <m:nor/>
                          </m:rPr>
                          <a:rPr lang="ar-AE" i="1">
                            <a:latin typeface="Consolas" panose="020B0609020204030204" pitchFamily="49" charset="0"/>
                          </a:rPr>
                          <m:t>∗</m:t>
                        </m:r>
                      </m:sup>
                    </m:sSup>
                    <m:r>
                      <a:rPr lang="ar-AE"/>
                      <m:t>=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0</m:t>
                        </m:r>
                      </m:e>
                      <m:e>
                        <m:r>
                          <a:rPr lang="ar-AE"/>
                          <m:t>…</m:t>
                        </m:r>
                      </m:e>
                      <m:e>
                        <m:r>
                          <a:rPr lang="ar-AE"/>
                          <m:t>0</m:t>
                        </m:r>
                      </m:e>
                    </m:d>
                  </m:oMath>
                </a14:m>
                <a:endParaRPr lang="ar-AE" dirty="0">
                  <a:latin typeface="Consolas" panose="020B0609020204030204" pitchFamily="49" charset="0"/>
                </a:endParaRPr>
              </a:p>
              <a:p>
                <a:endParaRPr lang="tr-TR" dirty="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9" name="Metin kutusu 8">
                <a:extLst>
                  <a:ext uri="{FF2B5EF4-FFF2-40B4-BE49-F238E27FC236}">
                    <a16:creationId xmlns:a16="http://schemas.microsoft.com/office/drawing/2014/main" id="{7973A9FD-C07E-8BBC-3161-0A3D1F0A2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349" y="884915"/>
                <a:ext cx="7283615" cy="5505803"/>
              </a:xfrm>
              <a:prstGeom prst="rect">
                <a:avLst/>
              </a:prstGeom>
              <a:blipFill>
                <a:blip r:embed="rId3"/>
                <a:stretch>
                  <a:fillRect l="-669" t="-55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Zakharov Function | BenchmarkFcns">
            <a:extLst>
              <a:ext uri="{FF2B5EF4-FFF2-40B4-BE49-F238E27FC236}">
                <a16:creationId xmlns:a16="http://schemas.microsoft.com/office/drawing/2014/main" id="{71539F10-5D20-5E79-48A9-E73D66D83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102" y="4437716"/>
            <a:ext cx="2693326" cy="1953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2A3C9161-1B9B-B0BF-6C92-E0BCD990D28B}"/>
              </a:ext>
            </a:extLst>
          </p:cNvPr>
          <p:cNvSpPr txBox="1"/>
          <p:nvPr/>
        </p:nvSpPr>
        <p:spPr>
          <a:xfrm>
            <a:off x="1164349" y="6421714"/>
            <a:ext cx="9863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 err="1">
                <a:latin typeface="Consolas" panose="020B0609020204030204" pitchFamily="49" charset="0"/>
              </a:rPr>
              <a:t>Zakharov</a:t>
            </a:r>
            <a:r>
              <a:rPr lang="tr-TR" b="1" dirty="0">
                <a:latin typeface="Consolas" panose="020B0609020204030204" pitchFamily="49" charset="0"/>
              </a:rPr>
              <a:t> fonksiyonu</a:t>
            </a:r>
            <a:r>
              <a:rPr lang="tr-TR" dirty="0">
                <a:latin typeface="Consolas" panose="020B0609020204030204" pitchFamily="49" charset="0"/>
              </a:rPr>
              <a:t> (yine tek global minimum, ancak biraz daha eğri yapıda)</a:t>
            </a:r>
          </a:p>
        </p:txBody>
      </p:sp>
      <p:pic>
        <p:nvPicPr>
          <p:cNvPr id="2054" name="Picture 6" descr="Sphere Function">
            <a:extLst>
              <a:ext uri="{FF2B5EF4-FFF2-40B4-BE49-F238E27FC236}">
                <a16:creationId xmlns:a16="http://schemas.microsoft.com/office/drawing/2014/main" id="{4A1283E0-8FF9-2089-442A-B59B50B03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0478" y="2254075"/>
            <a:ext cx="2911522" cy="2183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Krumningsegenskaper">
            <a:extLst>
              <a:ext uri="{FF2B5EF4-FFF2-40B4-BE49-F238E27FC236}">
                <a16:creationId xmlns:a16="http://schemas.microsoft.com/office/drawing/2014/main" id="{E7C89FC1-2556-0264-BE19-E60BDCC19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6663" y="789684"/>
            <a:ext cx="3038901" cy="149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0343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83BD4-3AC2-B12E-D4AD-D5ED19A91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018FE150-B2B0-BD25-BE55-894BEEE36B46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 err="1">
                <a:latin typeface="Consolas" panose="020B0609020204030204" pitchFamily="49" charset="0"/>
              </a:rPr>
              <a:t>Benchmark</a:t>
            </a:r>
            <a:r>
              <a:rPr lang="tr-TR" sz="3000" b="1" dirty="0">
                <a:latin typeface="Consolas" panose="020B0609020204030204" pitchFamily="49" charset="0"/>
              </a:rPr>
              <a:t> fonksiyonlarının sınıflandırılması</a:t>
            </a:r>
          </a:p>
        </p:txBody>
      </p:sp>
      <p:pic>
        <p:nvPicPr>
          <p:cNvPr id="2" name="Picture 4" descr="Labirent arka plan">
            <a:extLst>
              <a:ext uri="{FF2B5EF4-FFF2-40B4-BE49-F238E27FC236}">
                <a16:creationId xmlns:a16="http://schemas.microsoft.com/office/drawing/2014/main" id="{5F8244B8-E5C5-3443-00F5-2748340526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>
            <a:off x="-1186238" y="1176785"/>
            <a:ext cx="3282497" cy="91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Labirent arka plan">
            <a:extLst>
              <a:ext uri="{FF2B5EF4-FFF2-40B4-BE49-F238E27FC236}">
                <a16:creationId xmlns:a16="http://schemas.microsoft.com/office/drawing/2014/main" id="{1FE22D9B-6787-DE2E-14DB-F5FA817DED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 flipV="1">
            <a:off x="-1186240" y="4459281"/>
            <a:ext cx="3282497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abirent arka plan">
            <a:extLst>
              <a:ext uri="{FF2B5EF4-FFF2-40B4-BE49-F238E27FC236}">
                <a16:creationId xmlns:a16="http://schemas.microsoft.com/office/drawing/2014/main" id="{9C61DD3D-55E3-F4A4-E8F3-21A8A7D5A3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 r="90757"/>
          <a:stretch/>
        </p:blipFill>
        <p:spPr bwMode="auto">
          <a:xfrm rot="5400000">
            <a:off x="303318" y="6251304"/>
            <a:ext cx="303374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74753D2D-D00F-1A21-AB06-5FC630E46C09}"/>
              </a:ext>
            </a:extLst>
          </p:cNvPr>
          <p:cNvSpPr txBox="1"/>
          <p:nvPr/>
        </p:nvSpPr>
        <p:spPr>
          <a:xfrm>
            <a:off x="1164349" y="884915"/>
            <a:ext cx="78977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>
                <a:latin typeface="Consolas" panose="020B0609020204030204" pitchFamily="49" charset="0"/>
              </a:rPr>
              <a:t>Multimodal fonksiyonlar</a:t>
            </a:r>
            <a:endParaRPr lang="tr-TR" dirty="0">
              <a:latin typeface="Consolas" panose="020B0609020204030204" pitchFamily="49" charset="0"/>
            </a:endParaRPr>
          </a:p>
          <a:p>
            <a:r>
              <a:rPr lang="tr-TR" dirty="0">
                <a:latin typeface="Consolas" panose="020B0609020204030204" pitchFamily="49" charset="0"/>
              </a:rPr>
              <a:t>Birden fazla </a:t>
            </a:r>
            <a:r>
              <a:rPr lang="tr-TR" b="1" dirty="0">
                <a:latin typeface="Consolas" panose="020B0609020204030204" pitchFamily="49" charset="0"/>
              </a:rPr>
              <a:t>lokal minimum</a:t>
            </a:r>
            <a:r>
              <a:rPr lang="tr-TR" dirty="0">
                <a:latin typeface="Consolas" panose="020B0609020204030204" pitchFamily="49" charset="0"/>
              </a:rPr>
              <a:t> içerir.</a:t>
            </a:r>
          </a:p>
          <a:p>
            <a:r>
              <a:rPr lang="tr-TR" dirty="0">
                <a:latin typeface="Consolas" panose="020B0609020204030204" pitchFamily="49" charset="0"/>
              </a:rPr>
              <a:t>Algoritmanın </a:t>
            </a:r>
            <a:r>
              <a:rPr lang="tr-TR" b="1" dirty="0">
                <a:latin typeface="Consolas" panose="020B0609020204030204" pitchFamily="49" charset="0"/>
              </a:rPr>
              <a:t>keşif (</a:t>
            </a:r>
            <a:r>
              <a:rPr lang="tr-TR" b="1" dirty="0" err="1">
                <a:latin typeface="Consolas" panose="020B0609020204030204" pitchFamily="49" charset="0"/>
              </a:rPr>
              <a:t>exploration</a:t>
            </a:r>
            <a:r>
              <a:rPr lang="tr-TR" b="1" dirty="0">
                <a:latin typeface="Consolas" panose="020B0609020204030204" pitchFamily="49" charset="0"/>
              </a:rPr>
              <a:t>)</a:t>
            </a:r>
            <a:r>
              <a:rPr lang="tr-TR" dirty="0">
                <a:latin typeface="Consolas" panose="020B0609020204030204" pitchFamily="49" charset="0"/>
              </a:rPr>
              <a:t> yeteneğini test eder; lokal minimumlara takılmadan global optimumu arayıp arayamadığına bakılır. Örneğin; </a:t>
            </a:r>
          </a:p>
          <a:p>
            <a:endParaRPr lang="tr-TR" dirty="0">
              <a:latin typeface="Consolas" panose="020B0609020204030204" pitchFamily="49" charset="0"/>
            </a:endParaRPr>
          </a:p>
          <a:p>
            <a:r>
              <a:rPr lang="tr-TR" b="1" dirty="0" err="1">
                <a:latin typeface="Consolas" panose="020B0609020204030204" pitchFamily="49" charset="0"/>
              </a:rPr>
              <a:t>Rastrigin</a:t>
            </a:r>
            <a:r>
              <a:rPr lang="tr-TR" b="1" dirty="0">
                <a:latin typeface="Consolas" panose="020B0609020204030204" pitchFamily="49" charset="0"/>
              </a:rPr>
              <a:t> fonksiyonu</a:t>
            </a:r>
            <a:br>
              <a:rPr lang="tr-TR" dirty="0">
                <a:latin typeface="Consolas" panose="020B0609020204030204" pitchFamily="49" charset="0"/>
              </a:rPr>
            </a:br>
            <a:r>
              <a:rPr lang="tr-TR" dirty="0">
                <a:latin typeface="Consolas" panose="020B0609020204030204" pitchFamily="49" charset="0"/>
              </a:rPr>
              <a:t>Çok sayıda simetrik lokal minimum içerir.</a:t>
            </a:r>
          </a:p>
          <a:p>
            <a:endParaRPr lang="tr-TR" dirty="0">
              <a:latin typeface="Consolas" panose="020B0609020204030204" pitchFamily="49" charset="0"/>
            </a:endParaRPr>
          </a:p>
          <a:p>
            <a:r>
              <a:rPr lang="tr-TR" b="1" dirty="0" err="1">
                <a:latin typeface="Consolas" panose="020B0609020204030204" pitchFamily="49" charset="0"/>
              </a:rPr>
              <a:t>Ackley</a:t>
            </a:r>
            <a:r>
              <a:rPr lang="tr-TR" b="1" dirty="0">
                <a:latin typeface="Consolas" panose="020B0609020204030204" pitchFamily="49" charset="0"/>
              </a:rPr>
              <a:t> fonksiyonu</a:t>
            </a:r>
            <a:br>
              <a:rPr lang="tr-TR" dirty="0">
                <a:latin typeface="Consolas" panose="020B0609020204030204" pitchFamily="49" charset="0"/>
              </a:rPr>
            </a:br>
            <a:r>
              <a:rPr lang="tr-TR" dirty="0">
                <a:latin typeface="Consolas" panose="020B0609020204030204" pitchFamily="49" charset="0"/>
              </a:rPr>
              <a:t>Ortada düz sayılabilecek bir vadi yapısı ve çevresinde birçok dalgalı bölge içerir.</a:t>
            </a:r>
          </a:p>
          <a:p>
            <a:endParaRPr lang="tr-TR" dirty="0">
              <a:latin typeface="Consolas" panose="020B0609020204030204" pitchFamily="49" charset="0"/>
            </a:endParaRPr>
          </a:p>
          <a:p>
            <a:r>
              <a:rPr lang="tr-TR" b="1" dirty="0" err="1">
                <a:latin typeface="Consolas" panose="020B0609020204030204" pitchFamily="49" charset="0"/>
              </a:rPr>
              <a:t>Schwefel</a:t>
            </a:r>
            <a:r>
              <a:rPr lang="tr-TR" b="1" dirty="0">
                <a:latin typeface="Consolas" panose="020B0609020204030204" pitchFamily="49" charset="0"/>
              </a:rPr>
              <a:t> fonksiyonu</a:t>
            </a:r>
            <a:br>
              <a:rPr lang="tr-TR" dirty="0">
                <a:latin typeface="Consolas" panose="020B0609020204030204" pitchFamily="49" charset="0"/>
              </a:rPr>
            </a:br>
            <a:r>
              <a:rPr lang="tr-TR" dirty="0">
                <a:latin typeface="Consolas" panose="020B0609020204030204" pitchFamily="49" charset="0"/>
              </a:rPr>
              <a:t>Oldukça karmaşık ve aldatıcı bir peyzaj; optimumu sınırların biraz içinde, beklenmedik bir noktadadır.</a:t>
            </a:r>
          </a:p>
          <a:p>
            <a:endParaRPr lang="tr-TR" dirty="0">
              <a:latin typeface="Consolas" panose="020B0609020204030204" pitchFamily="49" charset="0"/>
            </a:endParaRPr>
          </a:p>
          <a:p>
            <a:r>
              <a:rPr lang="tr-TR" dirty="0">
                <a:latin typeface="Consolas" panose="020B0609020204030204" pitchFamily="49" charset="0"/>
              </a:rPr>
              <a:t>Not: </a:t>
            </a:r>
            <a:r>
              <a:rPr lang="tr-TR" b="1" dirty="0" err="1">
                <a:latin typeface="Consolas" panose="020B0609020204030204" pitchFamily="49" charset="0"/>
              </a:rPr>
              <a:t>Rosenbrock</a:t>
            </a:r>
            <a:r>
              <a:rPr lang="tr-TR" dirty="0">
                <a:latin typeface="Consolas" panose="020B0609020204030204" pitchFamily="49" charset="0"/>
              </a:rPr>
              <a:t> tek global minimuma sahip olmasına rağmen çok dar bir vadide olduğundan, bazı yazarlar bunu zor bir “</a:t>
            </a:r>
            <a:r>
              <a:rPr lang="tr-TR" dirty="0" err="1">
                <a:latin typeface="Consolas" panose="020B0609020204030204" pitchFamily="49" charset="0"/>
              </a:rPr>
              <a:t>unimodal</a:t>
            </a:r>
            <a:r>
              <a:rPr lang="tr-TR" dirty="0">
                <a:latin typeface="Consolas" panose="020B0609020204030204" pitchFamily="49" charset="0"/>
              </a:rPr>
              <a:t>/</a:t>
            </a:r>
            <a:r>
              <a:rPr lang="tr-TR" dirty="0" err="1">
                <a:latin typeface="Consolas" panose="020B0609020204030204" pitchFamily="49" charset="0"/>
              </a:rPr>
              <a:t>valley</a:t>
            </a:r>
            <a:r>
              <a:rPr lang="tr-TR" dirty="0">
                <a:latin typeface="Consolas" panose="020B0609020204030204" pitchFamily="49" charset="0"/>
              </a:rPr>
              <a:t>” fonksiyonu olarak özellikle ayrı sınıflar.</a:t>
            </a:r>
          </a:p>
        </p:txBody>
      </p:sp>
      <p:pic>
        <p:nvPicPr>
          <p:cNvPr id="3074" name="Picture 2" descr="Rastrigin function - Wikipedia">
            <a:extLst>
              <a:ext uri="{FF2B5EF4-FFF2-40B4-BE49-F238E27FC236}">
                <a16:creationId xmlns:a16="http://schemas.microsoft.com/office/drawing/2014/main" id="{5F7B6533-56A3-6197-43EF-10DAAB8D2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100" y="884915"/>
            <a:ext cx="3138985" cy="1719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ckley Function">
            <a:extLst>
              <a:ext uri="{FF2B5EF4-FFF2-40B4-BE49-F238E27FC236}">
                <a16:creationId xmlns:a16="http://schemas.microsoft.com/office/drawing/2014/main" id="{AA03E9CF-8F0C-0C6E-377C-F19C70FBA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964" y="2560547"/>
            <a:ext cx="2830270" cy="2122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Schwefel Function">
            <a:extLst>
              <a:ext uri="{FF2B5EF4-FFF2-40B4-BE49-F238E27FC236}">
                <a16:creationId xmlns:a16="http://schemas.microsoft.com/office/drawing/2014/main" id="{4157B0D0-7F76-B0E5-5D36-AC9F313BD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9874" y="4639386"/>
            <a:ext cx="2958152" cy="2218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7256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488DF-6893-DF84-A717-B22365C09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D7848CEF-830D-4BD8-945C-2A0941961CEE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 err="1">
                <a:latin typeface="Consolas" panose="020B0609020204030204" pitchFamily="49" charset="0"/>
              </a:rPr>
              <a:t>Benchmark</a:t>
            </a:r>
            <a:r>
              <a:rPr lang="tr-TR" sz="3000" b="1" dirty="0">
                <a:latin typeface="Consolas" panose="020B0609020204030204" pitchFamily="49" charset="0"/>
              </a:rPr>
              <a:t> fonksiyonlarının sınıflandırılması</a:t>
            </a:r>
          </a:p>
        </p:txBody>
      </p:sp>
      <p:pic>
        <p:nvPicPr>
          <p:cNvPr id="2" name="Picture 4" descr="Labirent arka plan">
            <a:extLst>
              <a:ext uri="{FF2B5EF4-FFF2-40B4-BE49-F238E27FC236}">
                <a16:creationId xmlns:a16="http://schemas.microsoft.com/office/drawing/2014/main" id="{CC358D43-F569-4229-DD02-5A6DF082DD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>
            <a:off x="-1186238" y="1176785"/>
            <a:ext cx="3282497" cy="91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Labirent arka plan">
            <a:extLst>
              <a:ext uri="{FF2B5EF4-FFF2-40B4-BE49-F238E27FC236}">
                <a16:creationId xmlns:a16="http://schemas.microsoft.com/office/drawing/2014/main" id="{0A24AB7F-AB63-D15F-BC01-F49568854B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 flipV="1">
            <a:off x="-1186240" y="4459281"/>
            <a:ext cx="3282497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abirent arka plan">
            <a:extLst>
              <a:ext uri="{FF2B5EF4-FFF2-40B4-BE49-F238E27FC236}">
                <a16:creationId xmlns:a16="http://schemas.microsoft.com/office/drawing/2014/main" id="{CCE15333-4586-3C1E-FCDC-6B02C6D5A7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 r="90757"/>
          <a:stretch/>
        </p:blipFill>
        <p:spPr bwMode="auto">
          <a:xfrm rot="5400000">
            <a:off x="303318" y="6251304"/>
            <a:ext cx="303374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Metin kutusu 8">
                <a:extLst>
                  <a:ext uri="{FF2B5EF4-FFF2-40B4-BE49-F238E27FC236}">
                    <a16:creationId xmlns:a16="http://schemas.microsoft.com/office/drawing/2014/main" id="{5C086E49-D51A-CD50-968C-8F9314493306}"/>
                  </a:ext>
                </a:extLst>
              </p:cNvPr>
              <p:cNvSpPr txBox="1"/>
              <p:nvPr/>
            </p:nvSpPr>
            <p:spPr>
              <a:xfrm>
                <a:off x="1164349" y="884915"/>
                <a:ext cx="10913920" cy="48013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r-TR" b="1" dirty="0" err="1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Separability</a:t>
                </a:r>
                <a:r>
                  <a:rPr lang="tr-TR" b="1" dirty="0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: Ayrılabilir </a:t>
                </a:r>
                <a:r>
                  <a:rPr lang="tr-TR" b="1" dirty="0" err="1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vs</a:t>
                </a:r>
                <a:r>
                  <a:rPr lang="tr-TR" b="1" dirty="0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 Ayrılamaz (</a:t>
                </a:r>
                <a:r>
                  <a:rPr lang="tr-TR" b="1" dirty="0" err="1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Separable</a:t>
                </a:r>
                <a:r>
                  <a:rPr lang="tr-TR" b="1" dirty="0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 / </a:t>
                </a:r>
                <a:r>
                  <a:rPr lang="tr-TR" b="1" dirty="0" err="1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Non-separable</a:t>
                </a:r>
                <a:r>
                  <a:rPr lang="tr-TR" b="1" dirty="0">
                    <a:highlight>
                      <a:srgbClr val="FFFF00"/>
                    </a:highlight>
                    <a:latin typeface="Consolas" panose="020B0609020204030204" pitchFamily="49" charset="0"/>
                  </a:rPr>
                  <a:t>)</a:t>
                </a:r>
              </a:p>
              <a:p>
                <a:endParaRPr lang="tr-TR" b="1" dirty="0">
                  <a:latin typeface="Consolas" panose="020B0609020204030204" pitchFamily="49" charset="0"/>
                </a:endParaRPr>
              </a:p>
              <a:p>
                <a:r>
                  <a:rPr lang="tr-TR" b="1" dirty="0" err="1">
                    <a:latin typeface="Consolas" panose="020B0609020204030204" pitchFamily="49" charset="0"/>
                  </a:rPr>
                  <a:t>Separable</a:t>
                </a:r>
                <a:r>
                  <a:rPr lang="tr-TR" b="1" dirty="0">
                    <a:latin typeface="Consolas" panose="020B0609020204030204" pitchFamily="49" charset="0"/>
                  </a:rPr>
                  <a:t> (ayrılabilir) fonksiyonlar </a:t>
                </a:r>
              </a:p>
              <a:p>
                <a:endParaRPr lang="tr-TR" b="1" dirty="0">
                  <a:latin typeface="Consolas" panose="020B0609020204030204" pitchFamily="49" charset="0"/>
                </a:endParaRPr>
              </a:p>
              <a:p>
                <a:r>
                  <a:rPr lang="tr-TR" dirty="0">
                    <a:latin typeface="Consolas" panose="020B0609020204030204" pitchFamily="49" charset="0"/>
                  </a:rPr>
                  <a:t>Bir fonksiyon </a:t>
                </a:r>
                <a:r>
                  <a:rPr lang="tr-TR" b="1" dirty="0" err="1">
                    <a:latin typeface="Consolas" panose="020B0609020204030204" pitchFamily="49" charset="0"/>
                  </a:rPr>
                  <a:t>separable</a:t>
                </a:r>
                <a:r>
                  <a:rPr lang="tr-TR" b="1" dirty="0">
                    <a:latin typeface="Consolas" panose="020B0609020204030204" pitchFamily="49" charset="0"/>
                  </a:rPr>
                  <a:t> (ayrılabilir)</a:t>
                </a:r>
                <a:r>
                  <a:rPr lang="tr-TR" dirty="0">
                    <a:latin typeface="Consolas" panose="020B0609020204030204" pitchFamily="49" charset="0"/>
                  </a:rPr>
                  <a:t> ise, kabaca şu anlama geliyor:</a:t>
                </a:r>
              </a:p>
              <a:p>
                <a:r>
                  <a:rPr lang="tr-TR" dirty="0">
                    <a:latin typeface="Consolas" panose="020B0609020204030204" pitchFamily="49" charset="0"/>
                  </a:rPr>
                  <a:t>Her değişkeni </a:t>
                </a:r>
                <a:r>
                  <a:rPr lang="tr-TR" b="1" dirty="0">
                    <a:latin typeface="Consolas" panose="020B0609020204030204" pitchFamily="49" charset="0"/>
                  </a:rPr>
                  <a:t>diğerlerinden bağımsız</a:t>
                </a:r>
                <a:r>
                  <a:rPr lang="tr-TR" dirty="0">
                    <a:latin typeface="Consolas" panose="020B0609020204030204" pitchFamily="49" charset="0"/>
                  </a:rPr>
                  <a:t> olarak optimize edebilirsin.</a:t>
                </a:r>
              </a:p>
              <a:p>
                <a:r>
                  <a:rPr lang="tr-TR" dirty="0">
                    <a:latin typeface="Consolas" panose="020B0609020204030204" pitchFamily="49" charset="0"/>
                  </a:rPr>
                  <a:t>Yani; </a:t>
                </a:r>
              </a:p>
              <a:p>
                <a:endParaRPr lang="tr-TR" dirty="0">
                  <a:latin typeface="Consolas" panose="020B0609020204030204" pitchFamily="49" charset="0"/>
                </a:endParaRPr>
              </a:p>
              <a:p>
                <a:r>
                  <a:rPr lang="tr-TR" dirty="0">
                    <a:latin typeface="Consolas" panose="020B0609020204030204" pitchFamily="49" charset="0"/>
                  </a:rPr>
                  <a:t>Bir </a:t>
                </a:r>
                <a14:m>
                  <m:oMath xmlns:m="http://schemas.openxmlformats.org/officeDocument/2006/math">
                    <m:r>
                      <a:rPr lang="tr-TR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𝑥</m:t>
                            </m:r>
                          </m:e>
                          <m:sub>
                            <m:r>
                              <a:rPr lang="ar-AE"/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𝑥</m:t>
                            </m:r>
                          </m:e>
                          <m:sub>
                            <m:r>
                              <a:rPr lang="ar-AE"/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/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𝑥</m:t>
                            </m:r>
                          </m:e>
                          <m:sub>
                            <m:r>
                              <a:rPr lang="ar-AE" i="1"/>
                              <m:t>𝐷</m:t>
                            </m:r>
                          </m:sub>
                        </m:sSub>
                      </m:e>
                    </m:d>
                  </m:oMath>
                </a14:m>
                <a:r>
                  <a:rPr lang="tr-TR" dirty="0">
                    <a:latin typeface="Consolas" panose="020B0609020204030204" pitchFamily="49" charset="0"/>
                  </a:rPr>
                  <a:t>fonksiyonu, eğer şu şekilde yazılabiliyorsa </a:t>
                </a:r>
                <a:r>
                  <a:rPr lang="tr-TR" b="1" dirty="0" err="1">
                    <a:latin typeface="Consolas" panose="020B0609020204030204" pitchFamily="49" charset="0"/>
                  </a:rPr>
                  <a:t>separable</a:t>
                </a:r>
                <a:r>
                  <a:rPr lang="tr-TR" dirty="0" err="1">
                    <a:latin typeface="Consolas" panose="020B0609020204030204" pitchFamily="49" charset="0"/>
                  </a:rPr>
                  <a:t>’dir</a:t>
                </a:r>
                <a:r>
                  <a:rPr lang="tr-TR" dirty="0">
                    <a:latin typeface="Consolas" panose="020B0609020204030204" pitchFamily="49" charset="0"/>
                  </a:rPr>
                  <a:t>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/>
                        <m:t>𝑓</m:t>
                      </m:r>
                      <m:d>
                        <m:dPr>
                          <m:sepChr m:val=","/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𝑥</m:t>
                              </m:r>
                            </m:e>
                            <m:sub>
                              <m:r>
                                <a:rPr lang="ar-AE"/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𝑥</m:t>
                              </m:r>
                            </m:e>
                            <m:sub>
                              <m:r>
                                <a:rPr lang="ar-AE"/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ar-AE"/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𝑥</m:t>
                              </m:r>
                            </m:e>
                            <m:sub>
                              <m:r>
                                <a:rPr lang="ar-AE" i="1"/>
                                <m:t>𝐷</m:t>
                              </m:r>
                            </m:sub>
                          </m:sSub>
                        </m:e>
                      </m:d>
                      <m:r>
                        <a:rPr lang="ar-AE"/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𝑓</m:t>
                          </m:r>
                        </m:e>
                        <m:sub>
                          <m:r>
                            <a:rPr lang="ar-AE"/>
                            <m:t>1</m:t>
                          </m:r>
                        </m:sub>
                      </m:sSub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𝑥</m:t>
                              </m:r>
                            </m:e>
                            <m:sub>
                              <m:r>
                                <a:rPr lang="ar-AE"/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/>
                        <m:t>+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𝑓</m:t>
                          </m:r>
                        </m:e>
                        <m:sub>
                          <m:r>
                            <a:rPr lang="ar-AE"/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𝑥</m:t>
                              </m:r>
                            </m:e>
                            <m:sub>
                              <m:r>
                                <a:rPr lang="ar-AE"/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/>
                        <m:t>+⋯+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𝑓</m:t>
                          </m:r>
                        </m:e>
                        <m:sub>
                          <m:r>
                            <a:rPr lang="ar-AE" i="1"/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𝑥</m:t>
                              </m:r>
                            </m:e>
                            <m:sub>
                              <m:r>
                                <a:rPr lang="ar-AE" i="1"/>
                                <m:t>𝐷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>
                  <a:latin typeface="Consolas" panose="020B0609020204030204" pitchFamily="49" charset="0"/>
                </a:endParaRPr>
              </a:p>
              <a:p>
                <a:r>
                  <a:rPr lang="tr-TR" dirty="0">
                    <a:latin typeface="Consolas" panose="020B0609020204030204" pitchFamily="49" charset="0"/>
                  </a:rPr>
                  <a:t>Yani:</a:t>
                </a:r>
              </a:p>
              <a:p>
                <a:r>
                  <a:rPr lang="tr-TR" dirty="0">
                    <a:latin typeface="Consolas" panose="020B0609020204030204" pitchFamily="49" charset="0"/>
                  </a:rPr>
                  <a:t>Her bir boyut için </a:t>
                </a:r>
                <a:r>
                  <a:rPr lang="tr-TR" b="1" dirty="0">
                    <a:latin typeface="Consolas" panose="020B0609020204030204" pitchFamily="49" charset="0"/>
                  </a:rPr>
                  <a:t>ayrı bir fonksiyon</a:t>
                </a:r>
                <a:r>
                  <a:rPr lang="tr-TR" dirty="0">
                    <a:latin typeface="Consolas" panose="020B0609020204030204" pitchFamily="49" charset="0"/>
                  </a:rPr>
                  <a:t> var.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𝑥</m:t>
                        </m:r>
                      </m:e>
                      <m:sub>
                        <m:r>
                          <a:rPr lang="ar-AE"/>
                          <m:t>1</m:t>
                        </m:r>
                      </m:sub>
                    </m:sSub>
                  </m:oMath>
                </a14:m>
                <a:r>
                  <a:rPr lang="tr-TR" dirty="0">
                    <a:latin typeface="Consolas" panose="020B0609020204030204" pitchFamily="49" charset="0"/>
                  </a:rPr>
                  <a:t>ile ilgili terimler,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𝑥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latin typeface="Consolas" panose="020B0609020204030204" pitchFamily="49" charset="0"/>
                  </a:rPr>
                  <a:t>’</a:t>
                </a:r>
                <a:r>
                  <a:rPr lang="tr-TR" dirty="0">
                    <a:latin typeface="Consolas" panose="020B0609020204030204" pitchFamily="49" charset="0"/>
                  </a:rPr>
                  <a:t>ye bağlı değil;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𝑥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</m:oMath>
                </a14:m>
                <a:r>
                  <a:rPr lang="tr-TR" dirty="0">
                    <a:latin typeface="Consolas" panose="020B0609020204030204" pitchFamily="49" charset="0"/>
                  </a:rPr>
                  <a:t>ile ilgili terimler,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𝑥</m:t>
                        </m:r>
                      </m:e>
                      <m:sub>
                        <m:r>
                          <a:rPr lang="ar-AE"/>
                          <m:t>3</m:t>
                        </m:r>
                      </m:sub>
                    </m:sSub>
                  </m:oMath>
                </a14:m>
                <a:r>
                  <a:rPr lang="ar-AE" dirty="0">
                    <a:latin typeface="Consolas" panose="020B0609020204030204" pitchFamily="49" charset="0"/>
                  </a:rPr>
                  <a:t>’</a:t>
                </a:r>
                <a:r>
                  <a:rPr lang="tr-TR" dirty="0">
                    <a:latin typeface="Consolas" panose="020B0609020204030204" pitchFamily="49" charset="0"/>
                  </a:rPr>
                  <a:t>e bağlı değil, vs.</a:t>
                </a:r>
              </a:p>
              <a:p>
                <a:r>
                  <a:rPr lang="tr-TR" dirty="0">
                    <a:latin typeface="Consolas" panose="020B0609020204030204" pitchFamily="49" charset="0"/>
                  </a:rPr>
                  <a:t>Bu durumda:</a:t>
                </a:r>
              </a:p>
              <a:p>
                <a:r>
                  <a:rPr lang="tr-TR" dirty="0">
                    <a:latin typeface="Consolas" panose="020B0609020204030204" pitchFamily="49" charset="0"/>
                  </a:rPr>
                  <a:t>En iyiyi bulmak için her değişkeni </a:t>
                </a:r>
                <a:r>
                  <a:rPr lang="tr-TR" b="1" dirty="0">
                    <a:latin typeface="Consolas" panose="020B0609020204030204" pitchFamily="49" charset="0"/>
                  </a:rPr>
                  <a:t>tek tek</a:t>
                </a:r>
                <a:r>
                  <a:rPr lang="tr-TR" dirty="0">
                    <a:latin typeface="Consolas" panose="020B0609020204030204" pitchFamily="49" charset="0"/>
                  </a:rPr>
                  <a:t> optimize etmek yeterli.</a:t>
                </a:r>
              </a:p>
              <a:p>
                <a:r>
                  <a:rPr lang="tr-TR" dirty="0">
                    <a:latin typeface="Consolas" panose="020B0609020204030204" pitchFamily="49" charset="0"/>
                  </a:rPr>
                  <a:t>Örneğin,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𝑥</m:t>
                        </m:r>
                      </m:e>
                      <m:sub>
                        <m:r>
                          <a:rPr lang="ar-AE"/>
                          <m:t>1</m:t>
                        </m:r>
                      </m:sub>
                    </m:sSub>
                  </m:oMath>
                </a14:m>
                <a:r>
                  <a:rPr lang="tr-TR" dirty="0">
                    <a:latin typeface="Consolas" panose="020B0609020204030204" pitchFamily="49" charset="0"/>
                  </a:rPr>
                  <a:t>için minimum noktayı bul, sonra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𝑥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</m:oMath>
                </a14:m>
                <a:r>
                  <a:rPr lang="tr-TR" dirty="0">
                    <a:latin typeface="Consolas" panose="020B0609020204030204" pitchFamily="49" charset="0"/>
                  </a:rPr>
                  <a:t> için, sonra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𝑥</m:t>
                        </m:r>
                      </m:e>
                      <m:sub>
                        <m:r>
                          <a:rPr lang="ar-AE"/>
                          <m:t>3</m:t>
                        </m:r>
                      </m:sub>
                    </m:sSub>
                  </m:oMath>
                </a14:m>
                <a:r>
                  <a:rPr lang="tr-TR" dirty="0">
                    <a:latin typeface="Consolas" panose="020B0609020204030204" pitchFamily="49" charset="0"/>
                  </a:rPr>
                  <a:t> için… Hepsini birleştir, global minimumu bulmuş olursun.</a:t>
                </a:r>
              </a:p>
            </p:txBody>
          </p:sp>
        </mc:Choice>
        <mc:Fallback>
          <p:sp>
            <p:nvSpPr>
              <p:cNvPr id="9" name="Metin kutusu 8">
                <a:extLst>
                  <a:ext uri="{FF2B5EF4-FFF2-40B4-BE49-F238E27FC236}">
                    <a16:creationId xmlns:a16="http://schemas.microsoft.com/office/drawing/2014/main" id="{5C086E49-D51A-CD50-968C-8F9314493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349" y="884915"/>
                <a:ext cx="10913920" cy="4801314"/>
              </a:xfrm>
              <a:prstGeom prst="rect">
                <a:avLst/>
              </a:prstGeom>
              <a:blipFill>
                <a:blip r:embed="rId3"/>
                <a:stretch>
                  <a:fillRect l="-447" t="-635" r="-168" b="-1015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7030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E6631-CCB3-495B-8A84-FCE235686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F9687C52-AD08-2CE1-C587-96F18ED8EEA8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 err="1">
                <a:latin typeface="Consolas" panose="020B0609020204030204" pitchFamily="49" charset="0"/>
              </a:rPr>
              <a:t>Benchmark</a:t>
            </a:r>
            <a:r>
              <a:rPr lang="tr-TR" sz="3000" b="1" dirty="0">
                <a:latin typeface="Consolas" panose="020B0609020204030204" pitchFamily="49" charset="0"/>
              </a:rPr>
              <a:t> fonksiyonlarının sınıflandırılması</a:t>
            </a:r>
          </a:p>
        </p:txBody>
      </p:sp>
      <p:pic>
        <p:nvPicPr>
          <p:cNvPr id="2" name="Picture 4" descr="Labirent arka plan">
            <a:extLst>
              <a:ext uri="{FF2B5EF4-FFF2-40B4-BE49-F238E27FC236}">
                <a16:creationId xmlns:a16="http://schemas.microsoft.com/office/drawing/2014/main" id="{68F02BF8-C61A-35E8-1497-1024D83FAC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>
            <a:off x="-1186238" y="1176785"/>
            <a:ext cx="3282497" cy="91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Labirent arka plan">
            <a:extLst>
              <a:ext uri="{FF2B5EF4-FFF2-40B4-BE49-F238E27FC236}">
                <a16:creationId xmlns:a16="http://schemas.microsoft.com/office/drawing/2014/main" id="{69F8F514-809A-00ED-0FD9-FAC8A4D94B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 flipV="1">
            <a:off x="-1186240" y="4459281"/>
            <a:ext cx="3282497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abirent arka plan">
            <a:extLst>
              <a:ext uri="{FF2B5EF4-FFF2-40B4-BE49-F238E27FC236}">
                <a16:creationId xmlns:a16="http://schemas.microsoft.com/office/drawing/2014/main" id="{2109E007-D34F-DF92-BA5C-841942B242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 r="90757"/>
          <a:stretch/>
        </p:blipFill>
        <p:spPr bwMode="auto">
          <a:xfrm rot="5400000">
            <a:off x="303318" y="6251304"/>
            <a:ext cx="303374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Metin kutusu 8">
                <a:extLst>
                  <a:ext uri="{FF2B5EF4-FFF2-40B4-BE49-F238E27FC236}">
                    <a16:creationId xmlns:a16="http://schemas.microsoft.com/office/drawing/2014/main" id="{22E5D312-1032-3811-AAA1-1FBA339A8516}"/>
                  </a:ext>
                </a:extLst>
              </p:cNvPr>
              <p:cNvSpPr txBox="1"/>
              <p:nvPr/>
            </p:nvSpPr>
            <p:spPr>
              <a:xfrm>
                <a:off x="1164349" y="884915"/>
                <a:ext cx="10913920" cy="4202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r-TR" b="1" dirty="0">
                    <a:latin typeface="Consolas" panose="020B0609020204030204" pitchFamily="49" charset="0"/>
                  </a:rPr>
                  <a:t>Örnek 1 – Sphere fonksiyonu (</a:t>
                </a:r>
                <a:r>
                  <a:rPr lang="tr-TR" b="1" dirty="0" err="1">
                    <a:latin typeface="Consolas" panose="020B0609020204030204" pitchFamily="49" charset="0"/>
                  </a:rPr>
                  <a:t>separable</a:t>
                </a:r>
                <a:r>
                  <a:rPr lang="tr-TR" b="1" dirty="0">
                    <a:latin typeface="Consolas" panose="020B0609020204030204" pitchFamily="49" charset="0"/>
                  </a:rPr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ar-AE">
                          <a:latin typeface="Cambria Math" panose="02040503050406030204" pitchFamily="18" charset="0"/>
                        </a:rPr>
                        <m:t>+⋯+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ar-AE" dirty="0">
                  <a:latin typeface="Consolas" panose="020B0609020204030204" pitchFamily="49" charset="0"/>
                </a:endParaRPr>
              </a:p>
              <a:p>
                <a:r>
                  <a:rPr lang="tr-TR" dirty="0">
                    <a:latin typeface="Consolas" panose="020B0609020204030204" pitchFamily="49" charset="0"/>
                  </a:rPr>
                  <a:t>Burada: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tr-TR" dirty="0">
                    <a:latin typeface="Consolas" panose="020B0609020204030204" pitchFamily="49" charset="0"/>
                  </a:rPr>
                  <a:t>ile ilgili kısım: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ar-AE" dirty="0">
                  <a:latin typeface="Consolas" panose="020B0609020204030204" pitchFamily="49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tr-TR" dirty="0">
                    <a:latin typeface="Consolas" panose="020B0609020204030204" pitchFamily="49" charset="0"/>
                  </a:rPr>
                  <a:t>ile ilgili kısım: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br>
                  <a:rPr lang="ar-AE" dirty="0">
                    <a:latin typeface="Consolas" panose="020B0609020204030204" pitchFamily="49" charset="0"/>
                  </a:rPr>
                </a:br>
                <a:r>
                  <a:rPr lang="ar-AE" dirty="0">
                    <a:latin typeface="Consolas" panose="020B0609020204030204" pitchFamily="49" charset="0"/>
                  </a:rPr>
                  <a:t>… </a:t>
                </a:r>
                <a:r>
                  <a:rPr lang="tr-TR" dirty="0">
                    <a:latin typeface="Consolas" panose="020B0609020204030204" pitchFamily="49" charset="0"/>
                  </a:rPr>
                  <a:t>şeklinde ayırabiliyoruz.</a:t>
                </a:r>
              </a:p>
              <a:p>
                <a:r>
                  <a:rPr lang="tr-TR" dirty="0">
                    <a:latin typeface="Consolas" panose="020B0609020204030204" pitchFamily="49" charset="0"/>
                  </a:rPr>
                  <a:t>Demek ki: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>
                    <a:latin typeface="Consolas" panose="020B0609020204030204" pitchFamily="49" charset="0"/>
                  </a:rPr>
                  <a:t>’</a:t>
                </a:r>
                <a:r>
                  <a:rPr lang="tr-TR" dirty="0">
                    <a:latin typeface="Consolas" panose="020B0609020204030204" pitchFamily="49" charset="0"/>
                  </a:rPr>
                  <a:t>in optimumu: 0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latin typeface="Consolas" panose="020B0609020204030204" pitchFamily="49" charset="0"/>
                  </a:rPr>
                  <a:t>’</a:t>
                </a:r>
                <a:r>
                  <a:rPr lang="tr-TR" dirty="0" err="1">
                    <a:latin typeface="Consolas" panose="020B0609020204030204" pitchFamily="49" charset="0"/>
                  </a:rPr>
                  <a:t>nin</a:t>
                </a:r>
                <a:r>
                  <a:rPr lang="tr-TR" dirty="0">
                    <a:latin typeface="Consolas" panose="020B0609020204030204" pitchFamily="49" charset="0"/>
                  </a:rPr>
                  <a:t> optimumu: 0</a:t>
                </a:r>
              </a:p>
              <a:p>
                <a:r>
                  <a:rPr lang="tr-TR" dirty="0">
                    <a:latin typeface="Consolas" panose="020B0609020204030204" pitchFamily="49" charset="0"/>
                  </a:rPr>
                  <a:t>… hepsinin optimumu 0 → global optimum: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ar-AE" dirty="0">
                  <a:latin typeface="Consolas" panose="020B0609020204030204" pitchFamily="49" charset="0"/>
                </a:endParaRPr>
              </a:p>
              <a:p>
                <a:endParaRPr lang="tr-TR" dirty="0">
                  <a:latin typeface="Consolas" panose="020B0609020204030204" pitchFamily="49" charset="0"/>
                </a:endParaRPr>
              </a:p>
              <a:p>
                <a:r>
                  <a:rPr lang="tr-TR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Her bir değişken bağımsız; </a:t>
                </a:r>
                <a:r>
                  <a:rPr lang="tr-TR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birini değiştirmek</a:t>
                </a:r>
                <a:r>
                  <a:rPr lang="tr-TR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 diğerlerinin optimum noktasını </a:t>
                </a:r>
                <a:r>
                  <a:rPr lang="tr-TR" b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bozmuyor</a:t>
                </a:r>
                <a:r>
                  <a:rPr lang="tr-TR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.</a:t>
                </a:r>
              </a:p>
            </p:txBody>
          </p:sp>
        </mc:Choice>
        <mc:Fallback>
          <p:sp>
            <p:nvSpPr>
              <p:cNvPr id="9" name="Metin kutusu 8">
                <a:extLst>
                  <a:ext uri="{FF2B5EF4-FFF2-40B4-BE49-F238E27FC236}">
                    <a16:creationId xmlns:a16="http://schemas.microsoft.com/office/drawing/2014/main" id="{22E5D312-1032-3811-AAA1-1FBA339A8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349" y="884915"/>
                <a:ext cx="10913920" cy="4202176"/>
              </a:xfrm>
              <a:prstGeom prst="rect">
                <a:avLst/>
              </a:prstGeom>
              <a:blipFill>
                <a:blip r:embed="rId3"/>
                <a:stretch>
                  <a:fillRect l="-503" t="-726" b="-145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1601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AD3BD-D5B9-2BBF-F13F-D8D1705CB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5DEE2239-7B6C-A33B-FA46-95910DC22B45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 err="1">
                <a:latin typeface="Consolas" panose="020B0609020204030204" pitchFamily="49" charset="0"/>
              </a:rPr>
              <a:t>Benchmark</a:t>
            </a:r>
            <a:r>
              <a:rPr lang="tr-TR" sz="3000" b="1" dirty="0">
                <a:latin typeface="Consolas" panose="020B0609020204030204" pitchFamily="49" charset="0"/>
              </a:rPr>
              <a:t> fonksiyonlarının sınıflandırılması</a:t>
            </a:r>
          </a:p>
        </p:txBody>
      </p:sp>
      <p:pic>
        <p:nvPicPr>
          <p:cNvPr id="2" name="Picture 4" descr="Labirent arka plan">
            <a:extLst>
              <a:ext uri="{FF2B5EF4-FFF2-40B4-BE49-F238E27FC236}">
                <a16:creationId xmlns:a16="http://schemas.microsoft.com/office/drawing/2014/main" id="{EEBFAC3C-E0F8-8E57-1BBD-2378400E10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>
            <a:off x="-1186238" y="1176785"/>
            <a:ext cx="3282497" cy="91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Labirent arka plan">
            <a:extLst>
              <a:ext uri="{FF2B5EF4-FFF2-40B4-BE49-F238E27FC236}">
                <a16:creationId xmlns:a16="http://schemas.microsoft.com/office/drawing/2014/main" id="{FC03ADDC-F6F2-F765-79F3-773461C3D1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 flipV="1">
            <a:off x="-1186240" y="4459281"/>
            <a:ext cx="3282497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abirent arka plan">
            <a:extLst>
              <a:ext uri="{FF2B5EF4-FFF2-40B4-BE49-F238E27FC236}">
                <a16:creationId xmlns:a16="http://schemas.microsoft.com/office/drawing/2014/main" id="{770B2C5D-C1BD-598C-63CC-7F051ADDF4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 r="90757"/>
          <a:stretch/>
        </p:blipFill>
        <p:spPr bwMode="auto">
          <a:xfrm rot="5400000">
            <a:off x="303318" y="6251304"/>
            <a:ext cx="303374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Metin kutusu 8">
                <a:extLst>
                  <a:ext uri="{FF2B5EF4-FFF2-40B4-BE49-F238E27FC236}">
                    <a16:creationId xmlns:a16="http://schemas.microsoft.com/office/drawing/2014/main" id="{1B76E21E-F349-63A3-3C7D-B30D0755845E}"/>
                  </a:ext>
                </a:extLst>
              </p:cNvPr>
              <p:cNvSpPr txBox="1"/>
              <p:nvPr/>
            </p:nvSpPr>
            <p:spPr>
              <a:xfrm>
                <a:off x="1164349" y="884915"/>
                <a:ext cx="10913920" cy="2363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r-TR" b="1" dirty="0" err="1">
                    <a:latin typeface="Consolas" panose="020B0609020204030204" pitchFamily="49" charset="0"/>
                  </a:rPr>
                  <a:t>Non-separable</a:t>
                </a:r>
                <a:r>
                  <a:rPr lang="tr-TR" b="1" dirty="0">
                    <a:latin typeface="Consolas" panose="020B0609020204030204" pitchFamily="49" charset="0"/>
                  </a:rPr>
                  <a:t> (ayrılamaz) fonksiyonlar</a:t>
                </a:r>
              </a:p>
              <a:p>
                <a:endParaRPr lang="tr-TR" dirty="0">
                  <a:latin typeface="Consolas" panose="020B0609020204030204" pitchFamily="49" charset="0"/>
                </a:endParaRPr>
              </a:p>
              <a:p>
                <a:r>
                  <a:rPr lang="tr-TR" dirty="0" err="1"/>
                  <a:t>Non-separable</a:t>
                </a:r>
                <a:r>
                  <a:rPr lang="tr-TR" dirty="0"/>
                  <a:t> fonksiyonlarda değişkenler </a:t>
                </a:r>
                <a:r>
                  <a:rPr lang="tr-TR" b="1" dirty="0"/>
                  <a:t>birbirine bağlıdır</a:t>
                </a:r>
                <a:r>
                  <a:rPr lang="tr-TR" dirty="0"/>
                  <a:t>. Yani:</a:t>
                </a:r>
              </a:p>
              <a:p>
                <a:r>
                  <a:rPr lang="tr-TR" dirty="0"/>
                  <a:t>Bir değişkenin değeri, diğer değişkenin “ideal değerini” değiştirir.</a:t>
                </a:r>
              </a:p>
              <a:p>
                <a:r>
                  <a:rPr lang="tr-TR" dirty="0"/>
                  <a:t>En iyi çözümü bulmak için değişkenlere </a:t>
                </a:r>
                <a:r>
                  <a:rPr lang="tr-TR" b="1" dirty="0"/>
                  <a:t>koordineli</a:t>
                </a:r>
                <a:r>
                  <a:rPr lang="tr-TR" dirty="0"/>
                  <a:t> hareket ettirmen gerekir.</a:t>
                </a:r>
              </a:p>
              <a:p>
                <a:r>
                  <a:rPr lang="tr-TR" dirty="0"/>
                  <a:t>Matematiksel olarak:</a:t>
                </a:r>
                <a:br>
                  <a:rPr lang="tr-TR" dirty="0"/>
                </a:br>
                <a:r>
                  <a:rPr lang="tr-TR" dirty="0"/>
                  <a:t>Fonksiyonu sadece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𝑓</m:t>
                        </m:r>
                      </m:e>
                      <m:sub>
                        <m:r>
                          <a:rPr lang="ar-AE"/>
                          <m:t>1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𝑥</m:t>
                            </m:r>
                          </m:e>
                          <m:sub>
                            <m:r>
                              <a:rPr lang="ar-AE"/>
                              <m:t>1</m:t>
                            </m:r>
                          </m:sub>
                        </m:sSub>
                      </m:e>
                    </m:d>
                    <m:r>
                      <a:rPr lang="ar-AE"/>
                      <m:t>+</m:t>
                    </m:r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i="1"/>
                          <m:t>𝑓</m:t>
                        </m:r>
                      </m:e>
                      <m:sub>
                        <m:r>
                          <a:rPr lang="ar-AE"/>
                          <m:t>2</m:t>
                        </m:r>
                      </m:sub>
                    </m:sSub>
                    <m:d>
                      <m:dPr>
                        <m:ctrlPr>
                          <a:rPr lang="ar-AE" i="1"/>
                        </m:ctrlPr>
                      </m:dPr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𝑥</m:t>
                            </m:r>
                          </m:e>
                          <m:sub>
                            <m:r>
                              <a:rPr lang="ar-AE"/>
                              <m:t>2</m:t>
                            </m:r>
                          </m:sub>
                        </m:sSub>
                      </m:e>
                    </m:d>
                    <m:r>
                      <a:rPr lang="ar-AE"/>
                      <m:t>+…</m:t>
                    </m:r>
                  </m:oMath>
                </a14:m>
                <a:r>
                  <a:rPr lang="tr-TR" dirty="0"/>
                  <a:t>diye ayıramazsın, mutlaka </a:t>
                </a:r>
                <a:r>
                  <a:rPr lang="tr-TR" b="1" dirty="0"/>
                  <a:t>karışık terimler</a:t>
                </a:r>
                <a:r>
                  <a:rPr lang="tr-TR" dirty="0"/>
                  <a:t> vardır: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/>
                          </m:ctrlPr>
                        </m:sSubPr>
                        <m:e>
                          <m:r>
                            <a:rPr lang="ar-AE" i="1"/>
                            <m:t>𝑥</m:t>
                          </m:r>
                        </m:e>
                        <m:sub>
                          <m:r>
                            <a:rPr lang="ar-AE"/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𝑥</m:t>
                          </m:r>
                        </m:e>
                        <m:sub>
                          <m:r>
                            <a:rPr lang="ar-AE"/>
                            <m:t>2</m:t>
                          </m:r>
                        </m:sub>
                      </m:sSub>
                      <m:r>
                        <a:rPr lang="ar-AE"/>
                        <m:t>, 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𝑥</m:t>
                              </m:r>
                            </m:e>
                            <m:sub>
                              <m:r>
                                <a:rPr lang="ar-AE"/>
                                <m:t>2</m:t>
                              </m:r>
                            </m:sub>
                          </m:sSub>
                          <m:r>
                            <a:rPr lang="ar-AE"/>
                            <m:t>−</m:t>
                          </m:r>
                          <m:sSubSup>
                            <m:sSubSupPr>
                              <m:ctrlPr>
                                <a:rPr lang="ar-AE" i="1"/>
                              </m:ctrlPr>
                            </m:sSubSupPr>
                            <m:e>
                              <m:r>
                                <a:rPr lang="ar-AE" i="1"/>
                                <m:t>𝑥</m:t>
                              </m:r>
                            </m:e>
                            <m:sub>
                              <m:r>
                                <a:rPr lang="ar-AE"/>
                                <m:t>1</m:t>
                              </m:r>
                            </m:sub>
                            <m:sup>
                              <m:r>
                                <a:rPr lang="ar-AE"/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ar-AE"/>
                        <m:t>, </m:t>
                      </m:r>
                      <m:d>
                        <m:dPr>
                          <m:endChr m:val=","/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𝑥</m:t>
                              </m:r>
                            </m:e>
                            <m:sub>
                              <m:r>
                                <a:rPr lang="ar-AE"/>
                                <m:t>1</m:t>
                              </m:r>
                            </m:sub>
                          </m:sSub>
                          <m:r>
                            <a:rPr lang="ar-AE"/>
                            <m:t>+</m:t>
                          </m:r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𝑥</m:t>
                              </m:r>
                            </m:e>
                            <m:sub>
                              <m:r>
                                <a:rPr lang="ar-AE"/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i="1"/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i="1"/>
                                  </m:ctrlPr>
                                </m:dPr>
                                <m:e>
                                  <m:r>
                                    <a:rPr lang="ar-AE"/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/>
                                <m:t>2</m:t>
                              </m:r>
                            </m:sup>
                          </m:sSup>
                          <m:r>
                            <a:rPr lang="ar-AE"/>
                            <m:t>…</m:t>
                          </m:r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9" name="Metin kutusu 8">
                <a:extLst>
                  <a:ext uri="{FF2B5EF4-FFF2-40B4-BE49-F238E27FC236}">
                    <a16:creationId xmlns:a16="http://schemas.microsoft.com/office/drawing/2014/main" id="{1B76E21E-F349-63A3-3C7D-B30D07558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349" y="884915"/>
                <a:ext cx="10913920" cy="2363276"/>
              </a:xfrm>
              <a:prstGeom prst="rect">
                <a:avLst/>
              </a:prstGeom>
              <a:blipFill>
                <a:blip r:embed="rId3"/>
                <a:stretch>
                  <a:fillRect l="-447" t="-1289" b="-77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1182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DDAC9-DA5C-6D15-096E-0D48422E4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9490E724-BEDB-21A4-524D-A0C008121AC2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 err="1">
                <a:latin typeface="Consolas" panose="020B0609020204030204" pitchFamily="49" charset="0"/>
              </a:rPr>
              <a:t>Benchmark</a:t>
            </a:r>
            <a:r>
              <a:rPr lang="tr-TR" sz="3000" b="1" dirty="0">
                <a:latin typeface="Consolas" panose="020B0609020204030204" pitchFamily="49" charset="0"/>
              </a:rPr>
              <a:t> fonksiyonlarının sınıflandırılması</a:t>
            </a:r>
          </a:p>
        </p:txBody>
      </p:sp>
      <p:pic>
        <p:nvPicPr>
          <p:cNvPr id="2" name="Picture 4" descr="Labirent arka plan">
            <a:extLst>
              <a:ext uri="{FF2B5EF4-FFF2-40B4-BE49-F238E27FC236}">
                <a16:creationId xmlns:a16="http://schemas.microsoft.com/office/drawing/2014/main" id="{A3C356F8-8007-2E09-8345-D61EE31F00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>
            <a:off x="-1186238" y="1176785"/>
            <a:ext cx="3282497" cy="91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Labirent arka plan">
            <a:extLst>
              <a:ext uri="{FF2B5EF4-FFF2-40B4-BE49-F238E27FC236}">
                <a16:creationId xmlns:a16="http://schemas.microsoft.com/office/drawing/2014/main" id="{4CF15056-0570-F8F7-8164-7B1FE3E1BE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 flipV="1">
            <a:off x="-1186240" y="4459281"/>
            <a:ext cx="3282497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abirent arka plan">
            <a:extLst>
              <a:ext uri="{FF2B5EF4-FFF2-40B4-BE49-F238E27FC236}">
                <a16:creationId xmlns:a16="http://schemas.microsoft.com/office/drawing/2014/main" id="{80437888-EA68-3E8B-054F-08E2CE3258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 r="90757"/>
          <a:stretch/>
        </p:blipFill>
        <p:spPr bwMode="auto">
          <a:xfrm rot="5400000">
            <a:off x="303318" y="6251304"/>
            <a:ext cx="303374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Metin kutusu 8">
                <a:extLst>
                  <a:ext uri="{FF2B5EF4-FFF2-40B4-BE49-F238E27FC236}">
                    <a16:creationId xmlns:a16="http://schemas.microsoft.com/office/drawing/2014/main" id="{090D2975-ED1B-76CE-A19D-63CE703859A6}"/>
                  </a:ext>
                </a:extLst>
              </p:cNvPr>
              <p:cNvSpPr txBox="1"/>
              <p:nvPr/>
            </p:nvSpPr>
            <p:spPr>
              <a:xfrm>
                <a:off x="1164349" y="884915"/>
                <a:ext cx="7092547" cy="39061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tr-TR" b="1" dirty="0">
                    <a:latin typeface="Consolas" panose="020B0609020204030204" pitchFamily="49" charset="0"/>
                  </a:rPr>
                  <a:t>Örnek 2 – </a:t>
                </a:r>
                <a:r>
                  <a:rPr lang="tr-TR" b="1" dirty="0" err="1">
                    <a:latin typeface="Consolas" panose="020B0609020204030204" pitchFamily="49" charset="0"/>
                  </a:rPr>
                  <a:t>Rosenbrock</a:t>
                </a:r>
                <a:r>
                  <a:rPr lang="tr-TR" b="1" dirty="0">
                    <a:latin typeface="Consolas" panose="020B0609020204030204" pitchFamily="49" charset="0"/>
                  </a:rPr>
                  <a:t> fonksiyonu (klasik </a:t>
                </a:r>
                <a:r>
                  <a:rPr lang="tr-TR" b="1" dirty="0" err="1">
                    <a:latin typeface="Consolas" panose="020B0609020204030204" pitchFamily="49" charset="0"/>
                  </a:rPr>
                  <a:t>non-separable</a:t>
                </a:r>
                <a:r>
                  <a:rPr lang="tr-TR" b="1" dirty="0">
                    <a:latin typeface="Consolas" panose="020B0609020204030204" pitchFamily="49" charset="0"/>
                  </a:rPr>
                  <a:t>)</a:t>
                </a:r>
              </a:p>
              <a:p>
                <a:r>
                  <a:rPr lang="tr-TR" dirty="0">
                    <a:latin typeface="Consolas" panose="020B0609020204030204" pitchFamily="49" charset="0"/>
                  </a:rPr>
                  <a:t>İki boyutlu hali: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100</m:t>
                      </m:r>
                      <m:d>
                        <m:dPr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endChr m:val="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ar-AE" dirty="0">
                  <a:latin typeface="Consolas" panose="020B0609020204030204" pitchFamily="49" charset="0"/>
                </a:endParaRPr>
              </a:p>
              <a:p>
                <a:r>
                  <a:rPr lang="tr-TR" dirty="0">
                    <a:latin typeface="Consolas" panose="020B0609020204030204" pitchFamily="49" charset="0"/>
                  </a:rPr>
                  <a:t>Minimum teoride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tr-TR" dirty="0">
                    <a:latin typeface="Consolas" panose="020B0609020204030204" pitchFamily="49" charset="0"/>
                  </a:rPr>
                  <a:t>noktasında.</a:t>
                </a:r>
              </a:p>
              <a:p>
                <a:r>
                  <a:rPr lang="tr-TR" dirty="0">
                    <a:latin typeface="Consolas" panose="020B0609020204030204" pitchFamily="49" charset="0"/>
                  </a:rPr>
                  <a:t>Ama oraya giden yol çok dar ve eğri bir “vadi”.</a:t>
                </a:r>
              </a:p>
              <a:p>
                <a14:m>
                  <m:oMath xmlns:m="http://schemas.openxmlformats.org/officeDocument/2006/math">
                    <m:r>
                      <a:rPr lang="tr-TR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tr-TR" dirty="0">
                    <a:latin typeface="Consolas" panose="020B0609020204030204" pitchFamily="49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tr-T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tr-TR" dirty="0">
                    <a:latin typeface="Consolas" panose="020B0609020204030204" pitchFamily="49" charset="0"/>
                  </a:rPr>
                  <a:t>’in karesine bağlı: </a:t>
                </a:r>
                <a14:m>
                  <m:oMath xmlns:m="http://schemas.openxmlformats.org/officeDocument/2006/math">
                    <m:r>
                      <a:rPr lang="tr-T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dirty="0">
                    <a:latin typeface="Consolas" panose="020B0609020204030204" pitchFamily="49" charset="0"/>
                  </a:rPr>
                  <a:t>.</a:t>
                </a:r>
                <a:br>
                  <a:rPr lang="ar-AE" dirty="0">
                    <a:latin typeface="Consolas" panose="020B0609020204030204" pitchFamily="49" charset="0"/>
                  </a:rPr>
                </a:br>
                <a:r>
                  <a:rPr lang="tr-TR" dirty="0">
                    <a:latin typeface="Consolas" panose="020B0609020204030204" pitchFamily="49" charset="0"/>
                  </a:rPr>
                  <a:t>Yani: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tr-T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tr-T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tr-TR" dirty="0">
                    <a:latin typeface="Consolas" panose="020B0609020204030204" pitchFamily="49" charset="0"/>
                  </a:rPr>
                  <a:t>değişince, </a:t>
                </a:r>
                <a:r>
                  <a:rPr lang="tr-TR" b="1" dirty="0">
                    <a:latin typeface="Consolas" panose="020B0609020204030204" pitchFamily="49" charset="0"/>
                  </a:rPr>
                  <a:t>ideal </a:t>
                </a:r>
                <a14:m>
                  <m:oMath xmlns:m="http://schemas.openxmlformats.org/officeDocument/2006/math">
                    <m:r>
                      <a:rPr lang="tr-TR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tr-TR" dirty="0">
                    <a:latin typeface="Consolas" panose="020B0609020204030204" pitchFamily="49" charset="0"/>
                  </a:rPr>
                  <a:t> de değişiyor.</a:t>
                </a:r>
              </a:p>
              <a:p>
                <a:pPr lvl="1"/>
                <a:r>
                  <a:rPr lang="tr-TR" dirty="0">
                    <a:latin typeface="Consolas" panose="020B0609020204030204" pitchFamily="49" charset="0"/>
                  </a:rPr>
                  <a:t>Tek tek “</a:t>
                </a:r>
                <a14:m>
                  <m:oMath xmlns:m="http://schemas.openxmlformats.org/officeDocument/2006/math">
                    <m:r>
                      <a:rPr lang="tr-T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tr-TR" dirty="0">
                    <a:latin typeface="Consolas" panose="020B0609020204030204" pitchFamily="49" charset="0"/>
                  </a:rPr>
                  <a:t>’i optimize edeyim sonra </a:t>
                </a:r>
                <a14:m>
                  <m:oMath xmlns:m="http://schemas.openxmlformats.org/officeDocument/2006/math">
                    <m:r>
                      <a:rPr lang="tr-TR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tr-TR" dirty="0">
                    <a:latin typeface="Consolas" panose="020B0609020204030204" pitchFamily="49" charset="0"/>
                  </a:rPr>
                  <a:t>’</a:t>
                </a:r>
                <a:r>
                  <a:rPr lang="tr-TR" dirty="0" err="1">
                    <a:latin typeface="Consolas" panose="020B0609020204030204" pitchFamily="49" charset="0"/>
                  </a:rPr>
                  <a:t>yi</a:t>
                </a:r>
                <a:r>
                  <a:rPr lang="tr-TR" dirty="0">
                    <a:latin typeface="Consolas" panose="020B0609020204030204" pitchFamily="49" charset="0"/>
                  </a:rPr>
                  <a:t>” dersen, doğru yere gidemezsin.</a:t>
                </a:r>
              </a:p>
              <a:p>
                <a:pPr lvl="1"/>
                <a:endParaRPr lang="tr-TR" dirty="0">
                  <a:latin typeface="Consolas" panose="020B0609020204030204" pitchFamily="49" charset="0"/>
                </a:endParaRPr>
              </a:p>
              <a:p>
                <a:r>
                  <a:rPr lang="tr-TR" dirty="0">
                    <a:latin typeface="Consolas" panose="020B0609020204030204" pitchFamily="49" charset="0"/>
                  </a:rPr>
                  <a:t>Bu yüzden </a:t>
                </a:r>
                <a:r>
                  <a:rPr lang="tr-TR" dirty="0" err="1">
                    <a:latin typeface="Consolas" panose="020B0609020204030204" pitchFamily="49" charset="0"/>
                  </a:rPr>
                  <a:t>Rosenbrock</a:t>
                </a:r>
                <a:r>
                  <a:rPr lang="tr-TR" dirty="0">
                    <a:latin typeface="Consolas" panose="020B0609020204030204" pitchFamily="49" charset="0"/>
                  </a:rPr>
                  <a:t> fonksiyonu, </a:t>
                </a:r>
                <a:r>
                  <a:rPr lang="tr-TR" b="1" dirty="0" err="1">
                    <a:latin typeface="Consolas" panose="020B0609020204030204" pitchFamily="49" charset="0"/>
                  </a:rPr>
                  <a:t>non-separable</a:t>
                </a:r>
                <a:r>
                  <a:rPr lang="tr-TR" b="1" dirty="0">
                    <a:latin typeface="Consolas" panose="020B0609020204030204" pitchFamily="49" charset="0"/>
                  </a:rPr>
                  <a:t> ve zor</a:t>
                </a:r>
                <a:r>
                  <a:rPr lang="tr-TR" dirty="0">
                    <a:latin typeface="Consolas" panose="020B0609020204030204" pitchFamily="49" charset="0"/>
                  </a:rPr>
                  <a:t> bir fonksiyon olarak kullanılır.</a:t>
                </a:r>
              </a:p>
            </p:txBody>
          </p:sp>
        </mc:Choice>
        <mc:Fallback>
          <p:sp>
            <p:nvSpPr>
              <p:cNvPr id="9" name="Metin kutusu 8">
                <a:extLst>
                  <a:ext uri="{FF2B5EF4-FFF2-40B4-BE49-F238E27FC236}">
                    <a16:creationId xmlns:a16="http://schemas.microsoft.com/office/drawing/2014/main" id="{090D2975-ED1B-76CE-A19D-63CE70385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349" y="884915"/>
                <a:ext cx="7092547" cy="3906134"/>
              </a:xfrm>
              <a:prstGeom prst="rect">
                <a:avLst/>
              </a:prstGeom>
              <a:blipFill>
                <a:blip r:embed="rId3"/>
                <a:stretch>
                  <a:fillRect l="-688" t="-780" b="-1560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Rosenbrock's Function - Benchmarks - UQWorld">
            <a:extLst>
              <a:ext uri="{FF2B5EF4-FFF2-40B4-BE49-F238E27FC236}">
                <a16:creationId xmlns:a16="http://schemas.microsoft.com/office/drawing/2014/main" id="{20DC8D57-37BD-692A-822F-377EB1884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884915"/>
            <a:ext cx="2934269" cy="2934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5855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A856D-E084-F1C8-0682-0B90EDBE7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E7843EF2-8F9B-8A63-97D1-7AC6276069CB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 err="1">
                <a:latin typeface="Consolas" panose="020B0609020204030204" pitchFamily="49" charset="0"/>
              </a:rPr>
              <a:t>Benchmark</a:t>
            </a:r>
            <a:r>
              <a:rPr lang="tr-TR" sz="3000" b="1" dirty="0">
                <a:latin typeface="Consolas" panose="020B0609020204030204" pitchFamily="49" charset="0"/>
              </a:rPr>
              <a:t> fonksiyonlarının sınıflandırılması</a:t>
            </a:r>
          </a:p>
        </p:txBody>
      </p:sp>
      <p:pic>
        <p:nvPicPr>
          <p:cNvPr id="2" name="Picture 4" descr="Labirent arka plan">
            <a:extLst>
              <a:ext uri="{FF2B5EF4-FFF2-40B4-BE49-F238E27FC236}">
                <a16:creationId xmlns:a16="http://schemas.microsoft.com/office/drawing/2014/main" id="{B428228D-0B97-2FA0-57D4-96B15FF6A9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>
            <a:off x="-1186238" y="1176785"/>
            <a:ext cx="3282497" cy="91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Labirent arka plan">
            <a:extLst>
              <a:ext uri="{FF2B5EF4-FFF2-40B4-BE49-F238E27FC236}">
                <a16:creationId xmlns:a16="http://schemas.microsoft.com/office/drawing/2014/main" id="{91B151F8-89C7-6925-DEF2-5919862150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 flipV="1">
            <a:off x="-1186240" y="4459281"/>
            <a:ext cx="3282497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abirent arka plan">
            <a:extLst>
              <a:ext uri="{FF2B5EF4-FFF2-40B4-BE49-F238E27FC236}">
                <a16:creationId xmlns:a16="http://schemas.microsoft.com/office/drawing/2014/main" id="{5AA40C97-9220-FA17-2175-C817BBD65C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 r="90757"/>
          <a:stretch/>
        </p:blipFill>
        <p:spPr bwMode="auto">
          <a:xfrm rot="5400000">
            <a:off x="303318" y="6251304"/>
            <a:ext cx="303374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28C3AF12-3DE6-8DEC-9504-698846AF6D77}"/>
              </a:ext>
            </a:extLst>
          </p:cNvPr>
          <p:cNvSpPr txBox="1"/>
          <p:nvPr/>
        </p:nvSpPr>
        <p:spPr>
          <a:xfrm>
            <a:off x="1164349" y="884915"/>
            <a:ext cx="1068866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i="1" dirty="0" err="1">
                <a:latin typeface="Consolas" panose="020B0609020204030204" pitchFamily="49" charset="0"/>
              </a:rPr>
              <a:t>Separable</a:t>
            </a:r>
            <a:r>
              <a:rPr lang="tr-TR" b="1" i="1" dirty="0">
                <a:latin typeface="Consolas" panose="020B0609020204030204" pitchFamily="49" charset="0"/>
              </a:rPr>
              <a:t> fonksiyon:</a:t>
            </a:r>
          </a:p>
          <a:p>
            <a:endParaRPr lang="tr-TR" dirty="0">
              <a:latin typeface="Consolas" panose="020B0609020204030204" pitchFamily="49" charset="0"/>
            </a:endParaRPr>
          </a:p>
          <a:p>
            <a:r>
              <a:rPr lang="tr-TR" dirty="0">
                <a:latin typeface="Consolas" panose="020B0609020204030204" pitchFamily="49" charset="0"/>
              </a:rPr>
              <a:t>Sanki her eksen için ayrı ayrı bir tepe/çukur var, sen de her ekseni tek tek ayarlıyorsun.</a:t>
            </a:r>
          </a:p>
          <a:p>
            <a:r>
              <a:rPr lang="tr-TR" dirty="0" err="1">
                <a:latin typeface="Consolas" panose="020B0609020204030204" pitchFamily="49" charset="0"/>
              </a:rPr>
              <a:t>Rubik</a:t>
            </a:r>
            <a:r>
              <a:rPr lang="tr-TR" dirty="0">
                <a:latin typeface="Consolas" panose="020B0609020204030204" pitchFamily="49" charset="0"/>
              </a:rPr>
              <a:t> küp yerine, 3 ayrı renkli çubuk çözüyorsun gibi düşün.</a:t>
            </a:r>
          </a:p>
          <a:p>
            <a:endParaRPr lang="tr-TR" dirty="0">
              <a:latin typeface="Consolas" panose="020B0609020204030204" pitchFamily="49" charset="0"/>
            </a:endParaRPr>
          </a:p>
          <a:p>
            <a:r>
              <a:rPr lang="tr-TR" b="1" i="1" dirty="0" err="1">
                <a:latin typeface="Consolas" panose="020B0609020204030204" pitchFamily="49" charset="0"/>
              </a:rPr>
              <a:t>Non-separable</a:t>
            </a:r>
            <a:r>
              <a:rPr lang="tr-TR" b="1" i="1" dirty="0">
                <a:latin typeface="Consolas" panose="020B0609020204030204" pitchFamily="49" charset="0"/>
              </a:rPr>
              <a:t> fonksiyon: </a:t>
            </a:r>
          </a:p>
          <a:p>
            <a:endParaRPr lang="tr-TR" dirty="0">
              <a:latin typeface="Consolas" panose="020B0609020204030204" pitchFamily="49" charset="0"/>
            </a:endParaRPr>
          </a:p>
          <a:p>
            <a:r>
              <a:rPr lang="tr-TR" dirty="0">
                <a:latin typeface="Consolas" panose="020B0609020204030204" pitchFamily="49" charset="0"/>
              </a:rPr>
              <a:t>Bir ekseni hareket ettirdiğinde, diğer eksenin “ideal yeri” de değişiyor.</a:t>
            </a:r>
          </a:p>
          <a:p>
            <a:r>
              <a:rPr lang="tr-TR" dirty="0" err="1">
                <a:latin typeface="Consolas" panose="020B0609020204030204" pitchFamily="49" charset="0"/>
              </a:rPr>
              <a:t>Rubik</a:t>
            </a:r>
            <a:r>
              <a:rPr lang="tr-TR" dirty="0">
                <a:latin typeface="Consolas" panose="020B0609020204030204" pitchFamily="49" charset="0"/>
              </a:rPr>
              <a:t> küpün bir yüzünü çevirince diğer yüzlerin de bozulması gibi: her şey bağlantılı.</a:t>
            </a:r>
          </a:p>
        </p:txBody>
      </p:sp>
    </p:spTree>
    <p:extLst>
      <p:ext uri="{BB962C8B-B14F-4D97-AF65-F5344CB8AC3E}">
        <p14:creationId xmlns:p14="http://schemas.microsoft.com/office/powerpoint/2010/main" val="2705311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09C3A-BE91-426C-C167-2FC634C1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24D29D89-33A0-A375-E6D3-7C4E6EF70352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 err="1">
                <a:latin typeface="Consolas" panose="020B0609020204030204" pitchFamily="49" charset="0"/>
              </a:rPr>
              <a:t>Benchmark</a:t>
            </a:r>
            <a:r>
              <a:rPr lang="tr-TR" sz="3000" b="1" dirty="0">
                <a:latin typeface="Consolas" panose="020B0609020204030204" pitchFamily="49" charset="0"/>
              </a:rPr>
              <a:t> fonksiyonlarının sınıflandırılması</a:t>
            </a:r>
          </a:p>
        </p:txBody>
      </p:sp>
      <p:pic>
        <p:nvPicPr>
          <p:cNvPr id="2" name="Picture 4" descr="Labirent arka plan">
            <a:extLst>
              <a:ext uri="{FF2B5EF4-FFF2-40B4-BE49-F238E27FC236}">
                <a16:creationId xmlns:a16="http://schemas.microsoft.com/office/drawing/2014/main" id="{61374524-49CA-202E-4F24-9476B3E58B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>
            <a:off x="-1186238" y="1176785"/>
            <a:ext cx="3282497" cy="91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Labirent arka plan">
            <a:extLst>
              <a:ext uri="{FF2B5EF4-FFF2-40B4-BE49-F238E27FC236}">
                <a16:creationId xmlns:a16="http://schemas.microsoft.com/office/drawing/2014/main" id="{290D3080-5109-F038-0522-A300869392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 flipV="1">
            <a:off x="-1186240" y="4459281"/>
            <a:ext cx="3282497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abirent arka plan">
            <a:extLst>
              <a:ext uri="{FF2B5EF4-FFF2-40B4-BE49-F238E27FC236}">
                <a16:creationId xmlns:a16="http://schemas.microsoft.com/office/drawing/2014/main" id="{FB1919FD-1D49-8208-82F5-5302113AEE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 r="90757"/>
          <a:stretch/>
        </p:blipFill>
        <p:spPr bwMode="auto">
          <a:xfrm rot="5400000">
            <a:off x="303318" y="6251304"/>
            <a:ext cx="303374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75F7DE49-B00C-D8A0-E8E9-88238E4637BB}"/>
              </a:ext>
            </a:extLst>
          </p:cNvPr>
          <p:cNvSpPr txBox="1"/>
          <p:nvPr/>
        </p:nvSpPr>
        <p:spPr>
          <a:xfrm>
            <a:off x="1164349" y="884915"/>
            <a:ext cx="650569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>
                <a:latin typeface="Consolas" panose="020B0609020204030204" pitchFamily="49" charset="0"/>
              </a:rPr>
              <a:t>Konveks / </a:t>
            </a:r>
            <a:r>
              <a:rPr lang="tr-TR" b="1" dirty="0" err="1">
                <a:latin typeface="Consolas" panose="020B0609020204030204" pitchFamily="49" charset="0"/>
              </a:rPr>
              <a:t>Non</a:t>
            </a:r>
            <a:r>
              <a:rPr lang="tr-TR" b="1" dirty="0">
                <a:latin typeface="Consolas" panose="020B0609020204030204" pitchFamily="49" charset="0"/>
              </a:rPr>
              <a:t>-konveks</a:t>
            </a:r>
          </a:p>
          <a:p>
            <a:endParaRPr lang="tr-TR" b="1" dirty="0">
              <a:latin typeface="Consolas" panose="020B0609020204030204" pitchFamily="49" charset="0"/>
            </a:endParaRPr>
          </a:p>
          <a:p>
            <a:r>
              <a:rPr lang="tr-TR" b="1" dirty="0">
                <a:latin typeface="Consolas" panose="020B0609020204030204" pitchFamily="49" charset="0"/>
              </a:rPr>
              <a:t>Konveks fonksiyonlar</a:t>
            </a:r>
            <a:endParaRPr lang="tr-TR" dirty="0">
              <a:latin typeface="Consolas" panose="020B0609020204030204" pitchFamily="49" charset="0"/>
            </a:endParaRPr>
          </a:p>
          <a:p>
            <a:r>
              <a:rPr lang="tr-TR" dirty="0">
                <a:latin typeface="Consolas" panose="020B0609020204030204" pitchFamily="49" charset="0"/>
              </a:rPr>
              <a:t>Her lokal minimum aynı zamanda global minimumdur.</a:t>
            </a:r>
          </a:p>
          <a:p>
            <a:r>
              <a:rPr lang="tr-TR" dirty="0">
                <a:latin typeface="Consolas" panose="020B0609020204030204" pitchFamily="49" charset="0"/>
              </a:rPr>
              <a:t>Teorik olarak “kolay” fonksiyonlardır.</a:t>
            </a:r>
          </a:p>
          <a:p>
            <a:r>
              <a:rPr lang="tr-TR" dirty="0">
                <a:latin typeface="Consolas" panose="020B0609020204030204" pitchFamily="49" charset="0"/>
              </a:rPr>
              <a:t>Örnek: </a:t>
            </a:r>
            <a:r>
              <a:rPr lang="tr-TR" b="1" dirty="0">
                <a:latin typeface="Consolas" panose="020B0609020204030204" pitchFamily="49" charset="0"/>
              </a:rPr>
              <a:t>Sphere</a:t>
            </a:r>
            <a:r>
              <a:rPr lang="tr-TR" dirty="0">
                <a:latin typeface="Consolas" panose="020B0609020204030204" pitchFamily="49" charset="0"/>
              </a:rPr>
              <a:t> fonksiyonu.</a:t>
            </a:r>
          </a:p>
          <a:p>
            <a:endParaRPr lang="tr-TR" dirty="0">
              <a:latin typeface="Consolas" panose="020B0609020204030204" pitchFamily="49" charset="0"/>
            </a:endParaRPr>
          </a:p>
          <a:p>
            <a:r>
              <a:rPr lang="tr-TR" b="1" dirty="0" err="1">
                <a:latin typeface="Consolas" panose="020B0609020204030204" pitchFamily="49" charset="0"/>
              </a:rPr>
              <a:t>Non</a:t>
            </a:r>
            <a:r>
              <a:rPr lang="tr-TR" b="1" dirty="0">
                <a:latin typeface="Consolas" panose="020B0609020204030204" pitchFamily="49" charset="0"/>
              </a:rPr>
              <a:t>-konveks fonksiyonlar</a:t>
            </a:r>
            <a:endParaRPr lang="tr-TR" dirty="0">
              <a:latin typeface="Consolas" panose="020B0609020204030204" pitchFamily="49" charset="0"/>
            </a:endParaRPr>
          </a:p>
          <a:p>
            <a:r>
              <a:rPr lang="tr-TR" dirty="0">
                <a:latin typeface="Consolas" panose="020B0609020204030204" pitchFamily="49" charset="0"/>
              </a:rPr>
              <a:t>Birçok lokal minimum barındırabilir; algoritmanın keşif kabiliyetini ciddi şekilde zorlar.</a:t>
            </a:r>
          </a:p>
          <a:p>
            <a:r>
              <a:rPr lang="tr-TR" dirty="0" err="1">
                <a:latin typeface="Consolas" panose="020B0609020204030204" pitchFamily="49" charset="0"/>
              </a:rPr>
              <a:t>Rastrigin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dirty="0" err="1">
                <a:latin typeface="Consolas" panose="020B0609020204030204" pitchFamily="49" charset="0"/>
              </a:rPr>
              <a:t>Ackley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dirty="0" err="1">
                <a:latin typeface="Consolas" panose="020B0609020204030204" pitchFamily="49" charset="0"/>
              </a:rPr>
              <a:t>Schwefel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dirty="0" err="1">
                <a:latin typeface="Consolas" panose="020B0609020204030204" pitchFamily="49" charset="0"/>
              </a:rPr>
              <a:t>Griewank</a:t>
            </a:r>
            <a:r>
              <a:rPr lang="tr-TR" dirty="0">
                <a:latin typeface="Consolas" panose="020B0609020204030204" pitchFamily="49" charset="0"/>
              </a:rPr>
              <a:t> vb. çoğu klasik fonksiyon bu gruptadır.</a:t>
            </a:r>
          </a:p>
        </p:txBody>
      </p:sp>
      <p:sp>
        <p:nvSpPr>
          <p:cNvPr id="4" name="AutoShape 2" descr="Convex function">
            <a:extLst>
              <a:ext uri="{FF2B5EF4-FFF2-40B4-BE49-F238E27FC236}">
                <a16:creationId xmlns:a16="http://schemas.microsoft.com/office/drawing/2014/main" id="{FB697094-2C34-64BE-CE8C-F550F429A2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E062058C-944C-33B7-D426-7B2A5ED881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7D7E308F-3ED6-567C-0A0B-29CB543F7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007" y="1160791"/>
            <a:ext cx="4353533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16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6B639-2BAA-D906-E91C-DC56517B0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0C376C5C-75A6-C744-FD5D-A1038269D83D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 err="1">
                <a:latin typeface="Consolas" panose="020B0609020204030204" pitchFamily="49" charset="0"/>
              </a:rPr>
              <a:t>Benchmark</a:t>
            </a:r>
            <a:r>
              <a:rPr lang="tr-TR" sz="3000" b="1" dirty="0">
                <a:latin typeface="Consolas" panose="020B0609020204030204" pitchFamily="49" charset="0"/>
              </a:rPr>
              <a:t> fonksiyonlarının sınıflandırılması</a:t>
            </a:r>
          </a:p>
        </p:txBody>
      </p:sp>
      <p:pic>
        <p:nvPicPr>
          <p:cNvPr id="2" name="Picture 4" descr="Labirent arka plan">
            <a:extLst>
              <a:ext uri="{FF2B5EF4-FFF2-40B4-BE49-F238E27FC236}">
                <a16:creationId xmlns:a16="http://schemas.microsoft.com/office/drawing/2014/main" id="{1284F86F-A85F-A80E-0BF7-9418D9938B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>
            <a:off x="-1186238" y="1176785"/>
            <a:ext cx="3282497" cy="91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Labirent arka plan">
            <a:extLst>
              <a:ext uri="{FF2B5EF4-FFF2-40B4-BE49-F238E27FC236}">
                <a16:creationId xmlns:a16="http://schemas.microsoft.com/office/drawing/2014/main" id="{F9AFF365-6C5C-E5B8-A475-4309A59FF6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 flipV="1">
            <a:off x="-1186240" y="4459281"/>
            <a:ext cx="3282497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abirent arka plan">
            <a:extLst>
              <a:ext uri="{FF2B5EF4-FFF2-40B4-BE49-F238E27FC236}">
                <a16:creationId xmlns:a16="http://schemas.microsoft.com/office/drawing/2014/main" id="{C7CA7E18-82CC-5B2A-D3DD-2BCDC540C9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 r="90757"/>
          <a:stretch/>
        </p:blipFill>
        <p:spPr bwMode="auto">
          <a:xfrm rot="5400000">
            <a:off x="303318" y="6251304"/>
            <a:ext cx="303374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32B15B6E-052F-1E0E-22A9-1AE72A39A831}"/>
              </a:ext>
            </a:extLst>
          </p:cNvPr>
          <p:cNvSpPr txBox="1"/>
          <p:nvPr/>
        </p:nvSpPr>
        <p:spPr>
          <a:xfrm>
            <a:off x="1164349" y="884915"/>
            <a:ext cx="109139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>
                <a:latin typeface="Consolas" panose="020B0609020204030204" pitchFamily="49" charset="0"/>
              </a:rPr>
              <a:t>Boyut (</a:t>
            </a:r>
            <a:r>
              <a:rPr lang="tr-TR" b="1" dirty="0" err="1">
                <a:latin typeface="Consolas" panose="020B0609020204030204" pitchFamily="49" charset="0"/>
              </a:rPr>
              <a:t>Dimensionality</a:t>
            </a:r>
            <a:r>
              <a:rPr lang="tr-TR" b="1" dirty="0">
                <a:latin typeface="Consolas" panose="020B0609020204030204" pitchFamily="49" charset="0"/>
              </a:rPr>
              <a:t>)</a:t>
            </a:r>
          </a:p>
          <a:p>
            <a:endParaRPr lang="tr-TR" b="1" dirty="0">
              <a:latin typeface="Consolas" panose="020B0609020204030204" pitchFamily="49" charset="0"/>
            </a:endParaRPr>
          </a:p>
          <a:p>
            <a:r>
              <a:rPr lang="tr-TR" b="1" dirty="0">
                <a:latin typeface="Consolas" panose="020B0609020204030204" pitchFamily="49" charset="0"/>
              </a:rPr>
              <a:t>Düşük boyutlu</a:t>
            </a:r>
            <a:r>
              <a:rPr lang="tr-TR" dirty="0">
                <a:latin typeface="Consolas" panose="020B0609020204030204" pitchFamily="49" charset="0"/>
              </a:rPr>
              <a:t> (2D, 3D): Görselleştirmesi kolay, kavramsal açıklamalarda kullanışlı.</a:t>
            </a:r>
          </a:p>
          <a:p>
            <a:endParaRPr lang="tr-TR" b="1" dirty="0">
              <a:latin typeface="Consolas" panose="020B0609020204030204" pitchFamily="49" charset="0"/>
            </a:endParaRPr>
          </a:p>
          <a:p>
            <a:r>
              <a:rPr lang="tr-TR" b="1" dirty="0">
                <a:latin typeface="Consolas" panose="020B0609020204030204" pitchFamily="49" charset="0"/>
              </a:rPr>
              <a:t>Orta boyutlu</a:t>
            </a:r>
            <a:r>
              <a:rPr lang="tr-TR" dirty="0">
                <a:latin typeface="Consolas" panose="020B0609020204030204" pitchFamily="49" charset="0"/>
              </a:rPr>
              <a:t> (10–30 boyut): Literatürde çok yaygındır; algoritma davranışını göstermek için dengeli.</a:t>
            </a:r>
          </a:p>
          <a:p>
            <a:endParaRPr lang="tr-TR" b="1" dirty="0">
              <a:latin typeface="Consolas" panose="020B0609020204030204" pitchFamily="49" charset="0"/>
            </a:endParaRPr>
          </a:p>
          <a:p>
            <a:r>
              <a:rPr lang="tr-TR" b="1" dirty="0">
                <a:latin typeface="Consolas" panose="020B0609020204030204" pitchFamily="49" charset="0"/>
              </a:rPr>
              <a:t>Yüksek boyutlu</a:t>
            </a:r>
            <a:r>
              <a:rPr lang="tr-TR" dirty="0">
                <a:latin typeface="Consolas" panose="020B0609020204030204" pitchFamily="49" charset="0"/>
              </a:rPr>
              <a:t> (50, 100, 1000 boyut):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>
                <a:latin typeface="Consolas" panose="020B0609020204030204" pitchFamily="49" charset="0"/>
              </a:rPr>
              <a:t>“</a:t>
            </a:r>
            <a:r>
              <a:rPr lang="tr-TR" dirty="0" err="1">
                <a:latin typeface="Consolas" panose="020B0609020204030204" pitchFamily="49" charset="0"/>
              </a:rPr>
              <a:t>Curse</a:t>
            </a:r>
            <a:r>
              <a:rPr lang="tr-TR" dirty="0">
                <a:latin typeface="Consolas" panose="020B0609020204030204" pitchFamily="49" charset="0"/>
              </a:rPr>
              <a:t> of </a:t>
            </a:r>
            <a:r>
              <a:rPr lang="tr-TR" dirty="0" err="1">
                <a:latin typeface="Consolas" panose="020B0609020204030204" pitchFamily="49" charset="0"/>
              </a:rPr>
              <a:t>dimensionality</a:t>
            </a:r>
            <a:r>
              <a:rPr lang="tr-TR" dirty="0">
                <a:latin typeface="Consolas" panose="020B0609020204030204" pitchFamily="49" charset="0"/>
              </a:rPr>
              <a:t>” etkisi devreye girer.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>
                <a:latin typeface="Consolas" panose="020B0609020204030204" pitchFamily="49" charset="0"/>
              </a:rPr>
              <a:t>Keşif daha zor, yakınsama daha yavaştır.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>
                <a:latin typeface="Consolas" panose="020B0609020204030204" pitchFamily="49" charset="0"/>
              </a:rPr>
              <a:t>Bazı </a:t>
            </a:r>
            <a:r>
              <a:rPr lang="tr-TR" dirty="0" err="1">
                <a:latin typeface="Consolas" panose="020B0609020204030204" pitchFamily="49" charset="0"/>
              </a:rPr>
              <a:t>benchmark</a:t>
            </a:r>
            <a:r>
              <a:rPr lang="tr-TR" dirty="0">
                <a:latin typeface="Consolas" panose="020B0609020204030204" pitchFamily="49" charset="0"/>
              </a:rPr>
              <a:t> setleri, özellikle yüksek boyutlu optimizasyon için tasarlanmıştır.</a:t>
            </a:r>
          </a:p>
        </p:txBody>
      </p:sp>
    </p:spTree>
    <p:extLst>
      <p:ext uri="{BB962C8B-B14F-4D97-AF65-F5344CB8AC3E}">
        <p14:creationId xmlns:p14="http://schemas.microsoft.com/office/powerpoint/2010/main" val="3160039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4EBF8-E8A4-584A-100C-11D6640AE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FD86B256-2A8B-3E7B-FACC-2A8F9EEB292C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 err="1">
                <a:latin typeface="Consolas" panose="020B0609020204030204" pitchFamily="49" charset="0"/>
              </a:rPr>
              <a:t>Benchmark</a:t>
            </a:r>
            <a:r>
              <a:rPr lang="tr-TR" sz="3000" b="1" dirty="0">
                <a:latin typeface="Consolas" panose="020B0609020204030204" pitchFamily="49" charset="0"/>
              </a:rPr>
              <a:t> fonksiyonlarının sınıflandırılması</a:t>
            </a:r>
          </a:p>
        </p:txBody>
      </p:sp>
      <p:pic>
        <p:nvPicPr>
          <p:cNvPr id="2" name="Picture 4" descr="Labirent arka plan">
            <a:extLst>
              <a:ext uri="{FF2B5EF4-FFF2-40B4-BE49-F238E27FC236}">
                <a16:creationId xmlns:a16="http://schemas.microsoft.com/office/drawing/2014/main" id="{340A0990-F91A-F545-D8A3-CD949E774D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>
            <a:off x="-1186238" y="1176785"/>
            <a:ext cx="3282497" cy="91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Labirent arka plan">
            <a:extLst>
              <a:ext uri="{FF2B5EF4-FFF2-40B4-BE49-F238E27FC236}">
                <a16:creationId xmlns:a16="http://schemas.microsoft.com/office/drawing/2014/main" id="{53AC2347-5429-EBDF-A904-18AB13AA4A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 flipV="1">
            <a:off x="-1186240" y="4459281"/>
            <a:ext cx="3282497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abirent arka plan">
            <a:extLst>
              <a:ext uri="{FF2B5EF4-FFF2-40B4-BE49-F238E27FC236}">
                <a16:creationId xmlns:a16="http://schemas.microsoft.com/office/drawing/2014/main" id="{9FC21B9C-8CF1-B102-C4D2-D19DE6942B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 r="90757"/>
          <a:stretch/>
        </p:blipFill>
        <p:spPr bwMode="auto">
          <a:xfrm rot="5400000">
            <a:off x="303318" y="6251304"/>
            <a:ext cx="303374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5109FF1F-29A4-42EF-6738-61301CF8CF44}"/>
              </a:ext>
            </a:extLst>
          </p:cNvPr>
          <p:cNvSpPr txBox="1"/>
          <p:nvPr/>
        </p:nvSpPr>
        <p:spPr>
          <a:xfrm>
            <a:off x="1164349" y="884915"/>
            <a:ext cx="109139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>
                <a:latin typeface="Consolas" panose="020B0609020204030204" pitchFamily="49" charset="0"/>
              </a:rPr>
              <a:t>Diğer ölçütler</a:t>
            </a:r>
          </a:p>
          <a:p>
            <a:endParaRPr lang="tr-TR" b="1" dirty="0">
              <a:latin typeface="Consolas" panose="020B0609020204030204" pitchFamily="49" charset="0"/>
            </a:endParaRPr>
          </a:p>
          <a:p>
            <a:r>
              <a:rPr lang="tr-TR" b="1" dirty="0">
                <a:latin typeface="Consolas" panose="020B0609020204030204" pitchFamily="49" charset="0"/>
              </a:rPr>
              <a:t>Gürültülü (</a:t>
            </a:r>
            <a:r>
              <a:rPr lang="tr-TR" b="1" dirty="0" err="1">
                <a:latin typeface="Consolas" panose="020B0609020204030204" pitchFamily="49" charset="0"/>
              </a:rPr>
              <a:t>noisy</a:t>
            </a:r>
            <a:r>
              <a:rPr lang="tr-TR" b="1" dirty="0">
                <a:latin typeface="Consolas" panose="020B0609020204030204" pitchFamily="49" charset="0"/>
              </a:rPr>
              <a:t>) </a:t>
            </a:r>
            <a:r>
              <a:rPr lang="tr-TR" b="1" dirty="0" err="1">
                <a:latin typeface="Consolas" panose="020B0609020204030204" pitchFamily="49" charset="0"/>
              </a:rPr>
              <a:t>vs</a:t>
            </a:r>
            <a:r>
              <a:rPr lang="tr-TR" b="1" dirty="0">
                <a:latin typeface="Consolas" panose="020B0609020204030204" pitchFamily="49" charset="0"/>
              </a:rPr>
              <a:t> </a:t>
            </a:r>
            <a:r>
              <a:rPr lang="tr-TR" b="1" dirty="0" err="1">
                <a:latin typeface="Consolas" panose="020B0609020204030204" pitchFamily="49" charset="0"/>
              </a:rPr>
              <a:t>deterministic</a:t>
            </a:r>
            <a:r>
              <a:rPr lang="tr-TR" dirty="0">
                <a:latin typeface="Consolas" panose="020B0609020204030204" pitchFamily="49" charset="0"/>
              </a:rPr>
              <a:t>:</a:t>
            </a:r>
            <a:br>
              <a:rPr lang="tr-TR" dirty="0">
                <a:latin typeface="Consolas" panose="020B0609020204030204" pitchFamily="49" charset="0"/>
              </a:rPr>
            </a:br>
            <a:r>
              <a:rPr lang="tr-TR" dirty="0">
                <a:latin typeface="Consolas" panose="020B0609020204030204" pitchFamily="49" charset="0"/>
              </a:rPr>
              <a:t>Bazı fonksiyonlara rastgele gürültü eklenerek, gerçek hayattaki ölçüm hataları taklit edilir.</a:t>
            </a:r>
          </a:p>
          <a:p>
            <a:endParaRPr lang="tr-TR" dirty="0">
              <a:latin typeface="Consolas" panose="020B0609020204030204" pitchFamily="49" charset="0"/>
            </a:endParaRPr>
          </a:p>
          <a:p>
            <a:r>
              <a:rPr lang="tr-TR" b="1" dirty="0">
                <a:latin typeface="Consolas" panose="020B0609020204030204" pitchFamily="49" charset="0"/>
              </a:rPr>
              <a:t>Kısıtlı </a:t>
            </a:r>
            <a:r>
              <a:rPr lang="tr-TR" b="1" dirty="0" err="1">
                <a:latin typeface="Consolas" panose="020B0609020204030204" pitchFamily="49" charset="0"/>
              </a:rPr>
              <a:t>vs</a:t>
            </a:r>
            <a:r>
              <a:rPr lang="tr-TR" b="1" dirty="0">
                <a:latin typeface="Consolas" panose="020B0609020204030204" pitchFamily="49" charset="0"/>
              </a:rPr>
              <a:t> kısıtsız</a:t>
            </a:r>
            <a:r>
              <a:rPr lang="tr-TR" dirty="0">
                <a:latin typeface="Consolas" panose="020B0609020204030204" pitchFamily="49" charset="0"/>
              </a:rPr>
              <a:t>:</a:t>
            </a:r>
          </a:p>
          <a:p>
            <a:pPr lvl="1"/>
            <a:r>
              <a:rPr lang="tr-TR" dirty="0">
                <a:latin typeface="Consolas" panose="020B0609020204030204" pitchFamily="49" charset="0"/>
              </a:rPr>
              <a:t>Kısıtsız fonksiyonlar sadece alt-üst sınırlar içerirken,</a:t>
            </a:r>
          </a:p>
          <a:p>
            <a:pPr lvl="1"/>
            <a:r>
              <a:rPr lang="tr-TR" dirty="0">
                <a:latin typeface="Consolas" panose="020B0609020204030204" pitchFamily="49" charset="0"/>
              </a:rPr>
              <a:t>Kısıtlı fonksiyonlar eşitlik/ eşitsizlik kısıtları içerir → ceza fonksiyonları vb. gerekir.</a:t>
            </a:r>
          </a:p>
          <a:p>
            <a:pPr lvl="1"/>
            <a:endParaRPr lang="tr-TR" dirty="0">
              <a:latin typeface="Consolas" panose="020B0609020204030204" pitchFamily="49" charset="0"/>
            </a:endParaRPr>
          </a:p>
          <a:p>
            <a:r>
              <a:rPr lang="tr-TR" b="1" dirty="0">
                <a:latin typeface="Consolas" panose="020B0609020204030204" pitchFamily="49" charset="0"/>
              </a:rPr>
              <a:t>Peyzaj özellikleri</a:t>
            </a:r>
            <a:r>
              <a:rPr lang="tr-TR" dirty="0">
                <a:latin typeface="Consolas" panose="020B0609020204030204" pitchFamily="49" charset="0"/>
              </a:rPr>
              <a:t>: dar vadiler, plato bölgeleri, </a:t>
            </a:r>
            <a:r>
              <a:rPr lang="tr-TR" dirty="0" err="1">
                <a:latin typeface="Consolas" panose="020B0609020204030204" pitchFamily="49" charset="0"/>
              </a:rPr>
              <a:t>deceptive</a:t>
            </a:r>
            <a:r>
              <a:rPr lang="tr-TR" dirty="0">
                <a:latin typeface="Consolas" panose="020B0609020204030204" pitchFamily="49" charset="0"/>
              </a:rPr>
              <a:t> (aldatıcı) yapılar vs.</a:t>
            </a:r>
          </a:p>
        </p:txBody>
      </p:sp>
    </p:spTree>
    <p:extLst>
      <p:ext uri="{BB962C8B-B14F-4D97-AF65-F5344CB8AC3E}">
        <p14:creationId xmlns:p14="http://schemas.microsoft.com/office/powerpoint/2010/main" val="3427775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083F3-B61C-1021-0C39-2ADFC5861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Sphere Function">
            <a:extLst>
              <a:ext uri="{FF2B5EF4-FFF2-40B4-BE49-F238E27FC236}">
                <a16:creationId xmlns:a16="http://schemas.microsoft.com/office/drawing/2014/main" id="{6B03434B-A68B-A68C-D7DF-4F7060821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530" y="3833244"/>
            <a:ext cx="3394599" cy="2542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F59DE864-CF2F-F7D8-FE51-FE120C877C19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>
                <a:latin typeface="Consolas" panose="020B0609020204030204" pitchFamily="49" charset="0"/>
              </a:rPr>
              <a:t>Klasik test fonksiyonları: Örnekler </a:t>
            </a:r>
          </a:p>
        </p:txBody>
      </p:sp>
      <p:pic>
        <p:nvPicPr>
          <p:cNvPr id="2" name="Picture 4" descr="Labirent arka plan">
            <a:extLst>
              <a:ext uri="{FF2B5EF4-FFF2-40B4-BE49-F238E27FC236}">
                <a16:creationId xmlns:a16="http://schemas.microsoft.com/office/drawing/2014/main" id="{2A36B411-0F31-62BB-3E17-ED0BF9BCA3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>
            <a:off x="-1186238" y="1176785"/>
            <a:ext cx="3282497" cy="91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Labirent arka plan">
            <a:extLst>
              <a:ext uri="{FF2B5EF4-FFF2-40B4-BE49-F238E27FC236}">
                <a16:creationId xmlns:a16="http://schemas.microsoft.com/office/drawing/2014/main" id="{1F6CB7C4-6207-E0D4-FF47-76D9CB5691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 flipV="1">
            <a:off x="-1186240" y="4459281"/>
            <a:ext cx="3282497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abirent arka plan">
            <a:extLst>
              <a:ext uri="{FF2B5EF4-FFF2-40B4-BE49-F238E27FC236}">
                <a16:creationId xmlns:a16="http://schemas.microsoft.com/office/drawing/2014/main" id="{8C3BC48B-D127-4615-C241-4C1A283B4D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 r="90757"/>
          <a:stretch/>
        </p:blipFill>
        <p:spPr bwMode="auto">
          <a:xfrm rot="5400000">
            <a:off x="303318" y="6251304"/>
            <a:ext cx="303374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70E538CB-D547-09C1-709E-B949876CA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267" y="922315"/>
            <a:ext cx="1094883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Sphere Fonksiyonu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Tür: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Unimodal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separable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konveks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Amaç: Temel sömürü yeteneğini ve yakınsama hızını test etmek.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Global minimum: 0, orijin noktasında.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Rosenbrock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Fonksiyonu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Tür: Tek global minimum,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non-separable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 dar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vadili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Amaç: Algoritmanın dar, eğri bir vadi boyunca ilerleyebilme kabiliyetini test etmek.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Çok sık şu şekilde kullanılır: 2D veya 10D, 30D.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tr-TR" altLang="tr-TR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174" name="Picture 6" descr="Rosenbrock Function">
            <a:extLst>
              <a:ext uri="{FF2B5EF4-FFF2-40B4-BE49-F238E27FC236}">
                <a16:creationId xmlns:a16="http://schemas.microsoft.com/office/drawing/2014/main" id="{FF83CEE1-8447-8472-B608-4B5B7D034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596" y="3833244"/>
            <a:ext cx="3394599" cy="2542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831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0A2F6-D8F4-A938-86AB-5C5AB5E3D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5542F477-6F5D-9E7B-AA48-94ED07724A39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>
                <a:latin typeface="Consolas" panose="020B0609020204030204" pitchFamily="49" charset="0"/>
              </a:rPr>
              <a:t>Klasik test fonksiyonları: Örnekler </a:t>
            </a:r>
          </a:p>
        </p:txBody>
      </p:sp>
      <p:pic>
        <p:nvPicPr>
          <p:cNvPr id="2" name="Picture 4" descr="Labirent arka plan">
            <a:extLst>
              <a:ext uri="{FF2B5EF4-FFF2-40B4-BE49-F238E27FC236}">
                <a16:creationId xmlns:a16="http://schemas.microsoft.com/office/drawing/2014/main" id="{2580D42E-A4B1-5910-C07D-83C975EB45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>
            <a:off x="-1186238" y="1176785"/>
            <a:ext cx="3282497" cy="91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Labirent arka plan">
            <a:extLst>
              <a:ext uri="{FF2B5EF4-FFF2-40B4-BE49-F238E27FC236}">
                <a16:creationId xmlns:a16="http://schemas.microsoft.com/office/drawing/2014/main" id="{3EE9E842-4A5E-37E0-FB10-AC1980BCB7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 flipV="1">
            <a:off x="-1186240" y="4459281"/>
            <a:ext cx="3282497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abirent arka plan">
            <a:extLst>
              <a:ext uri="{FF2B5EF4-FFF2-40B4-BE49-F238E27FC236}">
                <a16:creationId xmlns:a16="http://schemas.microsoft.com/office/drawing/2014/main" id="{BF1DC80A-0E7F-8C05-89F1-3B6B0CB420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 r="90757"/>
          <a:stretch/>
        </p:blipFill>
        <p:spPr bwMode="auto">
          <a:xfrm rot="5400000">
            <a:off x="303318" y="6251304"/>
            <a:ext cx="303374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795572CC-ECA3-7809-6A40-BF5BDC7BF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349" y="738775"/>
            <a:ext cx="1068866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Rastrigin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Fonksiyonu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Tür: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Multimodal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 birçok düzenli lokal minimum, çoğu tanımda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separable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Amaç: Lokal minimum sayısı çok fazla olduğu için güçlü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keşif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yeteneği gerektirir.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Test: Algoritma lokal minimumlara saplanıyor mu yoksa global optimumu bulabiliyor mu?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tr-TR" altLang="tr-TR" b="1" dirty="0" err="1">
                <a:latin typeface="Consolas" panose="020B0609020204030204" pitchFamily="49" charset="0"/>
              </a:rPr>
              <a:t>Ackley</a:t>
            </a:r>
            <a:r>
              <a:rPr lang="tr-TR" altLang="tr-TR" b="1" dirty="0">
                <a:latin typeface="Consolas" panose="020B0609020204030204" pitchFamily="49" charset="0"/>
              </a:rPr>
              <a:t> Fonksiyonu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tr-TR" altLang="tr-TR" dirty="0">
                <a:latin typeface="Consolas" panose="020B0609020204030204" pitchFamily="49" charset="0"/>
              </a:rPr>
              <a:t>Tür: Multimodal, dalgalı (</a:t>
            </a:r>
            <a:r>
              <a:rPr lang="tr-TR" altLang="tr-TR" dirty="0" err="1">
                <a:latin typeface="Consolas" panose="020B0609020204030204" pitchFamily="49" charset="0"/>
              </a:rPr>
              <a:t>rugged</a:t>
            </a:r>
            <a:r>
              <a:rPr lang="tr-TR" altLang="tr-TR" dirty="0">
                <a:latin typeface="Consolas" panose="020B0609020204030204" pitchFamily="49" charset="0"/>
              </a:rPr>
              <a:t>) yüzey.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tr-TR" altLang="tr-TR" dirty="0">
                <a:latin typeface="Consolas" panose="020B0609020204030204" pitchFamily="49" charset="0"/>
              </a:rPr>
              <a:t>Amaç: Hem geniş ölçekli arama hem de sonlara doğru vadinin merkezine yakınsama yeteneğini test eder.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tr-TR" altLang="tr-TR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tr-TR" altLang="tr-TR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172" name="Picture 4" descr="Rastrigin function - Wikipedia">
            <a:extLst>
              <a:ext uri="{FF2B5EF4-FFF2-40B4-BE49-F238E27FC236}">
                <a16:creationId xmlns:a16="http://schemas.microsoft.com/office/drawing/2014/main" id="{5476DC93-4F5A-E6C3-40E8-72B10D4FF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854" y="4101148"/>
            <a:ext cx="4301605" cy="2356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ckley Function">
            <a:extLst>
              <a:ext uri="{FF2B5EF4-FFF2-40B4-BE49-F238E27FC236}">
                <a16:creationId xmlns:a16="http://schemas.microsoft.com/office/drawing/2014/main" id="{FB0696B4-51A1-2C29-2429-91E4794D5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5943" y="3703412"/>
            <a:ext cx="3964851" cy="2969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3296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7AE4-2E1F-86CA-F343-1FE2AA006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E6247F22-BC39-B148-0EB1-491AE9EF408A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>
                <a:latin typeface="Consolas" panose="020B0609020204030204" pitchFamily="49" charset="0"/>
              </a:rPr>
              <a:t>Klasik test fonksiyonları: Örnekler </a:t>
            </a:r>
          </a:p>
        </p:txBody>
      </p:sp>
      <p:pic>
        <p:nvPicPr>
          <p:cNvPr id="2" name="Picture 4" descr="Labirent arka plan">
            <a:extLst>
              <a:ext uri="{FF2B5EF4-FFF2-40B4-BE49-F238E27FC236}">
                <a16:creationId xmlns:a16="http://schemas.microsoft.com/office/drawing/2014/main" id="{3ABD9C64-7EEE-8DDD-6FFC-49C090D76E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>
            <a:off x="-1186238" y="1176785"/>
            <a:ext cx="3282497" cy="91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Labirent arka plan">
            <a:extLst>
              <a:ext uri="{FF2B5EF4-FFF2-40B4-BE49-F238E27FC236}">
                <a16:creationId xmlns:a16="http://schemas.microsoft.com/office/drawing/2014/main" id="{A2C1F104-1EE7-0E6C-4869-B8D2B9C289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 flipV="1">
            <a:off x="-1186240" y="4459281"/>
            <a:ext cx="3282497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abirent arka plan">
            <a:extLst>
              <a:ext uri="{FF2B5EF4-FFF2-40B4-BE49-F238E27FC236}">
                <a16:creationId xmlns:a16="http://schemas.microsoft.com/office/drawing/2014/main" id="{26FA92A0-CC14-ABEA-2806-748CA7483D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 r="90757"/>
          <a:stretch/>
        </p:blipFill>
        <p:spPr bwMode="auto">
          <a:xfrm rot="5400000">
            <a:off x="303318" y="6251304"/>
            <a:ext cx="303374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F57A2613-A936-FD1D-E68D-04F9080E5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347" y="738775"/>
            <a:ext cx="1068866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Griewank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Fonksiyonu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Tür: Çok sayıda küçük lokal minimum, çarpım terimi nedeniyle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non-separable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karakter gösterir.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Amaç: Özellikle yüksek boyutlarda karışık bir peyzajda keşif–sömürü dengesini test etmek.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Schwefel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Fonksiyonları (çeşitli versiyonlar)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Tür: Çoğu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zor multimodal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 bazıları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deceptive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yapıdadır.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Amaç: Algoritmanın “yanıltıcı” peyzajlarda doğru bölgeye gidebilmesini ölçmek.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32" name="Picture 8" descr="Griewank Function">
            <a:extLst>
              <a:ext uri="{FF2B5EF4-FFF2-40B4-BE49-F238E27FC236}">
                <a16:creationId xmlns:a16="http://schemas.microsoft.com/office/drawing/2014/main" id="{C6A5392E-C389-C020-8492-E9ABF1782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501" y="3664854"/>
            <a:ext cx="3735499" cy="2454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Schwefel Function">
            <a:extLst>
              <a:ext uri="{FF2B5EF4-FFF2-40B4-BE49-F238E27FC236}">
                <a16:creationId xmlns:a16="http://schemas.microsoft.com/office/drawing/2014/main" id="{83B37BCD-4178-5D9B-CBCF-0806CE6E7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125" y="3664854"/>
            <a:ext cx="3471081" cy="259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7483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B34E0-5761-3DAD-2241-4522A3441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53218559-5989-9054-377C-892CA78B00EF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 err="1">
                <a:latin typeface="Consolas" panose="020B0609020204030204" pitchFamily="49" charset="0"/>
              </a:rPr>
              <a:t>Benchmark</a:t>
            </a:r>
            <a:r>
              <a:rPr lang="tr-TR" sz="3000" b="1" dirty="0">
                <a:latin typeface="Consolas" panose="020B0609020204030204" pitchFamily="49" charset="0"/>
              </a:rPr>
              <a:t> “test </a:t>
            </a:r>
            <a:r>
              <a:rPr lang="tr-TR" sz="3000" b="1" dirty="0" err="1">
                <a:latin typeface="Consolas" panose="020B0609020204030204" pitchFamily="49" charset="0"/>
              </a:rPr>
              <a:t>suite</a:t>
            </a:r>
            <a:r>
              <a:rPr lang="tr-TR" sz="3000" b="1" dirty="0">
                <a:latin typeface="Consolas" panose="020B0609020204030204" pitchFamily="49" charset="0"/>
              </a:rPr>
              <a:t>” kavramı</a:t>
            </a:r>
          </a:p>
        </p:txBody>
      </p:sp>
      <p:pic>
        <p:nvPicPr>
          <p:cNvPr id="2" name="Picture 4" descr="Labirent arka plan">
            <a:extLst>
              <a:ext uri="{FF2B5EF4-FFF2-40B4-BE49-F238E27FC236}">
                <a16:creationId xmlns:a16="http://schemas.microsoft.com/office/drawing/2014/main" id="{AEB3677C-7DA7-CDFB-C01C-DA6C33AE6E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>
            <a:off x="-1186238" y="1176785"/>
            <a:ext cx="3282497" cy="91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Labirent arka plan">
            <a:extLst>
              <a:ext uri="{FF2B5EF4-FFF2-40B4-BE49-F238E27FC236}">
                <a16:creationId xmlns:a16="http://schemas.microsoft.com/office/drawing/2014/main" id="{1D23D419-54F7-A88F-A1CE-BC3F1BF25B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 flipV="1">
            <a:off x="-1186240" y="4459281"/>
            <a:ext cx="3282497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abirent arka plan">
            <a:extLst>
              <a:ext uri="{FF2B5EF4-FFF2-40B4-BE49-F238E27FC236}">
                <a16:creationId xmlns:a16="http://schemas.microsoft.com/office/drawing/2014/main" id="{850D4C1D-0529-7F41-059E-2E53DB59ED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 r="90757"/>
          <a:stretch/>
        </p:blipFill>
        <p:spPr bwMode="auto">
          <a:xfrm rot="5400000">
            <a:off x="303318" y="6251304"/>
            <a:ext cx="303374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246FA39E-E008-3DC4-4B97-D83F36C2F616}"/>
              </a:ext>
            </a:extLst>
          </p:cNvPr>
          <p:cNvSpPr txBox="1"/>
          <p:nvPr/>
        </p:nvSpPr>
        <p:spPr>
          <a:xfrm>
            <a:off x="1164349" y="884915"/>
            <a:ext cx="109139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>
                <a:latin typeface="Consolas" panose="020B0609020204030204" pitchFamily="49" charset="0"/>
              </a:rPr>
              <a:t>Klasik fonksiyon setleri</a:t>
            </a:r>
            <a:endParaRPr lang="tr-TR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tr-TR" dirty="0">
                <a:latin typeface="Consolas" panose="020B0609020204030204" pitchFamily="49" charset="0"/>
              </a:rPr>
              <a:t>Sphere, </a:t>
            </a:r>
            <a:r>
              <a:rPr lang="tr-TR" dirty="0" err="1">
                <a:latin typeface="Consolas" panose="020B0609020204030204" pitchFamily="49" charset="0"/>
              </a:rPr>
              <a:t>Rosenbrock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dirty="0" err="1">
                <a:latin typeface="Consolas" panose="020B0609020204030204" pitchFamily="49" charset="0"/>
              </a:rPr>
              <a:t>Rastrigin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dirty="0" err="1">
                <a:latin typeface="Consolas" panose="020B0609020204030204" pitchFamily="49" charset="0"/>
              </a:rPr>
              <a:t>Ackley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dirty="0" err="1">
                <a:latin typeface="Consolas" panose="020B0609020204030204" pitchFamily="49" charset="0"/>
              </a:rPr>
              <a:t>Griewank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dirty="0" err="1">
                <a:latin typeface="Consolas" panose="020B0609020204030204" pitchFamily="49" charset="0"/>
              </a:rPr>
              <a:t>Schwefel</a:t>
            </a:r>
            <a:r>
              <a:rPr lang="tr-TR" dirty="0">
                <a:latin typeface="Consolas" panose="020B0609020204030204" pitchFamily="49" charset="0"/>
              </a:rPr>
              <a:t> vb.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tr-TR" dirty="0">
                <a:latin typeface="Consolas" panose="020B0609020204030204" pitchFamily="49" charset="0"/>
              </a:rPr>
              <a:t>Çoğu eski </a:t>
            </a:r>
            <a:r>
              <a:rPr lang="tr-TR" dirty="0" err="1">
                <a:latin typeface="Consolas" panose="020B0609020204030204" pitchFamily="49" charset="0"/>
              </a:rPr>
              <a:t>metasezgisel</a:t>
            </a:r>
            <a:r>
              <a:rPr lang="tr-TR" dirty="0">
                <a:latin typeface="Consolas" panose="020B0609020204030204" pitchFamily="49" charset="0"/>
              </a:rPr>
              <a:t> makalede temel set olarak kullanılır.</a:t>
            </a:r>
          </a:p>
          <a:p>
            <a:r>
              <a:rPr lang="tr-TR" b="1" dirty="0">
                <a:latin typeface="Consolas" panose="020B0609020204030204" pitchFamily="49" charset="0"/>
              </a:rPr>
              <a:t>CEC (</a:t>
            </a:r>
            <a:r>
              <a:rPr lang="tr-TR" b="1" dirty="0" err="1">
                <a:latin typeface="Consolas" panose="020B0609020204030204" pitchFamily="49" charset="0"/>
              </a:rPr>
              <a:t>Congress</a:t>
            </a:r>
            <a:r>
              <a:rPr lang="tr-TR" b="1" dirty="0">
                <a:latin typeface="Consolas" panose="020B0609020204030204" pitchFamily="49" charset="0"/>
              </a:rPr>
              <a:t> on </a:t>
            </a:r>
            <a:r>
              <a:rPr lang="tr-TR" b="1" dirty="0" err="1">
                <a:latin typeface="Consolas" panose="020B0609020204030204" pitchFamily="49" charset="0"/>
              </a:rPr>
              <a:t>Evolutionary</a:t>
            </a:r>
            <a:r>
              <a:rPr lang="tr-TR" b="1" dirty="0">
                <a:latin typeface="Consolas" panose="020B0609020204030204" pitchFamily="49" charset="0"/>
              </a:rPr>
              <a:t> </a:t>
            </a:r>
            <a:r>
              <a:rPr lang="tr-TR" b="1" dirty="0" err="1">
                <a:latin typeface="Consolas" panose="020B0609020204030204" pitchFamily="49" charset="0"/>
              </a:rPr>
              <a:t>Computation</a:t>
            </a:r>
            <a:r>
              <a:rPr lang="tr-TR" b="1" dirty="0">
                <a:latin typeface="Consolas" panose="020B0609020204030204" pitchFamily="49" charset="0"/>
              </a:rPr>
              <a:t>) test takımları</a:t>
            </a:r>
            <a:endParaRPr lang="tr-TR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tr-TR" dirty="0">
                <a:latin typeface="Consolas" panose="020B0609020204030204" pitchFamily="49" charset="0"/>
              </a:rPr>
              <a:t>Her yıl/ birkaç yılda bir, yeni ve daha zor fonksiyon setleri önerilir (hibrit fonksiyonlar, kompozit fonksiyonlar, kaydırılmış ve döndürülmüş versiyonlar vb.).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tr-TR" dirty="0">
                <a:latin typeface="Consolas" panose="020B0609020204030204" pitchFamily="49" charset="0"/>
              </a:rPr>
              <a:t>Özellikler: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tr-TR" b="1" dirty="0" err="1">
                <a:latin typeface="Consolas" panose="020B0609020204030204" pitchFamily="49" charset="0"/>
              </a:rPr>
              <a:t>Shifted</a:t>
            </a:r>
            <a:r>
              <a:rPr lang="tr-TR" b="1" dirty="0">
                <a:latin typeface="Consolas" panose="020B0609020204030204" pitchFamily="49" charset="0"/>
              </a:rPr>
              <a:t> (kaydırılmış)</a:t>
            </a:r>
            <a:r>
              <a:rPr lang="tr-TR" dirty="0">
                <a:latin typeface="Consolas" panose="020B0609020204030204" pitchFamily="49" charset="0"/>
              </a:rPr>
              <a:t>: Global optimum orijinden uzağa taşınır → algoritmanın optimumu rastgele “0” noktasında varsaymasına izin verilmez.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tr-TR" b="1" dirty="0" err="1">
                <a:latin typeface="Consolas" panose="020B0609020204030204" pitchFamily="49" charset="0"/>
              </a:rPr>
              <a:t>Rotated</a:t>
            </a:r>
            <a:r>
              <a:rPr lang="tr-TR" dirty="0">
                <a:latin typeface="Consolas" panose="020B0609020204030204" pitchFamily="49" charset="0"/>
              </a:rPr>
              <a:t>: Koordinat sistemi döndürülür → </a:t>
            </a:r>
            <a:r>
              <a:rPr lang="tr-TR" dirty="0" err="1">
                <a:latin typeface="Consolas" panose="020B0609020204030204" pitchFamily="49" charset="0"/>
              </a:rPr>
              <a:t>separable</a:t>
            </a:r>
            <a:r>
              <a:rPr lang="tr-TR" dirty="0">
                <a:latin typeface="Consolas" panose="020B0609020204030204" pitchFamily="49" charset="0"/>
              </a:rPr>
              <a:t> fonksiyonlar bile </a:t>
            </a:r>
            <a:r>
              <a:rPr lang="tr-TR" dirty="0" err="1">
                <a:latin typeface="Consolas" panose="020B0609020204030204" pitchFamily="49" charset="0"/>
              </a:rPr>
              <a:t>non-separable</a:t>
            </a:r>
            <a:r>
              <a:rPr lang="tr-TR" dirty="0">
                <a:latin typeface="Consolas" panose="020B0609020204030204" pitchFamily="49" charset="0"/>
              </a:rPr>
              <a:t> hale gelebilir, problem zorlaşır.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tr-TR" b="1" dirty="0" err="1">
                <a:latin typeface="Consolas" panose="020B0609020204030204" pitchFamily="49" charset="0"/>
              </a:rPr>
              <a:t>Hybrid</a:t>
            </a:r>
            <a:r>
              <a:rPr lang="tr-TR" b="1" dirty="0">
                <a:latin typeface="Consolas" panose="020B0609020204030204" pitchFamily="49" charset="0"/>
              </a:rPr>
              <a:t> / </a:t>
            </a:r>
            <a:r>
              <a:rPr lang="tr-TR" b="1" dirty="0" err="1">
                <a:latin typeface="Consolas" panose="020B0609020204030204" pitchFamily="49" charset="0"/>
              </a:rPr>
              <a:t>Composition</a:t>
            </a:r>
            <a:r>
              <a:rPr lang="tr-TR" b="1" dirty="0">
                <a:latin typeface="Consolas" panose="020B0609020204030204" pitchFamily="49" charset="0"/>
              </a:rPr>
              <a:t> </a:t>
            </a:r>
            <a:r>
              <a:rPr lang="tr-TR" b="1" dirty="0" err="1">
                <a:latin typeface="Consolas" panose="020B0609020204030204" pitchFamily="49" charset="0"/>
              </a:rPr>
              <a:t>functions</a:t>
            </a:r>
            <a:r>
              <a:rPr lang="tr-TR" dirty="0">
                <a:latin typeface="Consolas" panose="020B0609020204030204" pitchFamily="49" charset="0"/>
              </a:rPr>
              <a:t>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tr-TR" dirty="0">
                <a:latin typeface="Consolas" panose="020B0609020204030204" pitchFamily="49" charset="0"/>
              </a:rPr>
              <a:t>Hibrit: Farklı değişken gruplarında farklı fonksiyonlar kullanılır (ör. ilk 10 değişkende </a:t>
            </a:r>
            <a:r>
              <a:rPr lang="tr-TR" dirty="0" err="1">
                <a:latin typeface="Consolas" panose="020B0609020204030204" pitchFamily="49" charset="0"/>
              </a:rPr>
              <a:t>Rastrigin</a:t>
            </a:r>
            <a:r>
              <a:rPr lang="tr-TR" dirty="0">
                <a:latin typeface="Consolas" panose="020B0609020204030204" pitchFamily="49" charset="0"/>
              </a:rPr>
              <a:t>, sonraki 10’da </a:t>
            </a:r>
            <a:r>
              <a:rPr lang="tr-TR" dirty="0" err="1">
                <a:latin typeface="Consolas" panose="020B0609020204030204" pitchFamily="49" charset="0"/>
              </a:rPr>
              <a:t>Rosenbrock</a:t>
            </a:r>
            <a:r>
              <a:rPr lang="tr-TR" dirty="0">
                <a:latin typeface="Consolas" panose="020B0609020204030204" pitchFamily="49" charset="0"/>
              </a:rPr>
              <a:t> vb.).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tr-TR" dirty="0">
                <a:latin typeface="Consolas" panose="020B0609020204030204" pitchFamily="49" charset="0"/>
              </a:rPr>
              <a:t>Kompozit: Birden fazla fonksiyon, farklı bölgelerde farklı ağırlıklarla karıştırılır → çok karmaşık peyzajlar üretir.</a:t>
            </a:r>
          </a:p>
          <a:p>
            <a:endParaRPr lang="tr-TR" dirty="0">
              <a:latin typeface="Consolas" panose="020B0609020204030204" pitchFamily="49" charset="0"/>
            </a:endParaRPr>
          </a:p>
          <a:p>
            <a:pPr algn="just"/>
            <a:r>
              <a:rPr lang="tr-TR" dirty="0">
                <a:solidFill>
                  <a:srgbClr val="FF0000"/>
                </a:solidFill>
                <a:latin typeface="Consolas" panose="020B0609020204030204" pitchFamily="49" charset="0"/>
              </a:rPr>
              <a:t>Bu sayede: “benim algoritmam sadece klasik </a:t>
            </a:r>
            <a:r>
              <a:rPr lang="tr-TR" dirty="0" err="1">
                <a:solidFill>
                  <a:srgbClr val="FF0000"/>
                </a:solidFill>
                <a:latin typeface="Consolas" panose="020B0609020204030204" pitchFamily="49" charset="0"/>
              </a:rPr>
              <a:t>Sphere’de</a:t>
            </a:r>
            <a:r>
              <a:rPr lang="tr-TR" dirty="0">
                <a:solidFill>
                  <a:srgbClr val="FF0000"/>
                </a:solidFill>
                <a:latin typeface="Consolas" panose="020B0609020204030204" pitchFamily="49" charset="0"/>
              </a:rPr>
              <a:t> değil, zorlu CEC fonksiyonlarında da iyi çalışıyor” diyerek literatüre daha güçlü bir katkı sunulmuş olur.</a:t>
            </a:r>
          </a:p>
        </p:txBody>
      </p:sp>
    </p:spTree>
    <p:extLst>
      <p:ext uri="{BB962C8B-B14F-4D97-AF65-F5344CB8AC3E}">
        <p14:creationId xmlns:p14="http://schemas.microsoft.com/office/powerpoint/2010/main" val="3216332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1F000-009F-2F61-04D0-5F1A6E362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7F9B2B37-DA9C-4885-673B-5CAD0FA5A464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 err="1">
                <a:latin typeface="Consolas" panose="020B0609020204030204" pitchFamily="49" charset="0"/>
              </a:rPr>
              <a:t>Benchmark</a:t>
            </a:r>
            <a:r>
              <a:rPr lang="tr-TR" sz="3000" b="1" dirty="0">
                <a:latin typeface="Consolas" panose="020B0609020204030204" pitchFamily="49" charset="0"/>
              </a:rPr>
              <a:t> “test </a:t>
            </a:r>
            <a:r>
              <a:rPr lang="tr-TR" sz="3000" b="1" dirty="0" err="1">
                <a:latin typeface="Consolas" panose="020B0609020204030204" pitchFamily="49" charset="0"/>
              </a:rPr>
              <a:t>suite</a:t>
            </a:r>
            <a:r>
              <a:rPr lang="tr-TR" sz="3000" b="1" dirty="0">
                <a:latin typeface="Consolas" panose="020B0609020204030204" pitchFamily="49" charset="0"/>
              </a:rPr>
              <a:t>” kavramı</a:t>
            </a:r>
          </a:p>
        </p:txBody>
      </p:sp>
      <p:pic>
        <p:nvPicPr>
          <p:cNvPr id="2" name="Picture 4" descr="Labirent arka plan">
            <a:extLst>
              <a:ext uri="{FF2B5EF4-FFF2-40B4-BE49-F238E27FC236}">
                <a16:creationId xmlns:a16="http://schemas.microsoft.com/office/drawing/2014/main" id="{179E3169-F9D8-DFD7-C8C7-73BC93748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>
            <a:off x="-1186238" y="1176785"/>
            <a:ext cx="3282497" cy="91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Labirent arka plan">
            <a:extLst>
              <a:ext uri="{FF2B5EF4-FFF2-40B4-BE49-F238E27FC236}">
                <a16:creationId xmlns:a16="http://schemas.microsoft.com/office/drawing/2014/main" id="{EFE7FB58-A55D-E697-F38B-8A45DD905B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 flipV="1">
            <a:off x="-1186240" y="4459281"/>
            <a:ext cx="3282497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abirent arka plan">
            <a:extLst>
              <a:ext uri="{FF2B5EF4-FFF2-40B4-BE49-F238E27FC236}">
                <a16:creationId xmlns:a16="http://schemas.microsoft.com/office/drawing/2014/main" id="{A575D321-4659-CB76-6FF0-6A498A2A86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 r="90757"/>
          <a:stretch/>
        </p:blipFill>
        <p:spPr bwMode="auto">
          <a:xfrm rot="5400000">
            <a:off x="303318" y="6251304"/>
            <a:ext cx="303374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C01B2270-C658-6EB5-5D1B-1BF08BAF2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968" y="872503"/>
            <a:ext cx="5508101" cy="5800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571842DC-4AEC-AAE8-28FC-AE31999296F4}"/>
              </a:ext>
            </a:extLst>
          </p:cNvPr>
          <p:cNvSpPr txBox="1"/>
          <p:nvPr/>
        </p:nvSpPr>
        <p:spPr>
          <a:xfrm>
            <a:off x="8439030" y="3325212"/>
            <a:ext cx="2344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Consolas" panose="020B0609020204030204" pitchFamily="49" charset="0"/>
              </a:rPr>
              <a:t>CEC2017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00379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65C25-061D-8883-30DB-B8D04247E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65D0CAD9-C69B-732B-6045-FE3AA59BED56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 err="1">
                <a:latin typeface="Consolas" panose="020B0609020204030204" pitchFamily="49" charset="0"/>
              </a:rPr>
              <a:t>Benchmark</a:t>
            </a:r>
            <a:r>
              <a:rPr lang="tr-TR" sz="3000" b="1" dirty="0">
                <a:latin typeface="Consolas" panose="020B0609020204030204" pitchFamily="49" charset="0"/>
              </a:rPr>
              <a:t> “test </a:t>
            </a:r>
            <a:r>
              <a:rPr lang="tr-TR" sz="3000" b="1" dirty="0" err="1">
                <a:latin typeface="Consolas" panose="020B0609020204030204" pitchFamily="49" charset="0"/>
              </a:rPr>
              <a:t>suite</a:t>
            </a:r>
            <a:r>
              <a:rPr lang="tr-TR" sz="3000" b="1" dirty="0">
                <a:latin typeface="Consolas" panose="020B0609020204030204" pitchFamily="49" charset="0"/>
              </a:rPr>
              <a:t>” kavramı</a:t>
            </a:r>
          </a:p>
        </p:txBody>
      </p:sp>
      <p:pic>
        <p:nvPicPr>
          <p:cNvPr id="2" name="Picture 4" descr="Labirent arka plan">
            <a:extLst>
              <a:ext uri="{FF2B5EF4-FFF2-40B4-BE49-F238E27FC236}">
                <a16:creationId xmlns:a16="http://schemas.microsoft.com/office/drawing/2014/main" id="{09188533-D6A4-7640-786B-F4AFD62E47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>
            <a:off x="-1186238" y="1176785"/>
            <a:ext cx="3282497" cy="91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Labirent arka plan">
            <a:extLst>
              <a:ext uri="{FF2B5EF4-FFF2-40B4-BE49-F238E27FC236}">
                <a16:creationId xmlns:a16="http://schemas.microsoft.com/office/drawing/2014/main" id="{69D706A7-FC26-2457-1671-40E85A5F3D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 flipV="1">
            <a:off x="-1186240" y="4459281"/>
            <a:ext cx="3282497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abirent arka plan">
            <a:extLst>
              <a:ext uri="{FF2B5EF4-FFF2-40B4-BE49-F238E27FC236}">
                <a16:creationId xmlns:a16="http://schemas.microsoft.com/office/drawing/2014/main" id="{63606CCB-0235-EDD8-0BDB-455166A2DA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 r="90757"/>
          <a:stretch/>
        </p:blipFill>
        <p:spPr bwMode="auto">
          <a:xfrm rot="5400000">
            <a:off x="303318" y="6251304"/>
            <a:ext cx="303374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9FE673E9-82C4-133F-F540-E1FCA35BA47C}"/>
              </a:ext>
            </a:extLst>
          </p:cNvPr>
          <p:cNvSpPr txBox="1"/>
          <p:nvPr/>
        </p:nvSpPr>
        <p:spPr>
          <a:xfrm>
            <a:off x="9735567" y="1752367"/>
            <a:ext cx="2344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Consolas" panose="020B0609020204030204" pitchFamily="49" charset="0"/>
              </a:rPr>
              <a:t>CEC2019</a:t>
            </a:r>
            <a:endParaRPr lang="tr-TR" dirty="0"/>
          </a:p>
        </p:txBody>
      </p:sp>
      <p:pic>
        <p:nvPicPr>
          <p:cNvPr id="11266" name="Picture 2" descr="CEC 2019 benchmark functions [40]. | Download Scientific Diagram">
            <a:extLst>
              <a:ext uri="{FF2B5EF4-FFF2-40B4-BE49-F238E27FC236}">
                <a16:creationId xmlns:a16="http://schemas.microsoft.com/office/drawing/2014/main" id="{59C84B56-555D-2889-1375-2F4F6D10F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968" y="801088"/>
            <a:ext cx="7287194" cy="2271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IEEE CEC 2022 benchmark function specifications | Download Scientific  Diagram">
            <a:extLst>
              <a:ext uri="{FF2B5EF4-FFF2-40B4-BE49-F238E27FC236}">
                <a16:creationId xmlns:a16="http://schemas.microsoft.com/office/drawing/2014/main" id="{11F37980-D00C-CA3F-7E38-5762CFD60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968" y="3429000"/>
            <a:ext cx="6558154" cy="3163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FBBD9C27-2657-52A5-5F2B-36D16850502F}"/>
              </a:ext>
            </a:extLst>
          </p:cNvPr>
          <p:cNvSpPr txBox="1"/>
          <p:nvPr/>
        </p:nvSpPr>
        <p:spPr>
          <a:xfrm>
            <a:off x="9735567" y="5010672"/>
            <a:ext cx="2344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Consolas" panose="020B0609020204030204" pitchFamily="49" charset="0"/>
              </a:rPr>
              <a:t>CEC2022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87812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819A4-99B3-A1E6-63B9-728E50D7E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0417FF10-839C-BFF7-15AB-2BB2E58BD51B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 err="1">
                <a:latin typeface="Consolas" panose="020B0609020204030204" pitchFamily="49" charset="0"/>
              </a:rPr>
              <a:t>Benchmark</a:t>
            </a:r>
            <a:r>
              <a:rPr lang="tr-TR" sz="3000" b="1" dirty="0">
                <a:latin typeface="Consolas" panose="020B0609020204030204" pitchFamily="49" charset="0"/>
              </a:rPr>
              <a:t> “test </a:t>
            </a:r>
            <a:r>
              <a:rPr lang="tr-TR" sz="3000" b="1" dirty="0" err="1">
                <a:latin typeface="Consolas" panose="020B0609020204030204" pitchFamily="49" charset="0"/>
              </a:rPr>
              <a:t>suite</a:t>
            </a:r>
            <a:r>
              <a:rPr lang="tr-TR" sz="3000" b="1" dirty="0">
                <a:latin typeface="Consolas" panose="020B0609020204030204" pitchFamily="49" charset="0"/>
              </a:rPr>
              <a:t>” kavramı</a:t>
            </a:r>
          </a:p>
        </p:txBody>
      </p:sp>
      <p:pic>
        <p:nvPicPr>
          <p:cNvPr id="2" name="Picture 4" descr="Labirent arka plan">
            <a:extLst>
              <a:ext uri="{FF2B5EF4-FFF2-40B4-BE49-F238E27FC236}">
                <a16:creationId xmlns:a16="http://schemas.microsoft.com/office/drawing/2014/main" id="{7D662C42-67F0-EBBD-E0CF-321BFFB893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>
            <a:off x="-1186238" y="1176785"/>
            <a:ext cx="3282497" cy="91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Labirent arka plan">
            <a:extLst>
              <a:ext uri="{FF2B5EF4-FFF2-40B4-BE49-F238E27FC236}">
                <a16:creationId xmlns:a16="http://schemas.microsoft.com/office/drawing/2014/main" id="{86236D27-B2A7-EEBB-1695-2EE95548D5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 flipV="1">
            <a:off x="-1186240" y="4459281"/>
            <a:ext cx="3282497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abirent arka plan">
            <a:extLst>
              <a:ext uri="{FF2B5EF4-FFF2-40B4-BE49-F238E27FC236}">
                <a16:creationId xmlns:a16="http://schemas.microsoft.com/office/drawing/2014/main" id="{10E48D0A-897C-6676-00EC-F0BDF47055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 r="90757"/>
          <a:stretch/>
        </p:blipFill>
        <p:spPr bwMode="auto">
          <a:xfrm rot="5400000">
            <a:off x="303318" y="6251304"/>
            <a:ext cx="303374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AD43FD0A-4EC7-3D9B-97F3-40651C6A6BE1}"/>
              </a:ext>
            </a:extLst>
          </p:cNvPr>
          <p:cNvSpPr txBox="1"/>
          <p:nvPr/>
        </p:nvSpPr>
        <p:spPr>
          <a:xfrm>
            <a:off x="1164348" y="884915"/>
            <a:ext cx="696971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>
                <a:latin typeface="Consolas" panose="020B0609020204030204" pitchFamily="49" charset="0"/>
              </a:rPr>
              <a:t>Çok amaçlı (</a:t>
            </a:r>
            <a:r>
              <a:rPr lang="tr-TR" b="1" dirty="0" err="1">
                <a:latin typeface="Consolas" panose="020B0609020204030204" pitchFamily="49" charset="0"/>
              </a:rPr>
              <a:t>multi-objective</a:t>
            </a:r>
            <a:r>
              <a:rPr lang="tr-TR" b="1" dirty="0">
                <a:latin typeface="Consolas" panose="020B0609020204030204" pitchFamily="49" charset="0"/>
              </a:rPr>
              <a:t>) </a:t>
            </a:r>
            <a:r>
              <a:rPr lang="tr-TR" b="1" dirty="0" err="1">
                <a:latin typeface="Consolas" panose="020B0609020204030204" pitchFamily="49" charset="0"/>
              </a:rPr>
              <a:t>benchmark</a:t>
            </a:r>
            <a:r>
              <a:rPr lang="tr-TR" b="1" dirty="0">
                <a:latin typeface="Consolas" panose="020B0609020204030204" pitchFamily="49" charset="0"/>
              </a:rPr>
              <a:t> setleri</a:t>
            </a:r>
            <a:endParaRPr lang="tr-TR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tr-TR" dirty="0">
                <a:latin typeface="Consolas" panose="020B0609020204030204" pitchFamily="49" charset="0"/>
              </a:rPr>
              <a:t>Örneğin ZDT, DTLZ, WFG serileri: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tr-TR" dirty="0">
                <a:latin typeface="Consolas" panose="020B0609020204030204" pitchFamily="49" charset="0"/>
              </a:rPr>
              <a:t>Burada amaç tek bir optimumu bulmak değil, bir </a:t>
            </a:r>
            <a:r>
              <a:rPr lang="tr-TR" b="1" dirty="0" err="1">
                <a:latin typeface="Consolas" panose="020B0609020204030204" pitchFamily="49" charset="0"/>
              </a:rPr>
              <a:t>Pareto</a:t>
            </a:r>
            <a:r>
              <a:rPr lang="tr-TR" b="1" dirty="0">
                <a:latin typeface="Consolas" panose="020B0609020204030204" pitchFamily="49" charset="0"/>
              </a:rPr>
              <a:t> eğrisi</a:t>
            </a:r>
            <a:r>
              <a:rPr lang="tr-TR" dirty="0">
                <a:latin typeface="Consolas" panose="020B0609020204030204" pitchFamily="49" charset="0"/>
              </a:rPr>
              <a:t> (</a:t>
            </a:r>
            <a:r>
              <a:rPr lang="tr-TR" dirty="0" err="1">
                <a:latin typeface="Consolas" panose="020B0609020204030204" pitchFamily="49" charset="0"/>
              </a:rPr>
              <a:t>trade-off</a:t>
            </a:r>
            <a:r>
              <a:rPr lang="tr-TR" dirty="0">
                <a:latin typeface="Consolas" panose="020B0609020204030204" pitchFamily="49" charset="0"/>
              </a:rPr>
              <a:t> kümesi) elde etmektir.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tr-TR" dirty="0">
                <a:latin typeface="Consolas" panose="020B0609020204030204" pitchFamily="49" charset="0"/>
              </a:rPr>
              <a:t>Multi-</a:t>
            </a:r>
            <a:r>
              <a:rPr lang="tr-TR" dirty="0" err="1">
                <a:latin typeface="Consolas" panose="020B0609020204030204" pitchFamily="49" charset="0"/>
              </a:rPr>
              <a:t>objective</a:t>
            </a:r>
            <a:r>
              <a:rPr lang="tr-TR" dirty="0">
                <a:latin typeface="Consolas" panose="020B0609020204030204" pitchFamily="49" charset="0"/>
              </a:rPr>
              <a:t> meta-sezgisellerin (NSGA-II, MOPSO vb.) performansı bu setlerle test edilir.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tr-TR" dirty="0">
              <a:latin typeface="Consolas" panose="020B0609020204030204" pitchFamily="49" charset="0"/>
            </a:endParaRPr>
          </a:p>
          <a:p>
            <a:endParaRPr lang="tr-TR" dirty="0">
              <a:latin typeface="Consolas" panose="020B0609020204030204" pitchFamily="49" charset="0"/>
            </a:endParaRPr>
          </a:p>
          <a:p>
            <a:r>
              <a:rPr lang="tr-TR" b="1" dirty="0">
                <a:latin typeface="Consolas" panose="020B0609020204030204" pitchFamily="49" charset="0"/>
              </a:rPr>
              <a:t>Kombinasyonel / ayrık </a:t>
            </a:r>
            <a:r>
              <a:rPr lang="tr-TR" b="1" dirty="0" err="1">
                <a:latin typeface="Consolas" panose="020B0609020204030204" pitchFamily="49" charset="0"/>
              </a:rPr>
              <a:t>benchmark</a:t>
            </a:r>
            <a:r>
              <a:rPr lang="tr-TR" b="1" dirty="0">
                <a:latin typeface="Consolas" panose="020B0609020204030204" pitchFamily="49" charset="0"/>
              </a:rPr>
              <a:t> problemleri</a:t>
            </a:r>
            <a:endParaRPr lang="tr-TR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tr-TR" dirty="0">
                <a:latin typeface="Consolas" panose="020B0609020204030204" pitchFamily="49" charset="0"/>
              </a:rPr>
              <a:t>TSP, </a:t>
            </a:r>
            <a:r>
              <a:rPr lang="tr-TR" dirty="0" err="1">
                <a:latin typeface="Consolas" panose="020B0609020204030204" pitchFamily="49" charset="0"/>
              </a:rPr>
              <a:t>knapsack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dirty="0" err="1">
                <a:latin typeface="Consolas" panose="020B0609020204030204" pitchFamily="49" charset="0"/>
              </a:rPr>
              <a:t>job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shop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scheduling</a:t>
            </a:r>
            <a:r>
              <a:rPr lang="tr-TR" dirty="0">
                <a:latin typeface="Consolas" panose="020B0609020204030204" pitchFamily="49" charset="0"/>
              </a:rPr>
              <a:t> gibi; bunlar sürekli fonksiyon değil ama meta-sezgiseller için standart “</a:t>
            </a:r>
            <a:r>
              <a:rPr lang="tr-TR" dirty="0" err="1">
                <a:latin typeface="Consolas" panose="020B0609020204030204" pitchFamily="49" charset="0"/>
              </a:rPr>
              <a:t>case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study</a:t>
            </a:r>
            <a:r>
              <a:rPr lang="tr-TR" dirty="0">
                <a:latin typeface="Consolas" panose="020B0609020204030204" pitchFamily="49" charset="0"/>
              </a:rPr>
              <a:t>” olarak kullanılır.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tr-TR" dirty="0">
                <a:latin typeface="Consolas" panose="020B0609020204030204" pitchFamily="49" charset="0"/>
              </a:rPr>
              <a:t>Bu kısım, TSP ve </a:t>
            </a:r>
            <a:r>
              <a:rPr lang="tr-TR" b="1" dirty="0" err="1">
                <a:latin typeface="Consolas" panose="020B0609020204030204" pitchFamily="49" charset="0"/>
              </a:rPr>
              <a:t>ikileştirme</a:t>
            </a:r>
            <a:r>
              <a:rPr lang="tr-TR" dirty="0">
                <a:latin typeface="Consolas" panose="020B0609020204030204" pitchFamily="49" charset="0"/>
              </a:rPr>
              <a:t> (</a:t>
            </a:r>
            <a:r>
              <a:rPr lang="tr-TR" dirty="0" err="1">
                <a:latin typeface="Consolas" panose="020B0609020204030204" pitchFamily="49" charset="0"/>
              </a:rPr>
              <a:t>binary</a:t>
            </a:r>
            <a:r>
              <a:rPr lang="tr-TR" dirty="0">
                <a:latin typeface="Consolas" panose="020B0609020204030204" pitchFamily="49" charset="0"/>
              </a:rPr>
              <a:t> versiyonlar) konusuyla birlikte tekrar anlatılacak.</a:t>
            </a:r>
          </a:p>
          <a:p>
            <a:pPr lvl="1"/>
            <a:endParaRPr lang="tr-TR" dirty="0">
              <a:latin typeface="Consolas" panose="020B0609020204030204" pitchFamily="49" charset="0"/>
            </a:endParaRPr>
          </a:p>
        </p:txBody>
      </p:sp>
      <p:pic>
        <p:nvPicPr>
          <p:cNvPr id="9218" name="Picture 2" descr="Multi-objective optimization leading to s Pareto-front of all solutions...  | Download Scientific Diagram">
            <a:extLst>
              <a:ext uri="{FF2B5EF4-FFF2-40B4-BE49-F238E27FC236}">
                <a16:creationId xmlns:a16="http://schemas.microsoft.com/office/drawing/2014/main" id="{F3745610-2F3F-6372-5D25-3FE5A015B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428" y="884915"/>
            <a:ext cx="2919100" cy="2534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GraphicMaths - Travelling salesman problem">
            <a:extLst>
              <a:ext uri="{FF2B5EF4-FFF2-40B4-BE49-F238E27FC236}">
                <a16:creationId xmlns:a16="http://schemas.microsoft.com/office/drawing/2014/main" id="{921683E3-11DF-EABC-F0DE-FC8B6BBA2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428" y="471487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The schedule of 4 × 3 job shop scheduling problem. | Download Scientific  Diagram">
            <a:extLst>
              <a:ext uri="{FF2B5EF4-FFF2-40B4-BE49-F238E27FC236}">
                <a16:creationId xmlns:a16="http://schemas.microsoft.com/office/drawing/2014/main" id="{B0032073-B0AF-B2C6-CED7-9FB7AF72E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504" y="5068013"/>
            <a:ext cx="2790825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Knapsack problem - Wikipedia">
            <a:extLst>
              <a:ext uri="{FF2B5EF4-FFF2-40B4-BE49-F238E27FC236}">
                <a16:creationId xmlns:a16="http://schemas.microsoft.com/office/drawing/2014/main" id="{187898F8-3E38-13C0-175B-FD71E5266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681" y="4867275"/>
            <a:ext cx="2295525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03278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B196C-9C81-B247-E781-4F21369BB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690105C0-3C7F-7F03-2AFD-CF065E3AA138}"/>
              </a:ext>
            </a:extLst>
          </p:cNvPr>
          <p:cNvSpPr txBox="1"/>
          <p:nvPr/>
        </p:nvSpPr>
        <p:spPr>
          <a:xfrm>
            <a:off x="1164349" y="184777"/>
            <a:ext cx="1068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000" b="1" dirty="0" err="1">
                <a:latin typeface="Consolas" panose="020B0609020204030204" pitchFamily="49" charset="0"/>
              </a:rPr>
              <a:t>Benchmark</a:t>
            </a:r>
            <a:r>
              <a:rPr lang="tr-TR" sz="3000" b="1" dirty="0">
                <a:latin typeface="Consolas" panose="020B0609020204030204" pitchFamily="49" charset="0"/>
              </a:rPr>
              <a:t> seçerken nasıl bir strateji izlenir?</a:t>
            </a:r>
          </a:p>
        </p:txBody>
      </p:sp>
      <p:pic>
        <p:nvPicPr>
          <p:cNvPr id="2" name="Picture 4" descr="Labirent arka plan">
            <a:extLst>
              <a:ext uri="{FF2B5EF4-FFF2-40B4-BE49-F238E27FC236}">
                <a16:creationId xmlns:a16="http://schemas.microsoft.com/office/drawing/2014/main" id="{D44B797A-AC70-EDF8-8308-46F3115219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>
            <a:off x="-1186238" y="1176785"/>
            <a:ext cx="3282497" cy="91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Labirent arka plan">
            <a:extLst>
              <a:ext uri="{FF2B5EF4-FFF2-40B4-BE49-F238E27FC236}">
                <a16:creationId xmlns:a16="http://schemas.microsoft.com/office/drawing/2014/main" id="{15C8063E-5A0A-ED9F-0FCE-5CB891ED6C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/>
          <a:stretch/>
        </p:blipFill>
        <p:spPr bwMode="auto">
          <a:xfrm rot="16200000" flipV="1">
            <a:off x="-1186240" y="4459281"/>
            <a:ext cx="3282497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abirent arka plan">
            <a:extLst>
              <a:ext uri="{FF2B5EF4-FFF2-40B4-BE49-F238E27FC236}">
                <a16:creationId xmlns:a16="http://schemas.microsoft.com/office/drawing/2014/main" id="{AA9CEF2C-7B55-F264-4B3F-BFACB57559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 r="90757"/>
          <a:stretch/>
        </p:blipFill>
        <p:spPr bwMode="auto">
          <a:xfrm rot="5400000">
            <a:off x="303318" y="6251304"/>
            <a:ext cx="303374" cy="91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AB26BB9E-B642-E49F-CAE2-AE503BB6E9F8}"/>
              </a:ext>
            </a:extLst>
          </p:cNvPr>
          <p:cNvSpPr txBox="1"/>
          <p:nvPr/>
        </p:nvSpPr>
        <p:spPr>
          <a:xfrm>
            <a:off x="1164349" y="884915"/>
            <a:ext cx="1091392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latin typeface="Consolas" panose="020B0609020204030204" pitchFamily="49" charset="0"/>
              </a:rPr>
              <a:t>Bir algoritmayı test etmek istediğinde tipik olarak:</a:t>
            </a:r>
          </a:p>
          <a:p>
            <a:endParaRPr lang="tr-TR" dirty="0">
              <a:latin typeface="Consolas" panose="020B0609020204030204" pitchFamily="49" charset="0"/>
            </a:endParaRPr>
          </a:p>
          <a:p>
            <a:r>
              <a:rPr lang="tr-TR" b="1" dirty="0">
                <a:latin typeface="Consolas" panose="020B0609020204030204" pitchFamily="49" charset="0"/>
              </a:rPr>
              <a:t>Önce basit fonksiyonlar</a:t>
            </a:r>
            <a:r>
              <a:rPr lang="tr-TR" dirty="0">
                <a:latin typeface="Consolas" panose="020B0609020204030204" pitchFamily="49" charset="0"/>
              </a:rPr>
              <a:t> (Sphere gibi)</a:t>
            </a:r>
          </a:p>
          <a:p>
            <a:pPr lvl="1"/>
            <a:r>
              <a:rPr lang="tr-TR" dirty="0">
                <a:latin typeface="Consolas" panose="020B0609020204030204" pitchFamily="49" charset="0"/>
              </a:rPr>
              <a:t>Algoritma temel olarak çalışıyor mu, parametreler doğru mu, kodda hata var mı?</a:t>
            </a:r>
          </a:p>
          <a:p>
            <a:endParaRPr lang="tr-TR" b="1" dirty="0">
              <a:latin typeface="Consolas" panose="020B0609020204030204" pitchFamily="49" charset="0"/>
            </a:endParaRPr>
          </a:p>
          <a:p>
            <a:r>
              <a:rPr lang="tr-TR" b="1" dirty="0" err="1">
                <a:latin typeface="Consolas" panose="020B0609020204030204" pitchFamily="49" charset="0"/>
              </a:rPr>
              <a:t>Unimodal</a:t>
            </a:r>
            <a:r>
              <a:rPr lang="tr-TR" b="1" dirty="0">
                <a:latin typeface="Consolas" panose="020B0609020204030204" pitchFamily="49" charset="0"/>
              </a:rPr>
              <a:t> + </a:t>
            </a:r>
            <a:r>
              <a:rPr lang="tr-TR" b="1" dirty="0" err="1">
                <a:latin typeface="Consolas" panose="020B0609020204030204" pitchFamily="49" charset="0"/>
              </a:rPr>
              <a:t>non-separable</a:t>
            </a:r>
            <a:r>
              <a:rPr lang="tr-TR" dirty="0">
                <a:latin typeface="Consolas" panose="020B0609020204030204" pitchFamily="49" charset="0"/>
              </a:rPr>
              <a:t> (</a:t>
            </a:r>
            <a:r>
              <a:rPr lang="tr-TR" dirty="0" err="1">
                <a:latin typeface="Consolas" panose="020B0609020204030204" pitchFamily="49" charset="0"/>
              </a:rPr>
              <a:t>Rosenbrock</a:t>
            </a:r>
            <a:r>
              <a:rPr lang="tr-TR" dirty="0">
                <a:latin typeface="Consolas" panose="020B0609020204030204" pitchFamily="49" charset="0"/>
              </a:rPr>
              <a:t> vb.)</a:t>
            </a:r>
          </a:p>
          <a:p>
            <a:pPr lvl="1"/>
            <a:r>
              <a:rPr lang="tr-TR" dirty="0">
                <a:latin typeface="Consolas" panose="020B0609020204030204" pitchFamily="49" charset="0"/>
              </a:rPr>
              <a:t>İnce ayar, dar vadilerde hareket yeteneği görülür.</a:t>
            </a:r>
          </a:p>
          <a:p>
            <a:pPr lvl="1"/>
            <a:endParaRPr lang="tr-TR" dirty="0">
              <a:latin typeface="Consolas" panose="020B0609020204030204" pitchFamily="49" charset="0"/>
            </a:endParaRPr>
          </a:p>
          <a:p>
            <a:r>
              <a:rPr lang="tr-TR" b="1" dirty="0">
                <a:latin typeface="Consolas" panose="020B0609020204030204" pitchFamily="49" charset="0"/>
              </a:rPr>
              <a:t>Multimodal fonksiyonlar</a:t>
            </a:r>
            <a:r>
              <a:rPr lang="tr-TR" dirty="0">
                <a:latin typeface="Consolas" panose="020B0609020204030204" pitchFamily="49" charset="0"/>
              </a:rPr>
              <a:t> (</a:t>
            </a:r>
            <a:r>
              <a:rPr lang="tr-TR" dirty="0" err="1">
                <a:latin typeface="Consolas" panose="020B0609020204030204" pitchFamily="49" charset="0"/>
              </a:rPr>
              <a:t>Rastrigin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dirty="0" err="1">
                <a:latin typeface="Consolas" panose="020B0609020204030204" pitchFamily="49" charset="0"/>
              </a:rPr>
              <a:t>Ackley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dirty="0" err="1">
                <a:latin typeface="Consolas" panose="020B0609020204030204" pitchFamily="49" charset="0"/>
              </a:rPr>
              <a:t>Griewank</a:t>
            </a:r>
            <a:r>
              <a:rPr lang="tr-TR" dirty="0">
                <a:latin typeface="Consolas" panose="020B0609020204030204" pitchFamily="49" charset="0"/>
              </a:rPr>
              <a:t>, </a:t>
            </a:r>
            <a:r>
              <a:rPr lang="tr-TR" dirty="0" err="1">
                <a:latin typeface="Consolas" panose="020B0609020204030204" pitchFamily="49" charset="0"/>
              </a:rPr>
              <a:t>Schwefel</a:t>
            </a:r>
            <a:r>
              <a:rPr lang="tr-TR" dirty="0">
                <a:latin typeface="Consolas" panose="020B0609020204030204" pitchFamily="49" charset="0"/>
              </a:rPr>
              <a:t>…)</a:t>
            </a:r>
          </a:p>
          <a:p>
            <a:pPr lvl="1"/>
            <a:r>
              <a:rPr lang="tr-TR" dirty="0">
                <a:latin typeface="Consolas" panose="020B0609020204030204" pitchFamily="49" charset="0"/>
              </a:rPr>
              <a:t>Keşif gücü ve lokal minimumlardan kaçış test edilir.</a:t>
            </a:r>
          </a:p>
          <a:p>
            <a:pPr lvl="1"/>
            <a:endParaRPr lang="tr-TR" dirty="0">
              <a:latin typeface="Consolas" panose="020B0609020204030204" pitchFamily="49" charset="0"/>
            </a:endParaRPr>
          </a:p>
          <a:p>
            <a:r>
              <a:rPr lang="tr-TR" b="1" dirty="0">
                <a:latin typeface="Consolas" panose="020B0609020204030204" pitchFamily="49" charset="0"/>
              </a:rPr>
              <a:t>Zor </a:t>
            </a:r>
            <a:r>
              <a:rPr lang="tr-TR" b="1" dirty="0" err="1">
                <a:latin typeface="Consolas" panose="020B0609020204030204" pitchFamily="49" charset="0"/>
              </a:rPr>
              <a:t>benchmark</a:t>
            </a:r>
            <a:r>
              <a:rPr lang="tr-TR" b="1" dirty="0">
                <a:latin typeface="Consolas" panose="020B0609020204030204" pitchFamily="49" charset="0"/>
              </a:rPr>
              <a:t> </a:t>
            </a:r>
            <a:r>
              <a:rPr lang="tr-TR" b="1" dirty="0" err="1">
                <a:latin typeface="Consolas" panose="020B0609020204030204" pitchFamily="49" charset="0"/>
              </a:rPr>
              <a:t>suite’ler</a:t>
            </a:r>
            <a:r>
              <a:rPr lang="tr-TR" dirty="0">
                <a:latin typeface="Consolas" panose="020B0609020204030204" pitchFamily="49" charset="0"/>
              </a:rPr>
              <a:t> (CEC hibrit/kompozit fonksiyonlar)</a:t>
            </a:r>
          </a:p>
          <a:p>
            <a:pPr lvl="1"/>
            <a:r>
              <a:rPr lang="tr-TR" dirty="0">
                <a:latin typeface="Consolas" panose="020B0609020204030204" pitchFamily="49" charset="0"/>
              </a:rPr>
              <a:t>Gerçek problemlere daha yakın, karmaşık peyzajlar.</a:t>
            </a:r>
          </a:p>
          <a:p>
            <a:pPr lvl="1"/>
            <a:endParaRPr lang="tr-TR" dirty="0">
              <a:latin typeface="Consolas" panose="020B0609020204030204" pitchFamily="49" charset="0"/>
            </a:endParaRPr>
          </a:p>
          <a:p>
            <a:r>
              <a:rPr lang="tr-TR" b="1" dirty="0">
                <a:latin typeface="Consolas" panose="020B0609020204030204" pitchFamily="49" charset="0"/>
              </a:rPr>
              <a:t>Uygulama problemi</a:t>
            </a:r>
            <a:r>
              <a:rPr lang="tr-TR" dirty="0">
                <a:latin typeface="Consolas" panose="020B0609020204030204" pitchFamily="49" charset="0"/>
              </a:rPr>
              <a:t> (TSP, </a:t>
            </a:r>
            <a:r>
              <a:rPr lang="tr-TR" dirty="0" err="1">
                <a:latin typeface="Consolas" panose="020B0609020204030204" pitchFamily="49" charset="0"/>
              </a:rPr>
              <a:t>feature</a:t>
            </a:r>
            <a:r>
              <a:rPr lang="tr-TR" dirty="0">
                <a:latin typeface="Consolas" panose="020B0609020204030204" pitchFamily="49" charset="0"/>
              </a:rPr>
              <a:t> </a:t>
            </a:r>
            <a:r>
              <a:rPr lang="tr-TR" dirty="0" err="1">
                <a:latin typeface="Consolas" panose="020B0609020204030204" pitchFamily="49" charset="0"/>
              </a:rPr>
              <a:t>selection</a:t>
            </a:r>
            <a:r>
              <a:rPr lang="tr-TR" dirty="0">
                <a:latin typeface="Consolas" panose="020B0609020204030204" pitchFamily="49" charset="0"/>
              </a:rPr>
              <a:t>, gerçek veri seti vb.)</a:t>
            </a:r>
          </a:p>
          <a:p>
            <a:pPr lvl="1"/>
            <a:r>
              <a:rPr lang="tr-TR" dirty="0">
                <a:latin typeface="Consolas" panose="020B0609020204030204" pitchFamily="49" charset="0"/>
              </a:rPr>
              <a:t>Asıl problemdeki (örneğin öz nitelik seçimi, risk skoru, batarya, EEG…) etkisi gözlemlenir. </a:t>
            </a:r>
          </a:p>
        </p:txBody>
      </p:sp>
    </p:spTree>
    <p:extLst>
      <p:ext uri="{BB962C8B-B14F-4D97-AF65-F5344CB8AC3E}">
        <p14:creationId xmlns:p14="http://schemas.microsoft.com/office/powerpoint/2010/main" val="3589139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5338</TotalTime>
  <Words>1642</Words>
  <Application>Microsoft Office PowerPoint</Application>
  <PresentationFormat>Geniş ekran</PresentationFormat>
  <Paragraphs>214</Paragraphs>
  <Slides>20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Consolas</vt:lpstr>
      <vt:lpstr>Wingdings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FUNDA KUTLU ONAY</dc:creator>
  <cp:lastModifiedBy>FUNDA KUTLU ONAY</cp:lastModifiedBy>
  <cp:revision>18</cp:revision>
  <dcterms:created xsi:type="dcterms:W3CDTF">2024-02-16T10:42:36Z</dcterms:created>
  <dcterms:modified xsi:type="dcterms:W3CDTF">2025-11-26T07:07:58Z</dcterms:modified>
</cp:coreProperties>
</file>